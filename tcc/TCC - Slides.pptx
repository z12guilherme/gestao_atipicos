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8288000" cy="10287000"/>
  <p:notesSz cx="6858000" cy="9144000"/>
  <p:embeddedFontLst>
    <p:embeddedFont>
      <p:font typeface="Arimo" panose="020B0604020202020204" charset="0"/>
      <p:regular r:id="rId19"/>
    </p:embeddedFont>
    <p:embeddedFont>
      <p:font typeface="Arimo Bold" panose="020B0604020202020204" charset="0"/>
      <p:regular r:id="rId20"/>
    </p:embeddedFont>
    <p:embeddedFont>
      <p:font typeface="Gill Sans Bold" panose="020B0604020202020204" charset="0"/>
      <p:regular r:id="rId21"/>
    </p:embeddedFont>
    <p:embeddedFont>
      <p:font typeface="Noto Sans" panose="020B0502040504020204" pitchFamily="34" charset="0"/>
      <p:regular r:id="rId22"/>
      <p:bold r:id="rId23"/>
      <p:italic r:id="rId24"/>
      <p:boldItalic r:id="rId25"/>
    </p:embeddedFont>
    <p:embeddedFont>
      <p:font typeface="Noto Sans Bold" panose="020B0802040504020204" charset="0"/>
      <p:regular r:id="rId2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6" d="100"/>
          <a:sy n="46" d="100"/>
        </p:scale>
        <p:origin x="756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26" Type="http://schemas.openxmlformats.org/officeDocument/2006/relationships/font" Target="fonts/font8.fntdata"/><Relationship Id="rId3" Type="http://schemas.openxmlformats.org/officeDocument/2006/relationships/slide" Target="slides/slide2.xml"/><Relationship Id="rId21" Type="http://schemas.openxmlformats.org/officeDocument/2006/relationships/font" Target="fonts/font3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2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5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4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21.04.2026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‹nº›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8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9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11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12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4/21/2026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5.svg"/><Relationship Id="rId7" Type="http://schemas.openxmlformats.org/officeDocument/2006/relationships/image" Target="../media/image9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7.svg"/><Relationship Id="rId4" Type="http://schemas.openxmlformats.org/officeDocument/2006/relationships/image" Target="../media/image6.png"/><Relationship Id="rId9" Type="http://schemas.openxmlformats.org/officeDocument/2006/relationships/image" Target="../media/image11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svg"/><Relationship Id="rId7" Type="http://schemas.openxmlformats.org/officeDocument/2006/relationships/image" Target="../media/image17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svg"/><Relationship Id="rId4" Type="http://schemas.openxmlformats.org/officeDocument/2006/relationships/image" Target="../media/image14.png"/><Relationship Id="rId9" Type="http://schemas.openxmlformats.org/officeDocument/2006/relationships/image" Target="../media/image19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svg"/><Relationship Id="rId3" Type="http://schemas.openxmlformats.org/officeDocument/2006/relationships/image" Target="../media/image36.png"/><Relationship Id="rId7" Type="http://schemas.openxmlformats.org/officeDocument/2006/relationships/image" Target="../media/image4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svg"/><Relationship Id="rId5" Type="http://schemas.openxmlformats.org/officeDocument/2006/relationships/image" Target="../media/image38.png"/><Relationship Id="rId4" Type="http://schemas.openxmlformats.org/officeDocument/2006/relationships/image" Target="../media/image37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jpe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.png"/><Relationship Id="rId4" Type="http://schemas.openxmlformats.org/officeDocument/2006/relationships/image" Target="../media/image45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329298" y="4381500"/>
            <a:ext cx="6780162" cy="26216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Gestão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Atípicos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: Sistema Web Seguro para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Educação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Inclusiva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6858000" y="9601200"/>
            <a:ext cx="3158558" cy="46166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3200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Belo Jardim, 2026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0" y="1319681"/>
            <a:ext cx="2788849" cy="2788849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pic>
        <p:nvPicPr>
          <p:cNvPr id="15" name="Imagem 14">
            <a:extLst>
              <a:ext uri="{FF2B5EF4-FFF2-40B4-BE49-F238E27FC236}">
                <a16:creationId xmlns:a16="http://schemas.microsoft.com/office/drawing/2014/main" id="{F8363E1B-B5B1-5031-3134-6682C093293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7724"/>
          <a:stretch>
            <a:fillRect/>
          </a:stretch>
        </p:blipFill>
        <p:spPr>
          <a:xfrm>
            <a:off x="7658862" y="1319681"/>
            <a:ext cx="9959340" cy="759047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1409169"/>
            <a:ext cx="155977" cy="3070774"/>
            <a:chOff x="0" y="0"/>
            <a:chExt cx="207969" cy="4094366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28519" y="1409169"/>
            <a:ext cx="155977" cy="3070774"/>
            <a:chOff x="0" y="0"/>
            <a:chExt cx="207969" cy="4094366"/>
          </a:xfrm>
        </p:grpSpPr>
        <p:sp>
          <p:nvSpPr>
            <p:cNvPr id="11" name="Freeform 11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987230" y="1409169"/>
            <a:ext cx="155977" cy="3070774"/>
            <a:chOff x="0" y="0"/>
            <a:chExt cx="207969" cy="4094366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207969" cy="4094353"/>
            </a:xfrm>
            <a:custGeom>
              <a:avLst/>
              <a:gdLst/>
              <a:ahLst/>
              <a:cxnLst/>
              <a:rect l="l" t="t" r="r" b="b"/>
              <a:pathLst>
                <a:path w="207969" h="4094353">
                  <a:moveTo>
                    <a:pt x="0" y="0"/>
                  </a:moveTo>
                  <a:lnTo>
                    <a:pt x="207969" y="0"/>
                  </a:lnTo>
                  <a:lnTo>
                    <a:pt x="207969" y="4094353"/>
                  </a:lnTo>
                  <a:lnTo>
                    <a:pt x="0" y="40943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" t="-1115" b="-1116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628612" y="5975368"/>
            <a:ext cx="16948404" cy="10561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3"/>
              </a:lnSpc>
            </a:pP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Como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desenvolver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um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sistema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web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acessível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funcional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que centralize a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facilitando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trabalho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cuidadores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3362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responsáveis</a:t>
            </a:r>
            <a:r>
              <a:rPr lang="en-US" sz="3362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?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150371" y="1692690"/>
            <a:ext cx="1330730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Cenário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150371" y="2258084"/>
            <a:ext cx="4593235" cy="1803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Lei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Brasileira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Inclusão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n° 13.146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obriga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atendimento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mas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muitas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escolas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ainda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planilhas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papel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6806197" y="1692690"/>
            <a:ext cx="1172178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Riscos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6806197" y="2258084"/>
            <a:ext cx="4593235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histórico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pedagógico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principalmente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jurídica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perante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LGPD.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464908" y="1692690"/>
            <a:ext cx="2840922" cy="4217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Dados</a:t>
            </a:r>
            <a:r>
              <a:rPr lang="en-US" sz="2750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 </a:t>
            </a:r>
            <a:r>
              <a:rPr lang="en-US" sz="2800" b="1" dirty="0" err="1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Sensíveis</a:t>
            </a:r>
            <a:endParaRPr lang="en-US" sz="2800" b="1" dirty="0">
              <a:solidFill>
                <a:srgbClr val="000000"/>
              </a:solidFill>
              <a:latin typeface="+mj-lt"/>
              <a:ea typeface="Arimo Bold"/>
              <a:cs typeface="Arimo Bold"/>
              <a:sym typeface="Arimo Bold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2464908" y="2258084"/>
            <a:ext cx="4593235" cy="134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Laudos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médicos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diagnósticos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crianças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controle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adequado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7667854" y="1133440"/>
            <a:ext cx="2944767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Objetivos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grpSp>
        <p:nvGrpSpPr>
          <p:cNvPr id="3" name="Group 3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5" name="Group 5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7" name="Group 7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9" name="TextBox 9"/>
          <p:cNvSpPr txBox="1"/>
          <p:nvPr/>
        </p:nvSpPr>
        <p:spPr>
          <a:xfrm>
            <a:off x="669798" y="2952013"/>
            <a:ext cx="15711243" cy="4369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Geral: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algn="l">
              <a:lnSpc>
                <a:spcPts val="3499"/>
              </a:lnSpc>
              <a:spcBef>
                <a:spcPct val="0"/>
              </a:spcBef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Desenvolver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web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necessidades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especiais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l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latin typeface="Noto Sans"/>
              <a:ea typeface="Noto Sans"/>
              <a:cs typeface="Noto Sans"/>
              <a:sym typeface="Noto Sans"/>
            </a:endParaRPr>
          </a:p>
          <a:p>
            <a:pPr algn="l">
              <a:lnSpc>
                <a:spcPts val="4199"/>
              </a:lnSpc>
              <a:spcBef>
                <a:spcPct val="0"/>
              </a:spcBef>
            </a:pP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Objetivos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 </a:t>
            </a:r>
            <a:r>
              <a:rPr lang="en-US" sz="2999" b="1" dirty="0" err="1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Específicos</a:t>
            </a:r>
            <a:r>
              <a:rPr lang="en-US" sz="2999" b="1" dirty="0">
                <a:solidFill>
                  <a:srgbClr val="000000"/>
                </a:solidFill>
                <a:latin typeface="+mj-lt"/>
                <a:ea typeface="Noto Sans Bold"/>
                <a:cs typeface="Noto Sans Bold"/>
                <a:sym typeface="Noto Sans Bold"/>
              </a:rPr>
              <a:t>:  </a:t>
            </a:r>
          </a:p>
          <a:p>
            <a:pPr algn="l">
              <a:lnSpc>
                <a:spcPts val="4199"/>
              </a:lnSpc>
              <a:spcBef>
                <a:spcPct val="0"/>
              </a:spcBef>
            </a:pPr>
            <a:endParaRPr lang="en-US" sz="2999" b="1" dirty="0">
              <a:solidFill>
                <a:srgbClr val="000000"/>
              </a:solidFill>
              <a:latin typeface="Noto Sans Bold"/>
              <a:ea typeface="Noto Sans Bold"/>
              <a:cs typeface="Noto Sans Bold"/>
              <a:sym typeface="Noto Sans Bold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registros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Implementar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nível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banco de dados (RLS).</a:t>
            </a: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Validar 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contra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pentests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885314" y="2432563"/>
            <a:ext cx="1561974" cy="1493637"/>
          </a:xfrm>
          <a:custGeom>
            <a:avLst/>
            <a:gdLst/>
            <a:ahLst/>
            <a:cxnLst/>
            <a:rect l="l" t="t" r="r" b="b"/>
            <a:pathLst>
              <a:path w="1561974" h="1493637">
                <a:moveTo>
                  <a:pt x="0" y="0"/>
                </a:moveTo>
                <a:lnTo>
                  <a:pt x="1561974" y="0"/>
                </a:lnTo>
                <a:lnTo>
                  <a:pt x="1561974" y="1493637"/>
                </a:lnTo>
                <a:lnTo>
                  <a:pt x="0" y="149363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885314" y="4405675"/>
            <a:ext cx="1319260" cy="1618724"/>
          </a:xfrm>
          <a:custGeom>
            <a:avLst/>
            <a:gdLst/>
            <a:ahLst/>
            <a:cxnLst/>
            <a:rect l="l" t="t" r="r" b="b"/>
            <a:pathLst>
              <a:path w="1319260" h="1618724">
                <a:moveTo>
                  <a:pt x="0" y="0"/>
                </a:moveTo>
                <a:lnTo>
                  <a:pt x="1319260" y="0"/>
                </a:lnTo>
                <a:lnTo>
                  <a:pt x="1319260" y="1618724"/>
                </a:lnTo>
                <a:lnTo>
                  <a:pt x="0" y="161872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838010" y="6171025"/>
            <a:ext cx="1413869" cy="1665825"/>
          </a:xfrm>
          <a:custGeom>
            <a:avLst/>
            <a:gdLst/>
            <a:ahLst/>
            <a:cxnLst/>
            <a:rect l="l" t="t" r="r" b="b"/>
            <a:pathLst>
              <a:path w="1413869" h="1665825">
                <a:moveTo>
                  <a:pt x="0" y="0"/>
                </a:moveTo>
                <a:lnTo>
                  <a:pt x="1413869" y="0"/>
                </a:lnTo>
                <a:lnTo>
                  <a:pt x="1413869" y="1665825"/>
                </a:lnTo>
                <a:lnTo>
                  <a:pt x="0" y="166582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728097" y="7979725"/>
            <a:ext cx="1719191" cy="1719191"/>
          </a:xfrm>
          <a:custGeom>
            <a:avLst/>
            <a:gdLst/>
            <a:ahLst/>
            <a:cxnLst/>
            <a:rect l="l" t="t" r="r" b="b"/>
            <a:pathLst>
              <a:path w="1719191" h="1719191">
                <a:moveTo>
                  <a:pt x="0" y="0"/>
                </a:moveTo>
                <a:lnTo>
                  <a:pt x="1719191" y="0"/>
                </a:lnTo>
                <a:lnTo>
                  <a:pt x="1719191" y="1719191"/>
                </a:lnTo>
                <a:lnTo>
                  <a:pt x="0" y="1719191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4696884" y="1156926"/>
            <a:ext cx="7657072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Fundamentação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Teórica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5735372" y="3141281"/>
            <a:ext cx="11523928" cy="5652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Lei nº 13.146/2015 (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 e 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importância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do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Atendimento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Educacional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(AEE).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Privacidade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Ética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Diretrizes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LGPD (Lei nº 13.709/2018) </a:t>
            </a:r>
            <a:r>
              <a:rPr lang="pt-BR" sz="2800" dirty="0"/>
              <a:t>voltadas para garantir o bem-estar das crianças e adolescentes e proteger informações pessoais delicadas, como dados de saúde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Informação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Adoção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padrões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globais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OWASP (Top 10 e ASVS)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aplicação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Modelagem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Ameaças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STRIDE.</a:t>
            </a:r>
          </a:p>
          <a:p>
            <a:pPr algn="l">
              <a:lnSpc>
                <a:spcPts val="3437"/>
              </a:lnSpc>
            </a:pPr>
            <a:endParaRPr lang="en-US" sz="2750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marL="593726" lvl="1" indent="-296863" algn="l">
              <a:lnSpc>
                <a:spcPts val="3437"/>
              </a:lnSpc>
              <a:buFont typeface="Arial"/>
              <a:buChar char="•"/>
            </a:pP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Arquitetura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Software: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Modelos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Serverless (Backend as a Service) e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segurança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isolada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no banco de dados </a:t>
            </a:r>
            <a:r>
              <a:rPr lang="en-US" sz="2750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através</a:t>
            </a:r>
            <a:r>
              <a:rPr lang="en-US" sz="2750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Row Level Security (RLS).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2610082" y="2483689"/>
            <a:ext cx="14649218" cy="76026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Tipo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Pesquisa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abordagem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qualitativa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ágil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software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entregas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incrementais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(Sprints).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Coleta de Dados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Requisitos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Elicitação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através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entrevistas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estruturadas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profissionais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área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educação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Procedimentos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Desenvolvimento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Modelagem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e design de interfaces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focadas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UI/UX.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via pipeline CI/CD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utilizando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GitHub Actions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Empacotamento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híbrido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(PWA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nativo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Android via Capacitor).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algn="just">
              <a:lnSpc>
                <a:spcPts val="3499"/>
              </a:lnSpc>
              <a:spcBef>
                <a:spcPct val="0"/>
              </a:spcBef>
            </a:pPr>
            <a:endParaRPr lang="en-US" sz="2499" dirty="0">
              <a:solidFill>
                <a:srgbClr val="000000"/>
              </a:solidFill>
              <a:ea typeface="Noto Sans"/>
              <a:cs typeface="Noto Sans"/>
              <a:sym typeface="Noto Sans"/>
            </a:endParaRPr>
          </a:p>
          <a:p>
            <a:pPr marL="539749" lvl="1" indent="-269875" algn="l">
              <a:lnSpc>
                <a:spcPts val="3499"/>
              </a:lnSpc>
              <a:buFont typeface="Arial"/>
              <a:buChar char="•"/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Estratégia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Validação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: </a:t>
            </a:r>
          </a:p>
          <a:p>
            <a:pPr algn="just">
              <a:lnSpc>
                <a:spcPts val="3499"/>
              </a:lnSpc>
              <a:spcBef>
                <a:spcPct val="0"/>
              </a:spcBef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Execução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testes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automatizados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unitários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/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integração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Vitest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 e testes de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Black-Box.</a:t>
            </a:r>
          </a:p>
        </p:txBody>
      </p:sp>
      <p:sp>
        <p:nvSpPr>
          <p:cNvPr id="9" name="Freeform 9"/>
          <p:cNvSpPr/>
          <p:nvPr/>
        </p:nvSpPr>
        <p:spPr>
          <a:xfrm>
            <a:off x="395757" y="2531314"/>
            <a:ext cx="1909823" cy="1272420"/>
          </a:xfrm>
          <a:custGeom>
            <a:avLst/>
            <a:gdLst/>
            <a:ahLst/>
            <a:cxnLst/>
            <a:rect l="l" t="t" r="r" b="b"/>
            <a:pathLst>
              <a:path w="1909823" h="1272420">
                <a:moveTo>
                  <a:pt x="0" y="0"/>
                </a:moveTo>
                <a:lnTo>
                  <a:pt x="1909823" y="0"/>
                </a:lnTo>
                <a:lnTo>
                  <a:pt x="1909823" y="1272420"/>
                </a:lnTo>
                <a:lnTo>
                  <a:pt x="0" y="12724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453542" y="4333914"/>
            <a:ext cx="1713719" cy="1718015"/>
          </a:xfrm>
          <a:custGeom>
            <a:avLst/>
            <a:gdLst/>
            <a:ahLst/>
            <a:cxnLst/>
            <a:rect l="l" t="t" r="r" b="b"/>
            <a:pathLst>
              <a:path w="1713719" h="1718015">
                <a:moveTo>
                  <a:pt x="0" y="0"/>
                </a:moveTo>
                <a:lnTo>
                  <a:pt x="1713719" y="0"/>
                </a:lnTo>
                <a:lnTo>
                  <a:pt x="1713719" y="1718015"/>
                </a:lnTo>
                <a:lnTo>
                  <a:pt x="0" y="171801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95757" y="6385744"/>
            <a:ext cx="1582979" cy="1670690"/>
          </a:xfrm>
          <a:custGeom>
            <a:avLst/>
            <a:gdLst/>
            <a:ahLst/>
            <a:cxnLst/>
            <a:rect l="l" t="t" r="r" b="b"/>
            <a:pathLst>
              <a:path w="1582979" h="1670690">
                <a:moveTo>
                  <a:pt x="0" y="0"/>
                </a:moveTo>
                <a:lnTo>
                  <a:pt x="1582979" y="0"/>
                </a:lnTo>
                <a:lnTo>
                  <a:pt x="1582979" y="1670690"/>
                </a:lnTo>
                <a:lnTo>
                  <a:pt x="0" y="1670690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453542" y="8390249"/>
            <a:ext cx="1525195" cy="1525195"/>
          </a:xfrm>
          <a:custGeom>
            <a:avLst/>
            <a:gdLst/>
            <a:ahLst/>
            <a:cxnLst/>
            <a:rect l="l" t="t" r="r" b="b"/>
            <a:pathLst>
              <a:path w="1525195" h="1525195">
                <a:moveTo>
                  <a:pt x="0" y="0"/>
                </a:moveTo>
                <a:lnTo>
                  <a:pt x="1525194" y="0"/>
                </a:lnTo>
                <a:lnTo>
                  <a:pt x="1525194" y="1525195"/>
                </a:lnTo>
                <a:lnTo>
                  <a:pt x="0" y="1525195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3" name="TextBox 13"/>
          <p:cNvSpPr txBox="1"/>
          <p:nvPr/>
        </p:nvSpPr>
        <p:spPr>
          <a:xfrm>
            <a:off x="6881115" y="1227385"/>
            <a:ext cx="3848695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Metodologia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Freeform 8"/>
          <p:cNvSpPr/>
          <p:nvPr/>
        </p:nvSpPr>
        <p:spPr>
          <a:xfrm>
            <a:off x="1275759" y="3947408"/>
            <a:ext cx="1204836" cy="1204836"/>
          </a:xfrm>
          <a:custGeom>
            <a:avLst/>
            <a:gdLst/>
            <a:ahLst/>
            <a:cxnLst/>
            <a:rect l="l" t="t" r="r" b="b"/>
            <a:pathLst>
              <a:path w="1204836" h="1204836">
                <a:moveTo>
                  <a:pt x="0" y="0"/>
                </a:moveTo>
                <a:lnTo>
                  <a:pt x="1204837" y="0"/>
                </a:lnTo>
                <a:lnTo>
                  <a:pt x="1204837" y="1204836"/>
                </a:lnTo>
                <a:lnTo>
                  <a:pt x="0" y="120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6804717" y="3947408"/>
            <a:ext cx="1007333" cy="1219162"/>
          </a:xfrm>
          <a:custGeom>
            <a:avLst/>
            <a:gdLst/>
            <a:ahLst/>
            <a:cxnLst/>
            <a:rect l="l" t="t" r="r" b="b"/>
            <a:pathLst>
              <a:path w="1007333" h="1219162">
                <a:moveTo>
                  <a:pt x="0" y="0"/>
                </a:moveTo>
                <a:lnTo>
                  <a:pt x="1007333" y="0"/>
                </a:lnTo>
                <a:lnTo>
                  <a:pt x="1007333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2333684" y="3947408"/>
            <a:ext cx="1219162" cy="1219162"/>
          </a:xfrm>
          <a:custGeom>
            <a:avLst/>
            <a:gdLst/>
            <a:ahLst/>
            <a:cxnLst/>
            <a:rect l="l" t="t" r="r" b="b"/>
            <a:pathLst>
              <a:path w="1219162" h="1219162">
                <a:moveTo>
                  <a:pt x="0" y="0"/>
                </a:moveTo>
                <a:lnTo>
                  <a:pt x="1219162" y="0"/>
                </a:lnTo>
                <a:lnTo>
                  <a:pt x="1219162" y="1219162"/>
                </a:lnTo>
                <a:lnTo>
                  <a:pt x="0" y="1219162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1" name="TextBox 11"/>
          <p:cNvSpPr txBox="1"/>
          <p:nvPr/>
        </p:nvSpPr>
        <p:spPr>
          <a:xfrm>
            <a:off x="992238" y="2522334"/>
            <a:ext cx="7107136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A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Solução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Proposta</a:t>
            </a:r>
            <a:endParaRPr lang="en-US" sz="5562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275759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Objetivo</a:t>
            </a:r>
            <a:endParaRPr lang="en-US" sz="275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275759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Sistema Web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Centralizado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atípicos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804717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Público-Alvo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6804717" y="5977385"/>
            <a:ext cx="46784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Conecta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Gestores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,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Responsáveis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única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plataforma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2333684" y="5411991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Foco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333684" y="5977385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Substituir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processos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manuais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um "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cofre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digital"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acessível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90858" y="1199269"/>
            <a:ext cx="6977805" cy="5928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12"/>
              </a:lnSpc>
            </a:pP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Stack </a:t>
            </a:r>
            <a:r>
              <a:rPr lang="en-US" sz="3875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Tecnológica</a:t>
            </a:r>
            <a:r>
              <a:rPr lang="en-US" sz="3875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Moderna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690858" y="2099239"/>
            <a:ext cx="1375442" cy="3269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Frontend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690858" y="2604959"/>
            <a:ext cx="8212341" cy="6213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React com TypeScript e Tailwind CSS (Foco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em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Usabilidade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Acessibilidade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).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690858" y="3625477"/>
            <a:ext cx="1323353" cy="622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b="1" dirty="0">
                <a:solidFill>
                  <a:srgbClr val="000000"/>
                </a:solidFill>
                <a:latin typeface="+mj-lt"/>
                <a:ea typeface="Arimo Bold"/>
                <a:cs typeface="Arimo Bold"/>
                <a:sym typeface="Arimo Bold"/>
              </a:rPr>
              <a:t>Backend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69798" y="4131188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Supabase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(Backend as a Service).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69798" y="4644195"/>
            <a:ext cx="2467270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75"/>
              </a:lnSpc>
            </a:pPr>
            <a:endParaRPr dirty="0"/>
          </a:p>
          <a:p>
            <a:pPr algn="l">
              <a:lnSpc>
                <a:spcPts val="2375"/>
              </a:lnSpc>
            </a:pPr>
            <a:r>
              <a:rPr lang="en-US" sz="24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Infraestrutura</a:t>
            </a:r>
            <a:endParaRPr lang="en-US" sz="24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669798" y="5149915"/>
            <a:ext cx="8212341" cy="623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endParaRPr dirty="0"/>
          </a:p>
          <a:p>
            <a:pPr algn="l">
              <a:lnSpc>
                <a:spcPts val="2437"/>
              </a:lnSpc>
            </a:pPr>
            <a:r>
              <a:rPr lang="en-US" sz="2499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Vercel</a:t>
            </a:r>
            <a:r>
              <a:rPr lang="en-US" sz="2499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(Serverless Edge).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384802" y="851221"/>
            <a:ext cx="8212341" cy="8212341"/>
            <a:chOff x="0" y="0"/>
            <a:chExt cx="10949788" cy="10949788"/>
          </a:xfrm>
        </p:grpSpPr>
        <p:sp>
          <p:nvSpPr>
            <p:cNvPr id="16" name="Freeform 16" descr="preencoded.png"/>
            <p:cNvSpPr/>
            <p:nvPr/>
          </p:nvSpPr>
          <p:spPr>
            <a:xfrm>
              <a:off x="0" y="0"/>
              <a:ext cx="10949813" cy="10949813"/>
            </a:xfrm>
            <a:custGeom>
              <a:avLst/>
              <a:gdLst/>
              <a:ahLst/>
              <a:cxnLst/>
              <a:rect l="l" t="t" r="r" b="b"/>
              <a:pathLst>
                <a:path w="10949813" h="10949813">
                  <a:moveTo>
                    <a:pt x="0" y="0"/>
                  </a:moveTo>
                  <a:lnTo>
                    <a:pt x="10949813" y="0"/>
                  </a:lnTo>
                  <a:lnTo>
                    <a:pt x="10949813" y="10949813"/>
                  </a:lnTo>
                  <a:lnTo>
                    <a:pt x="0" y="1094981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7" name="TextBox 17"/>
          <p:cNvSpPr txBox="1"/>
          <p:nvPr/>
        </p:nvSpPr>
        <p:spPr>
          <a:xfrm>
            <a:off x="9394327" y="10560691"/>
            <a:ext cx="8212341" cy="3728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37"/>
              </a:lnSpc>
            </a:pPr>
            <a:r>
              <a:rPr lang="en-US" sz="1500">
                <a:solidFill>
                  <a:srgbClr val="E0D6DE"/>
                </a:solidFill>
                <a:latin typeface="Noto Sans"/>
                <a:ea typeface="Noto Sans"/>
                <a:cs typeface="Noto Sans"/>
                <a:sym typeface="Noto Sans"/>
              </a:rPr>
              <a:t>Arquitetura Serverless para alta disponibilidade e baixo custo de manutenção.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5143500"/>
            <a:ext cx="7746921" cy="4931931"/>
            <a:chOff x="0" y="0"/>
            <a:chExt cx="10329228" cy="6575908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10329291" cy="6575933"/>
            </a:xfrm>
            <a:custGeom>
              <a:avLst/>
              <a:gdLst/>
              <a:ahLst/>
              <a:cxnLst/>
              <a:rect l="l" t="t" r="r" b="b"/>
              <a:pathLst>
                <a:path w="10329291" h="6575933">
                  <a:moveTo>
                    <a:pt x="0" y="0"/>
                  </a:moveTo>
                  <a:lnTo>
                    <a:pt x="10329291" y="0"/>
                  </a:lnTo>
                  <a:lnTo>
                    <a:pt x="10329291" y="6575933"/>
                  </a:lnTo>
                  <a:lnTo>
                    <a:pt x="0" y="65759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9692641" y="1028700"/>
            <a:ext cx="7010400" cy="3962400"/>
            <a:chOff x="0" y="0"/>
            <a:chExt cx="10329228" cy="651457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329291" cy="6514592"/>
            </a:xfrm>
            <a:custGeom>
              <a:avLst/>
              <a:gdLst/>
              <a:ahLst/>
              <a:cxnLst/>
              <a:rect l="l" t="t" r="r" b="b"/>
              <a:pathLst>
                <a:path w="10329291" h="6514592">
                  <a:moveTo>
                    <a:pt x="0" y="0"/>
                  </a:moveTo>
                  <a:lnTo>
                    <a:pt x="10329291" y="0"/>
                  </a:lnTo>
                  <a:lnTo>
                    <a:pt x="10329291" y="6514592"/>
                  </a:lnTo>
                  <a:lnTo>
                    <a:pt x="0" y="651459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848439" y="857822"/>
            <a:ext cx="8961120" cy="16669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Prints das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Telas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do Gestor,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Cuidador</a:t>
            </a:r>
            <a:r>
              <a:rPr lang="en-US" sz="3500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e </a:t>
            </a:r>
            <a:r>
              <a:rPr lang="en-US" sz="3500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Responsável</a:t>
            </a:r>
            <a:endParaRPr lang="en-US" sz="3500" dirty="0">
              <a:solidFill>
                <a:srgbClr val="000000"/>
              </a:solidFill>
              <a:latin typeface="+mj-lt"/>
              <a:ea typeface="Arimo"/>
              <a:cs typeface="Arimo"/>
              <a:sym typeface="Arimo"/>
            </a:endParaRPr>
          </a:p>
        </p:txBody>
      </p:sp>
      <p:pic>
        <p:nvPicPr>
          <p:cNvPr id="16" name="Imagem 15">
            <a:extLst>
              <a:ext uri="{FF2B5EF4-FFF2-40B4-BE49-F238E27FC236}">
                <a16:creationId xmlns:a16="http://schemas.microsoft.com/office/drawing/2014/main" id="{A46474F6-77FB-9463-5450-1918E1D3BA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2640" y="5143500"/>
            <a:ext cx="7010400" cy="439597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992239" y="1975247"/>
            <a:ext cx="14704962" cy="8519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Engenharia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- Row Level Security (RLS)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92238" y="4758480"/>
            <a:ext cx="5245446" cy="152400"/>
            <a:chOff x="0" y="0"/>
            <a:chExt cx="6993928" cy="203200"/>
          </a:xfrm>
        </p:grpSpPr>
        <p:sp>
          <p:nvSpPr>
            <p:cNvPr id="10" name="Freeform 10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1" name="TextBox 11"/>
          <p:cNvSpPr txBox="1"/>
          <p:nvPr/>
        </p:nvSpPr>
        <p:spPr>
          <a:xfrm>
            <a:off x="1313859" y="5467198"/>
            <a:ext cx="3774872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O Grande Diferencial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313859" y="6032602"/>
            <a:ext cx="4602213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segurança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depende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apenas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 API, mas é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diretamente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Banco de Dados (PostgreSQL).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6521206" y="4758480"/>
            <a:ext cx="5245446" cy="152400"/>
            <a:chOff x="0" y="0"/>
            <a:chExt cx="6993928" cy="203200"/>
          </a:xfrm>
        </p:grpSpPr>
        <p:sp>
          <p:nvSpPr>
            <p:cNvPr id="14" name="Freeform 14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6842817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Política de Acesso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6842817" y="6032602"/>
            <a:ext cx="4602213" cy="18053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Mesmo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com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chave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pública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exposta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frontend, o banco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recusa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a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leitura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de dados se o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usuário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tiver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o token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correto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2050163" y="4758480"/>
            <a:ext cx="5245446" cy="152400"/>
            <a:chOff x="0" y="0"/>
            <a:chExt cx="6993928" cy="203200"/>
          </a:xfrm>
        </p:grpSpPr>
        <p:sp>
          <p:nvSpPr>
            <p:cNvPr id="18" name="Freeform 18" descr="preencoded.png"/>
            <p:cNvSpPr/>
            <p:nvPr/>
          </p:nvSpPr>
          <p:spPr>
            <a:xfrm>
              <a:off x="0" y="0"/>
              <a:ext cx="6993890" cy="203200"/>
            </a:xfrm>
            <a:custGeom>
              <a:avLst/>
              <a:gdLst/>
              <a:ahLst/>
              <a:cxnLst/>
              <a:rect l="l" t="t" r="r" b="b"/>
              <a:pathLst>
                <a:path w="6993890" h="203200">
                  <a:moveTo>
                    <a:pt x="0" y="0"/>
                  </a:moveTo>
                  <a:lnTo>
                    <a:pt x="6993890" y="0"/>
                  </a:lnTo>
                  <a:lnTo>
                    <a:pt x="6993890" y="203200"/>
                  </a:lnTo>
                  <a:lnTo>
                    <a:pt x="0" y="20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26" r="-27"/>
              </a:stretch>
            </a:blipFill>
          </p:spPr>
        </p:sp>
      </p:grpSp>
      <p:grpSp>
        <p:nvGrpSpPr>
          <p:cNvPr id="19" name="Group 19"/>
          <p:cNvGrpSpPr/>
          <p:nvPr/>
        </p:nvGrpSpPr>
        <p:grpSpPr>
          <a:xfrm>
            <a:off x="14247543" y="4371384"/>
            <a:ext cx="850554" cy="850554"/>
            <a:chOff x="0" y="0"/>
            <a:chExt cx="1134072" cy="1134072"/>
          </a:xfrm>
        </p:grpSpPr>
        <p:sp>
          <p:nvSpPr>
            <p:cNvPr id="20" name="Freeform 20" descr="preencoded.png"/>
            <p:cNvSpPr/>
            <p:nvPr/>
          </p:nvSpPr>
          <p:spPr>
            <a:xfrm>
              <a:off x="0" y="0"/>
              <a:ext cx="1134110" cy="1134110"/>
            </a:xfrm>
            <a:custGeom>
              <a:avLst/>
              <a:gdLst/>
              <a:ahLst/>
              <a:cxnLst/>
              <a:rect l="l" t="t" r="r" b="b"/>
              <a:pathLst>
                <a:path w="1134110" h="1134110">
                  <a:moveTo>
                    <a:pt x="0" y="0"/>
                  </a:moveTo>
                  <a:lnTo>
                    <a:pt x="1134110" y="0"/>
                  </a:lnTo>
                  <a:lnTo>
                    <a:pt x="1134110" y="1134110"/>
                  </a:lnTo>
                  <a:lnTo>
                    <a:pt x="0" y="113411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r="3" b="3"/>
              </a:stretch>
            </a:blipFill>
          </p:spPr>
        </p:sp>
      </p:grpSp>
      <p:sp>
        <p:nvSpPr>
          <p:cNvPr id="21" name="TextBox 21"/>
          <p:cNvSpPr txBox="1"/>
          <p:nvPr/>
        </p:nvSpPr>
        <p:spPr>
          <a:xfrm>
            <a:off x="12371784" y="5467198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Isolamento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71784" y="6032602"/>
            <a:ext cx="4602213" cy="13508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Um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Cuidador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jamais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consegue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acessar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dados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alunos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que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não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seus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617791"/>
            <a:ext cx="8961120" cy="7804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4000" dirty="0" err="1">
                <a:latin typeface="Arimo"/>
                <a:ea typeface="Arimo"/>
                <a:cs typeface="Arimo"/>
                <a:sym typeface="Arimo"/>
              </a:rPr>
              <a:t>Diagrama</a:t>
            </a:r>
            <a:r>
              <a:rPr lang="en-US" sz="4000" dirty="0">
                <a:latin typeface="Arimo"/>
                <a:ea typeface="Arimo"/>
                <a:cs typeface="Arimo"/>
                <a:sym typeface="Arimo"/>
              </a:rPr>
              <a:t> do Banco de Dados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571500" y="1987201"/>
            <a:ext cx="15692438" cy="7682008"/>
            <a:chOff x="0" y="0"/>
            <a:chExt cx="20923250" cy="10242677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0923250" cy="10242677"/>
            </a:xfrm>
            <a:custGeom>
              <a:avLst/>
              <a:gdLst/>
              <a:ahLst/>
              <a:cxnLst/>
              <a:rect l="l" t="t" r="r" b="b"/>
              <a:pathLst>
                <a:path w="20923250" h="10242677">
                  <a:moveTo>
                    <a:pt x="0" y="0"/>
                  </a:moveTo>
                  <a:lnTo>
                    <a:pt x="20923250" y="0"/>
                  </a:lnTo>
                  <a:lnTo>
                    <a:pt x="20923250" y="10242677"/>
                  </a:lnTo>
                  <a:lnTo>
                    <a:pt x="0" y="1024267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11430000" y="0"/>
            <a:ext cx="6858000" cy="10287000"/>
            <a:chOff x="0" y="0"/>
            <a:chExt cx="9144000" cy="13716000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11824855" y="680466"/>
            <a:ext cx="6477000" cy="9464040"/>
            <a:chOff x="0" y="0"/>
            <a:chExt cx="9144000" cy="13716000"/>
          </a:xfrm>
        </p:grpSpPr>
        <p:sp>
          <p:nvSpPr>
            <p:cNvPr id="13" name="Freeform 13" descr="preencoded.png"/>
            <p:cNvSpPr/>
            <p:nvPr/>
          </p:nvSpPr>
          <p:spPr>
            <a:xfrm>
              <a:off x="0" y="0"/>
              <a:ext cx="9144000" cy="13716000"/>
            </a:xfrm>
            <a:custGeom>
              <a:avLst/>
              <a:gdLst/>
              <a:ahLst/>
              <a:cxnLst/>
              <a:rect l="l" t="t" r="r" b="b"/>
              <a:pathLst>
                <a:path w="9144000" h="13716000">
                  <a:moveTo>
                    <a:pt x="0" y="0"/>
                  </a:moveTo>
                  <a:lnTo>
                    <a:pt x="9144000" y="0"/>
                  </a:lnTo>
                  <a:lnTo>
                    <a:pt x="914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92238" y="1163393"/>
            <a:ext cx="9445523" cy="1736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Validação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de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Segurança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(Pentest)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992238" y="3663105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Metodologia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92238" y="4341914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Testes de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Penetração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Black-Box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baseados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OWASP ASVS.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992238" y="558030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Ferramenta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92238" y="612827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Burp Suite.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6224778" y="3687347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Resultados</a:t>
            </a:r>
            <a:endParaRPr lang="en-US" sz="2800" b="1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6070397" y="4341914"/>
            <a:ext cx="4376890" cy="4274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SQL Injection: Mitigado.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070397" y="4894659"/>
            <a:ext cx="4376890" cy="8891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XSS (Cross-Site Scripting):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Mitigado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6070397" y="5901033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329902" lvl="1" indent="-164951" algn="l">
              <a:lnSpc>
                <a:spcPts val="3562"/>
              </a:lnSpc>
              <a:buFont typeface="Arial"/>
              <a:buChar char="•"/>
            </a:pPr>
            <a:r>
              <a:rPr lang="en-US" sz="240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Escalação de Privilégios: Bloqueada.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6224778" y="714478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800" b="1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Status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224778" y="7847370"/>
            <a:ext cx="4376890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Aplicação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aprovada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sem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vulnerabilidades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400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críticas</a:t>
            </a:r>
            <a:r>
              <a:rPr lang="en-US" sz="2400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11811000" y="3223260"/>
            <a:ext cx="6477000" cy="3840480"/>
            <a:chOff x="0" y="0"/>
            <a:chExt cx="9144000" cy="5120640"/>
          </a:xfrm>
        </p:grpSpPr>
        <p:sp>
          <p:nvSpPr>
            <p:cNvPr id="26" name="Freeform 26" descr="All about the xz-utils backdoor | Kali Linux Blog"/>
            <p:cNvSpPr/>
            <p:nvPr/>
          </p:nvSpPr>
          <p:spPr>
            <a:xfrm>
              <a:off x="0" y="0"/>
              <a:ext cx="9144000" cy="5120640"/>
            </a:xfrm>
            <a:custGeom>
              <a:avLst/>
              <a:gdLst/>
              <a:ahLst/>
              <a:cxnLst/>
              <a:rect l="l" t="t" r="r" b="b"/>
              <a:pathLst>
                <a:path w="9144000" h="5120640">
                  <a:moveTo>
                    <a:pt x="0" y="0"/>
                  </a:moveTo>
                  <a:lnTo>
                    <a:pt x="9144000" y="0"/>
                  </a:lnTo>
                  <a:lnTo>
                    <a:pt x="9144000" y="5120640"/>
                  </a:lnTo>
                  <a:lnTo>
                    <a:pt x="0" y="512064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992238" y="4617244"/>
            <a:ext cx="5245446" cy="850554"/>
            <a:chOff x="0" y="0"/>
            <a:chExt cx="6993928" cy="11340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grpSp>
        <p:nvGrpSpPr>
          <p:cNvPr id="10" name="Group 10"/>
          <p:cNvGrpSpPr/>
          <p:nvPr/>
        </p:nvGrpSpPr>
        <p:grpSpPr>
          <a:xfrm>
            <a:off x="6521277" y="4617244"/>
            <a:ext cx="5245418" cy="850583"/>
            <a:chOff x="0" y="0"/>
            <a:chExt cx="6993891" cy="1134111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6993891" cy="1134111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2" name="Freeform 12" descr="preencoded.png"/>
          <p:cNvSpPr/>
          <p:nvPr/>
        </p:nvSpPr>
        <p:spPr>
          <a:xfrm>
            <a:off x="8931326" y="4829766"/>
            <a:ext cx="425206" cy="425206"/>
          </a:xfrm>
          <a:custGeom>
            <a:avLst/>
            <a:gdLst/>
            <a:ahLst/>
            <a:cxnLst/>
            <a:rect l="l" t="t" r="r" b="b"/>
            <a:pathLst>
              <a:path w="425206" h="425206">
                <a:moveTo>
                  <a:pt x="0" y="0"/>
                </a:moveTo>
                <a:lnTo>
                  <a:pt x="425205" y="0"/>
                </a:lnTo>
                <a:lnTo>
                  <a:pt x="425205" y="425205"/>
                </a:lnTo>
                <a:lnTo>
                  <a:pt x="0" y="4252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1111" r="-1111"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12050163" y="4617244"/>
            <a:ext cx="5245446" cy="850554"/>
            <a:chOff x="0" y="0"/>
            <a:chExt cx="6993928" cy="113407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6993890" cy="1134110"/>
            </a:xfrm>
            <a:custGeom>
              <a:avLst/>
              <a:gdLst/>
              <a:ahLst/>
              <a:cxnLst/>
              <a:rect l="l" t="t" r="r" b="b"/>
              <a:pathLst>
                <a:path w="6993890" h="1134110">
                  <a:moveTo>
                    <a:pt x="0" y="567055"/>
                  </a:moveTo>
                  <a:cubicBezTo>
                    <a:pt x="0" y="253873"/>
                    <a:pt x="253873" y="0"/>
                    <a:pt x="567055" y="0"/>
                  </a:cubicBezTo>
                  <a:lnTo>
                    <a:pt x="6426835" y="0"/>
                  </a:lnTo>
                  <a:cubicBezTo>
                    <a:pt x="6740017" y="0"/>
                    <a:pt x="6993890" y="253873"/>
                    <a:pt x="6993890" y="567055"/>
                  </a:cubicBezTo>
                  <a:cubicBezTo>
                    <a:pt x="6993890" y="880237"/>
                    <a:pt x="6740017" y="1134110"/>
                    <a:pt x="6426835" y="1134110"/>
                  </a:cubicBezTo>
                  <a:lnTo>
                    <a:pt x="567055" y="1134110"/>
                  </a:lnTo>
                  <a:cubicBezTo>
                    <a:pt x="253873" y="1134110"/>
                    <a:pt x="0" y="880237"/>
                    <a:pt x="0" y="567055"/>
                  </a:cubicBezTo>
                  <a:close/>
                </a:path>
              </a:pathLst>
            </a:custGeom>
            <a:solidFill>
              <a:srgbClr val="26262B"/>
            </a:solidFill>
          </p:spPr>
        </p:sp>
      </p:grpSp>
      <p:sp>
        <p:nvSpPr>
          <p:cNvPr id="15" name="Freeform 15"/>
          <p:cNvSpPr/>
          <p:nvPr/>
        </p:nvSpPr>
        <p:spPr>
          <a:xfrm>
            <a:off x="14116815" y="4762311"/>
            <a:ext cx="723897" cy="560115"/>
          </a:xfrm>
          <a:custGeom>
            <a:avLst/>
            <a:gdLst/>
            <a:ahLst/>
            <a:cxnLst/>
            <a:rect l="l" t="t" r="r" b="b"/>
            <a:pathLst>
              <a:path w="723897" h="560115">
                <a:moveTo>
                  <a:pt x="0" y="0"/>
                </a:moveTo>
                <a:lnTo>
                  <a:pt x="723897" y="0"/>
                </a:lnTo>
                <a:lnTo>
                  <a:pt x="723897" y="560115"/>
                </a:lnTo>
                <a:lnTo>
                  <a:pt x="0" y="56011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008751" y="4617244"/>
            <a:ext cx="877075" cy="763055"/>
          </a:xfrm>
          <a:custGeom>
            <a:avLst/>
            <a:gdLst/>
            <a:ahLst/>
            <a:cxnLst/>
            <a:rect l="l" t="t" r="r" b="b"/>
            <a:pathLst>
              <a:path w="877075" h="763055">
                <a:moveTo>
                  <a:pt x="0" y="0"/>
                </a:moveTo>
                <a:lnTo>
                  <a:pt x="877074" y="0"/>
                </a:lnTo>
                <a:lnTo>
                  <a:pt x="877074" y="763055"/>
                </a:lnTo>
                <a:lnTo>
                  <a:pt x="0" y="763055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7" name="TextBox 17"/>
          <p:cNvSpPr txBox="1"/>
          <p:nvPr/>
        </p:nvSpPr>
        <p:spPr>
          <a:xfrm>
            <a:off x="992238" y="2221116"/>
            <a:ext cx="16303523" cy="851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Defesa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em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Profundidade</a:t>
            </a:r>
            <a:r>
              <a:rPr lang="en-US" sz="556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 (Advanced Security)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75759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Honeytokens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75759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Credenciais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falsas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inseridas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no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código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para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atrair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e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detectar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 </a:t>
            </a:r>
            <a:r>
              <a:rPr lang="en-US" sz="2187" dirty="0" err="1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invasores</a:t>
            </a:r>
            <a:r>
              <a:rPr lang="en-US" sz="2187" dirty="0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.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04717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Canary Endpoints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6804717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Rotas monitoradas que disparam alertas ao serem acessadas.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333684" y="5713209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SIEM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333684" y="6278613"/>
            <a:ext cx="4678413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ea typeface="Noto Sans"/>
                <a:cs typeface="Noto Sans"/>
                <a:sym typeface="Noto Sans"/>
              </a:rPr>
              <a:t>Monitoramento de logs em tempo real para resposta a incidentes.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1681306" y="314325"/>
            <a:ext cx="15419869" cy="15585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99"/>
              </a:lnSpc>
            </a:pP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 </a:t>
            </a:r>
            <a:r>
              <a:rPr lang="en-US" sz="5559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PWA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e Capacitor (</a:t>
            </a:r>
            <a:r>
              <a:rPr lang="en-US" sz="5559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Aplicativo</a:t>
            </a:r>
            <a:r>
              <a:rPr lang="en-US" sz="5559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Nativo)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9140238" y="3648837"/>
            <a:ext cx="8241992" cy="2472595"/>
            <a:chOff x="0" y="0"/>
            <a:chExt cx="10989323" cy="3296793"/>
          </a:xfrm>
        </p:grpSpPr>
        <p:sp>
          <p:nvSpPr>
            <p:cNvPr id="10" name="Freeform 10" descr="GitHub - ionic-team/capacitor: Build cross-platform Native Progressive Web  Apps for iOS, Android, and the Web ⚡️"/>
            <p:cNvSpPr/>
            <p:nvPr/>
          </p:nvSpPr>
          <p:spPr>
            <a:xfrm>
              <a:off x="0" y="0"/>
              <a:ext cx="10989310" cy="3296793"/>
            </a:xfrm>
            <a:custGeom>
              <a:avLst/>
              <a:gdLst/>
              <a:ahLst/>
              <a:cxnLst/>
              <a:rect l="l" t="t" r="r" b="b"/>
              <a:pathLst>
                <a:path w="10989310" h="3296793">
                  <a:moveTo>
                    <a:pt x="0" y="0"/>
                  </a:moveTo>
                  <a:lnTo>
                    <a:pt x="10989310" y="0"/>
                  </a:lnTo>
                  <a:lnTo>
                    <a:pt x="10989310" y="3296793"/>
                  </a:lnTo>
                  <a:lnTo>
                    <a:pt x="0" y="329679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11" name="Group 11"/>
          <p:cNvGrpSpPr/>
          <p:nvPr/>
        </p:nvGrpSpPr>
        <p:grpSpPr>
          <a:xfrm>
            <a:off x="973026" y="2794064"/>
            <a:ext cx="7468162" cy="4182170"/>
            <a:chOff x="0" y="0"/>
            <a:chExt cx="9957549" cy="5576227"/>
          </a:xfrm>
        </p:grpSpPr>
        <p:sp>
          <p:nvSpPr>
            <p:cNvPr id="12" name="Freeform 12" descr="5 Progressive Web App Alternatives to Popular Android Apps - DroidViews"/>
            <p:cNvSpPr/>
            <p:nvPr/>
          </p:nvSpPr>
          <p:spPr>
            <a:xfrm>
              <a:off x="0" y="0"/>
              <a:ext cx="9957562" cy="5576189"/>
            </a:xfrm>
            <a:custGeom>
              <a:avLst/>
              <a:gdLst/>
              <a:ahLst/>
              <a:cxnLst/>
              <a:rect l="l" t="t" r="r" b="b"/>
              <a:pathLst>
                <a:path w="9957562" h="5576189">
                  <a:moveTo>
                    <a:pt x="0" y="0"/>
                  </a:moveTo>
                  <a:lnTo>
                    <a:pt x="9957562" y="0"/>
                  </a:lnTo>
                  <a:lnTo>
                    <a:pt x="9957562" y="5576189"/>
                  </a:lnTo>
                  <a:lnTo>
                    <a:pt x="0" y="557618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sp>
        <p:nvSpPr>
          <p:cNvPr id="8" name="TextBox 8"/>
          <p:cNvSpPr txBox="1"/>
          <p:nvPr/>
        </p:nvSpPr>
        <p:spPr>
          <a:xfrm>
            <a:off x="669798" y="2090014"/>
            <a:ext cx="6792786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937"/>
              </a:lnSpc>
            </a:pPr>
            <a:r>
              <a:rPr lang="en-US" sz="5562" dirty="0" err="1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Considerações</a:t>
            </a:r>
            <a:r>
              <a:rPr lang="en-US" sz="5562" dirty="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</a:t>
            </a:r>
            <a:r>
              <a:rPr lang="en-US" sz="5562" dirty="0" err="1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Finais</a:t>
            </a:r>
            <a:endParaRPr lang="en-US" sz="5562" dirty="0">
              <a:solidFill>
                <a:srgbClr val="000000"/>
              </a:solidFill>
              <a:latin typeface="Arimo"/>
              <a:ea typeface="Arimo"/>
              <a:cs typeface="Arimo"/>
              <a:sym typeface="Arimo"/>
            </a:endParaRPr>
          </a:p>
        </p:txBody>
      </p:sp>
      <p:sp>
        <p:nvSpPr>
          <p:cNvPr id="9" name="TextBox 9"/>
          <p:cNvSpPr txBox="1"/>
          <p:nvPr/>
        </p:nvSpPr>
        <p:spPr>
          <a:xfrm>
            <a:off x="992238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 dirty="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100%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819275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Conformidade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92238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Sistema 100% adequado à LGPD (Proteção de dados de menores).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544866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371902" y="5560666"/>
            <a:ext cx="3544043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Eficiência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6544866" y="6126061"/>
            <a:ext cx="5198269" cy="8819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Eliminação de papéis e comunicação em tempo real entre escola e família.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097493" y="4413799"/>
            <a:ext cx="5198269" cy="9496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312"/>
              </a:lnSpc>
            </a:pPr>
            <a:r>
              <a:rPr lang="en-US" sz="7312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Conclusão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658001" y="5560666"/>
            <a:ext cx="2077099" cy="4201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7"/>
              </a:lnSpc>
            </a:pPr>
            <a:r>
              <a:rPr lang="en-US" sz="2750">
                <a:solidFill>
                  <a:srgbClr val="000000"/>
                </a:solidFill>
                <a:latin typeface="+mj-lt"/>
                <a:ea typeface="Arimo"/>
                <a:cs typeface="Arimo"/>
                <a:sym typeface="Arimo"/>
              </a:rPr>
              <a:t>Produto Final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2097493" y="6126061"/>
            <a:ext cx="5198269" cy="13436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562"/>
              </a:lnSpc>
            </a:pPr>
            <a:r>
              <a:rPr lang="en-US" sz="2187">
                <a:solidFill>
                  <a:srgbClr val="000000"/>
                </a:solidFill>
                <a:latin typeface="+mj-lt"/>
                <a:ea typeface="Noto Sans"/>
                <a:cs typeface="Noto Sans"/>
                <a:sym typeface="Noto Sans"/>
              </a:rPr>
              <a:t>O projeto prova que é possível criar software educacional acessível com segurança de nível empresarial.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139652" y="613923"/>
            <a:ext cx="18008697" cy="90972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REFERÊNCIAS BIBLIOGRÁFICAS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13.146, de 6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julho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2015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Lei Brasileira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Estatuto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Pessoa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Deficiência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[2015].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http://www.planalto.gov.br/ccivil_03/_ato2015 2018/2015/lei/l13146.htm.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[Portal da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Legislação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].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Lei nº 13.709, de 14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agosto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2018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Lei Geral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Proteção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Dados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Pessoais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(LGPD).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[2018].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http://www.planalto.gov.br/ccivil_03/_ato2017-2020/2018/lei/l13709.htm.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BRASIL.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Decreto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nº 10.502, de 30 de </a:t>
            </a:r>
            <a:r>
              <a:rPr lang="en-US" sz="2599" b="1" dirty="0" err="1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setembro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 de 2020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Institui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a Política Nacional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Especial: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Equitativa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,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e com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Aprendizado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Longo da Vida. Brasília, DF: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Presidência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da República, 2020. LIMA, Marcos Guilherme Oliveira.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Sistema Web para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Gestão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Especializada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Alunos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Atípicos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na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Educação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Inclusiva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Repositório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de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código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(GitHub).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https://github.com/z12guilherme/gestao_atipicos.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19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MICROSOFT.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The STRIDE Threat Model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Azure Security Center,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https://learn.microsoft.com/en-us/azure/security/develop/threat-modeling-tool-threats.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Application Security Verification Standard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(ASVS). Version 4.0.3. 2021.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https://owasp.org/www-project-application-security-verification-standard/.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OWASP FOUNDATION.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OWASP Top 10:2021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The Most Critical Web Application Security Risks.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https://owasp.org/www-project-top-ten/.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  <a:p>
            <a:pPr algn="l">
              <a:lnSpc>
                <a:spcPts val="2599"/>
              </a:lnSpc>
              <a:spcBef>
                <a:spcPct val="0"/>
              </a:spcBef>
            </a:pPr>
            <a:endParaRPr lang="en-US" sz="2599" dirty="0">
              <a:solidFill>
                <a:srgbClr val="000000"/>
              </a:solidFill>
              <a:ea typeface="Arimo"/>
              <a:cs typeface="Arimo"/>
              <a:sym typeface="Arimo"/>
            </a:endParaRPr>
          </a:p>
          <a:p>
            <a:pPr algn="l">
              <a:lnSpc>
                <a:spcPts val="2599"/>
              </a:lnSpc>
              <a:spcBef>
                <a:spcPct val="0"/>
              </a:spcBef>
            </a:pP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SUPABASE INC. </a:t>
            </a:r>
            <a:r>
              <a:rPr lang="en-US" sz="2599" b="1" dirty="0">
                <a:solidFill>
                  <a:srgbClr val="000000"/>
                </a:solidFill>
                <a:ea typeface="Arimo Bold"/>
                <a:cs typeface="Arimo Bold"/>
                <a:sym typeface="Arimo Bold"/>
              </a:rPr>
              <a:t>Row Level Security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Documentation. 2026.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Disponível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https://supabase.com/docs/guides/auth/row-level-security.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Acesso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em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: 15 </a:t>
            </a:r>
            <a:r>
              <a:rPr lang="en-US" sz="2599" dirty="0" err="1">
                <a:solidFill>
                  <a:srgbClr val="000000"/>
                </a:solidFill>
                <a:ea typeface="Arimo"/>
                <a:cs typeface="Arimo"/>
                <a:sym typeface="Arimo"/>
              </a:rPr>
              <a:t>dez</a:t>
            </a:r>
            <a:r>
              <a:rPr lang="en-US" sz="2599" dirty="0">
                <a:solidFill>
                  <a:srgbClr val="000000"/>
                </a:solidFill>
                <a:ea typeface="Arimo"/>
                <a:cs typeface="Arimo"/>
                <a:sym typeface="Arimo"/>
              </a:rPr>
              <a:t>. 2025. 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69798" y="685800"/>
            <a:ext cx="5554980" cy="142494"/>
            <a:chOff x="0" y="0"/>
            <a:chExt cx="7406640" cy="189992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7406640" cy="189992"/>
            </a:xfrm>
            <a:custGeom>
              <a:avLst/>
              <a:gdLst/>
              <a:ahLst/>
              <a:cxnLst/>
              <a:rect l="l" t="t" r="r" b="b"/>
              <a:pathLst>
                <a:path w="7406640" h="189992">
                  <a:moveTo>
                    <a:pt x="0" y="0"/>
                  </a:moveTo>
                  <a:lnTo>
                    <a:pt x="7406640" y="0"/>
                  </a:lnTo>
                  <a:lnTo>
                    <a:pt x="7406640" y="189992"/>
                  </a:lnTo>
                  <a:lnTo>
                    <a:pt x="0" y="189992"/>
                  </a:lnTo>
                  <a:close/>
                </a:path>
              </a:pathLst>
            </a:custGeom>
            <a:solidFill>
              <a:srgbClr val="4D1434"/>
            </a:solidFill>
          </p:spPr>
        </p:sp>
      </p:grpSp>
      <p:grpSp>
        <p:nvGrpSpPr>
          <p:cNvPr id="4" name="Group 4"/>
          <p:cNvGrpSpPr/>
          <p:nvPr/>
        </p:nvGrpSpPr>
        <p:grpSpPr>
          <a:xfrm>
            <a:off x="12063222" y="680466"/>
            <a:ext cx="5554980" cy="147828"/>
            <a:chOff x="0" y="0"/>
            <a:chExt cx="7406640" cy="197104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406640" cy="197104"/>
            </a:xfrm>
            <a:custGeom>
              <a:avLst/>
              <a:gdLst/>
              <a:ahLst/>
              <a:cxnLst/>
              <a:rect l="l" t="t" r="r" b="b"/>
              <a:pathLst>
                <a:path w="7406640" h="197104">
                  <a:moveTo>
                    <a:pt x="0" y="0"/>
                  </a:moveTo>
                  <a:lnTo>
                    <a:pt x="7406640" y="0"/>
                  </a:lnTo>
                  <a:lnTo>
                    <a:pt x="7406640" y="197104"/>
                  </a:lnTo>
                  <a:lnTo>
                    <a:pt x="0" y="197104"/>
                  </a:lnTo>
                  <a:close/>
                </a:path>
              </a:pathLst>
            </a:custGeom>
            <a:solidFill>
              <a:srgbClr val="969FA7"/>
            </a:solidFill>
          </p:spPr>
        </p:sp>
      </p:grpSp>
      <p:grpSp>
        <p:nvGrpSpPr>
          <p:cNvPr id="6" name="Group 6"/>
          <p:cNvGrpSpPr/>
          <p:nvPr/>
        </p:nvGrpSpPr>
        <p:grpSpPr>
          <a:xfrm>
            <a:off x="6362748" y="685800"/>
            <a:ext cx="5554980" cy="137160"/>
            <a:chOff x="0" y="0"/>
            <a:chExt cx="7406640" cy="1828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7406640" cy="182880"/>
            </a:xfrm>
            <a:custGeom>
              <a:avLst/>
              <a:gdLst/>
              <a:ahLst/>
              <a:cxnLst/>
              <a:rect l="l" t="t" r="r" b="b"/>
              <a:pathLst>
                <a:path w="7406640" h="182880">
                  <a:moveTo>
                    <a:pt x="0" y="0"/>
                  </a:moveTo>
                  <a:lnTo>
                    <a:pt x="7406640" y="0"/>
                  </a:lnTo>
                  <a:lnTo>
                    <a:pt x="7406640" y="182880"/>
                  </a:lnTo>
                  <a:lnTo>
                    <a:pt x="0" y="182880"/>
                  </a:lnTo>
                  <a:close/>
                </a:path>
              </a:pathLst>
            </a:custGeom>
            <a:solidFill>
              <a:srgbClr val="903163"/>
            </a:solidFill>
          </p:spPr>
        </p:sp>
      </p:grpSp>
      <p:grpSp>
        <p:nvGrpSpPr>
          <p:cNvPr id="8" name="Group 8"/>
          <p:cNvGrpSpPr/>
          <p:nvPr/>
        </p:nvGrpSpPr>
        <p:grpSpPr>
          <a:xfrm>
            <a:off x="669798" y="446885"/>
            <a:ext cx="18288000" cy="3544043"/>
            <a:chOff x="0" y="0"/>
            <a:chExt cx="24384000" cy="4725391"/>
          </a:xfrm>
        </p:grpSpPr>
        <p:sp>
          <p:nvSpPr>
            <p:cNvPr id="9" name="Freeform 9" descr="preencoded.png"/>
            <p:cNvSpPr/>
            <p:nvPr/>
          </p:nvSpPr>
          <p:spPr>
            <a:xfrm>
              <a:off x="0" y="0"/>
              <a:ext cx="24384000" cy="4725416"/>
            </a:xfrm>
            <a:custGeom>
              <a:avLst/>
              <a:gdLst/>
              <a:ahLst/>
              <a:cxnLst/>
              <a:rect l="l" t="t" r="r" b="b"/>
              <a:pathLst>
                <a:path w="24384000" h="4725416">
                  <a:moveTo>
                    <a:pt x="0" y="0"/>
                  </a:moveTo>
                  <a:lnTo>
                    <a:pt x="24384000" y="0"/>
                  </a:lnTo>
                  <a:lnTo>
                    <a:pt x="24384000" y="4725416"/>
                  </a:lnTo>
                  <a:lnTo>
                    <a:pt x="0" y="472541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0" r="-10"/>
              </a:stretch>
            </a:blipFill>
          </p:spPr>
        </p:sp>
      </p:grpSp>
      <p:sp>
        <p:nvSpPr>
          <p:cNvPr id="10" name="TextBox 10"/>
          <p:cNvSpPr txBox="1"/>
          <p:nvPr/>
        </p:nvSpPr>
        <p:spPr>
          <a:xfrm>
            <a:off x="809358" y="7864373"/>
            <a:ext cx="14176619" cy="18768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937"/>
              </a:lnSpc>
            </a:pPr>
            <a:r>
              <a:rPr lang="en-US" sz="11124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Obrigado!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3892508" y="6294672"/>
            <a:ext cx="3723294" cy="3723294"/>
            <a:chOff x="0" y="0"/>
            <a:chExt cx="4964392" cy="496439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4964430" cy="4964430"/>
            </a:xfrm>
            <a:custGeom>
              <a:avLst/>
              <a:gdLst/>
              <a:ahLst/>
              <a:cxnLst/>
              <a:rect l="l" t="t" r="r" b="b"/>
              <a:pathLst>
                <a:path w="4964430" h="4964430">
                  <a:moveTo>
                    <a:pt x="0" y="0"/>
                  </a:moveTo>
                  <a:lnTo>
                    <a:pt x="4964430" y="0"/>
                  </a:lnTo>
                  <a:lnTo>
                    <a:pt x="4964430" y="4964430"/>
                  </a:lnTo>
                  <a:lnTo>
                    <a:pt x="0" y="49644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13" name="Group 13"/>
          <p:cNvGrpSpPr/>
          <p:nvPr/>
        </p:nvGrpSpPr>
        <p:grpSpPr>
          <a:xfrm>
            <a:off x="-165678" y="0"/>
            <a:ext cx="6597253" cy="6597253"/>
            <a:chOff x="0" y="0"/>
            <a:chExt cx="8796338" cy="8796338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96401" cy="8796401"/>
            </a:xfrm>
            <a:custGeom>
              <a:avLst/>
              <a:gdLst/>
              <a:ahLst/>
              <a:cxnLst/>
              <a:rect l="l" t="t" r="r" b="b"/>
              <a:pathLst>
                <a:path w="8796401" h="8796401">
                  <a:moveTo>
                    <a:pt x="0" y="0"/>
                  </a:moveTo>
                  <a:lnTo>
                    <a:pt x="8796401" y="0"/>
                  </a:lnTo>
                  <a:lnTo>
                    <a:pt x="8796401" y="8796401"/>
                  </a:lnTo>
                  <a:lnTo>
                    <a:pt x="0" y="87964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sp>
        <p:nvSpPr>
          <p:cNvPr id="15" name="TextBox 15"/>
          <p:cNvSpPr txBox="1"/>
          <p:nvPr/>
        </p:nvSpPr>
        <p:spPr>
          <a:xfrm>
            <a:off x="13875144" y="5234930"/>
            <a:ext cx="3758013" cy="11008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99"/>
              </a:lnSpc>
            </a:pPr>
            <a:r>
              <a:rPr lang="en-US" sz="2249" b="1">
                <a:solidFill>
                  <a:srgbClr val="000000"/>
                </a:solidFill>
                <a:latin typeface="Gill Sans Bold"/>
                <a:ea typeface="Gill Sans Bold"/>
                <a:cs typeface="Gill Sans Bold"/>
                <a:sym typeface="Gill Sans Bold"/>
              </a:rPr>
              <a:t>LEIA O QR CODE PARA ACESSAR O REPOSITÓRIO: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141</TotalTime>
  <Words>1111</Words>
  <Application>Microsoft Office PowerPoint</Application>
  <PresentationFormat>Personalizar</PresentationFormat>
  <Paragraphs>147</Paragraphs>
  <Slides>16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16</vt:i4>
      </vt:variant>
    </vt:vector>
  </HeadingPairs>
  <TitlesOfParts>
    <vt:vector size="24" baseType="lpstr">
      <vt:lpstr>Arimo</vt:lpstr>
      <vt:lpstr>Arimo Bold</vt:lpstr>
      <vt:lpstr>Gill Sans Bold</vt:lpstr>
      <vt:lpstr>Noto Sans</vt:lpstr>
      <vt:lpstr>Arial</vt:lpstr>
      <vt:lpstr>Calibri</vt:lpstr>
      <vt:lpstr>Noto Sans Bold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TCC - Slides.pptx</dc:title>
  <dc:creator>Marcos Guilherme</dc:creator>
  <cp:lastModifiedBy>Marcos Guilherme</cp:lastModifiedBy>
  <cp:revision>20</cp:revision>
  <dcterms:created xsi:type="dcterms:W3CDTF">2006-08-16T00:00:00Z</dcterms:created>
  <dcterms:modified xsi:type="dcterms:W3CDTF">2026-04-22T00:24:31Z</dcterms:modified>
  <dc:identifier>DAHHZutQxXU</dc:identifier>
</cp:coreProperties>
</file>