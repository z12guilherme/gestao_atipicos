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8288000" cy="10287000"/>
  <p:notesSz cx="6858000" cy="9144000"/>
  <p:embeddedFontLst>
    <p:embeddedFont>
      <p:font typeface="Arimo" panose="020B0604020202020204" charset="0"/>
      <p:regular r:id="rId19"/>
    </p:embeddedFont>
    <p:embeddedFont>
      <p:font typeface="Arimo Bold" panose="020B0604020202020204" charset="0"/>
      <p:regular r:id="rId20"/>
    </p:embeddedFont>
    <p:embeddedFont>
      <p:font typeface="Gill Sans Bold" panose="020B0604020202020204" charset="0"/>
      <p:regular r:id="rId21"/>
    </p:embeddedFont>
    <p:embeddedFont>
      <p:font typeface="Noto Sans" panose="020B0502040204020203" pitchFamily="34" charset="0"/>
      <p:regular r:id="rId22"/>
      <p:bold r:id="rId23"/>
      <p:italic r:id="rId24"/>
      <p:boldItalic r:id="rId25"/>
    </p:embeddedFont>
    <p:embeddedFont>
      <p:font typeface="Noto Sans Bold" panose="020B0604020202020204" charset="0"/>
      <p:regular r:id="rId2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46" d="100"/>
          <a:sy n="46" d="100"/>
        </p:scale>
        <p:origin x="756" y="5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26" Type="http://schemas.openxmlformats.org/officeDocument/2006/relationships/font" Target="fonts/font8.fntdata"/><Relationship Id="rId3" Type="http://schemas.openxmlformats.org/officeDocument/2006/relationships/slide" Target="slides/slide2.xml"/><Relationship Id="rId21" Type="http://schemas.openxmlformats.org/officeDocument/2006/relationships/font" Target="fonts/font3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7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6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5.fntdata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4.fntdata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20.04.2026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‹nº›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2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3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4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6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8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9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11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12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4/20/2026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svg"/><Relationship Id="rId7" Type="http://schemas.openxmlformats.org/officeDocument/2006/relationships/image" Target="../media/image9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7.svg"/><Relationship Id="rId4" Type="http://schemas.openxmlformats.org/officeDocument/2006/relationships/image" Target="../media/image6.png"/><Relationship Id="rId9" Type="http://schemas.openxmlformats.org/officeDocument/2006/relationships/image" Target="../media/image11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svg"/><Relationship Id="rId7" Type="http://schemas.openxmlformats.org/officeDocument/2006/relationships/image" Target="../media/image17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5" Type="http://schemas.openxmlformats.org/officeDocument/2006/relationships/image" Target="../media/image15.svg"/><Relationship Id="rId4" Type="http://schemas.openxmlformats.org/officeDocument/2006/relationships/image" Target="../media/image14.png"/><Relationship Id="rId9" Type="http://schemas.openxmlformats.org/officeDocument/2006/relationships/image" Target="../media/image19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svg"/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3.svg"/><Relationship Id="rId5" Type="http://schemas.openxmlformats.org/officeDocument/2006/relationships/image" Target="../media/image22.png"/><Relationship Id="rId4" Type="http://schemas.openxmlformats.org/officeDocument/2006/relationships/image" Target="../media/image21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eg"/><Relationship Id="rId2" Type="http://schemas.openxmlformats.org/officeDocument/2006/relationships/image" Target="../media/image27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9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1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svg"/><Relationship Id="rId3" Type="http://schemas.openxmlformats.org/officeDocument/2006/relationships/image" Target="../media/image36.png"/><Relationship Id="rId7" Type="http://schemas.openxmlformats.org/officeDocument/2006/relationships/image" Target="../media/image4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9.svg"/><Relationship Id="rId5" Type="http://schemas.openxmlformats.org/officeDocument/2006/relationships/image" Target="../media/image38.png"/><Relationship Id="rId4" Type="http://schemas.openxmlformats.org/officeDocument/2006/relationships/image" Target="../media/image37.sv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jpe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.png"/><Relationship Id="rId4" Type="http://schemas.openxmlformats.org/officeDocument/2006/relationships/image" Target="../media/image45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9" name="TextBox 9"/>
          <p:cNvSpPr txBox="1"/>
          <p:nvPr/>
        </p:nvSpPr>
        <p:spPr>
          <a:xfrm>
            <a:off x="329298" y="3392995"/>
            <a:ext cx="6780162" cy="34438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 dirty="0" err="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Gestão</a:t>
            </a:r>
            <a:r>
              <a:rPr lang="en-US" sz="5562" dirty="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  <a:r>
              <a:rPr lang="en-US" sz="5562" dirty="0" err="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Atípicos</a:t>
            </a:r>
            <a:r>
              <a:rPr lang="en-US" sz="5562" dirty="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: Sistema Web Seguro para </a:t>
            </a:r>
            <a:r>
              <a:rPr lang="en-US" sz="5562" dirty="0" err="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Educação</a:t>
            </a:r>
            <a:r>
              <a:rPr lang="en-US" sz="5562" dirty="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  <a:r>
              <a:rPr lang="en-US" sz="5562" dirty="0" err="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Inclusiva</a:t>
            </a:r>
            <a:endParaRPr lang="en-US" sz="5562" dirty="0">
              <a:solidFill>
                <a:srgbClr val="000000"/>
              </a:solidFill>
              <a:latin typeface="Arimo"/>
              <a:ea typeface="Arimo"/>
              <a:cs typeface="Arimo"/>
              <a:sym typeface="Arimo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7357042" y="9030942"/>
            <a:ext cx="2455050" cy="4143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 b="1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Belo Jardim, 2026</a:t>
            </a:r>
          </a:p>
        </p:txBody>
      </p:sp>
      <p:grpSp>
        <p:nvGrpSpPr>
          <p:cNvPr id="11" name="Group 11"/>
          <p:cNvGrpSpPr/>
          <p:nvPr/>
        </p:nvGrpSpPr>
        <p:grpSpPr>
          <a:xfrm>
            <a:off x="7109460" y="1824250"/>
            <a:ext cx="10654897" cy="6638500"/>
            <a:chOff x="0" y="0"/>
            <a:chExt cx="13401040" cy="8349475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3401039" cy="8349488"/>
            </a:xfrm>
            <a:custGeom>
              <a:avLst/>
              <a:gdLst/>
              <a:ahLst/>
              <a:cxnLst/>
              <a:rect l="l" t="t" r="r" b="b"/>
              <a:pathLst>
                <a:path w="13401039" h="8349488">
                  <a:moveTo>
                    <a:pt x="0" y="0"/>
                  </a:moveTo>
                  <a:lnTo>
                    <a:pt x="13401039" y="0"/>
                  </a:lnTo>
                  <a:lnTo>
                    <a:pt x="13401039" y="8349488"/>
                  </a:lnTo>
                  <a:lnTo>
                    <a:pt x="0" y="834948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  <p:grpSp>
        <p:nvGrpSpPr>
          <p:cNvPr id="13" name="Group 13"/>
          <p:cNvGrpSpPr/>
          <p:nvPr/>
        </p:nvGrpSpPr>
        <p:grpSpPr>
          <a:xfrm>
            <a:off x="329298" y="276859"/>
            <a:ext cx="2788849" cy="2788849"/>
            <a:chOff x="0" y="0"/>
            <a:chExt cx="8796338" cy="8796338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8796401" cy="8796401"/>
            </a:xfrm>
            <a:custGeom>
              <a:avLst/>
              <a:gdLst/>
              <a:ahLst/>
              <a:cxnLst/>
              <a:rect l="l" t="t" r="r" b="b"/>
              <a:pathLst>
                <a:path w="8796401" h="8796401">
                  <a:moveTo>
                    <a:pt x="0" y="0"/>
                  </a:moveTo>
                  <a:lnTo>
                    <a:pt x="8796401" y="0"/>
                  </a:lnTo>
                  <a:lnTo>
                    <a:pt x="8796401" y="8796401"/>
                  </a:lnTo>
                  <a:lnTo>
                    <a:pt x="0" y="87964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grpSp>
        <p:nvGrpSpPr>
          <p:cNvPr id="8" name="Group 8"/>
          <p:cNvGrpSpPr/>
          <p:nvPr/>
        </p:nvGrpSpPr>
        <p:grpSpPr>
          <a:xfrm>
            <a:off x="669798" y="1409169"/>
            <a:ext cx="155977" cy="3070774"/>
            <a:chOff x="0" y="0"/>
            <a:chExt cx="207969" cy="4094366"/>
          </a:xfrm>
        </p:grpSpPr>
        <p:sp>
          <p:nvSpPr>
            <p:cNvPr id="9" name="Freeform 9" descr="preencoded.png"/>
            <p:cNvSpPr/>
            <p:nvPr/>
          </p:nvSpPr>
          <p:spPr>
            <a:xfrm>
              <a:off x="0" y="0"/>
              <a:ext cx="207969" cy="4094353"/>
            </a:xfrm>
            <a:custGeom>
              <a:avLst/>
              <a:gdLst/>
              <a:ahLst/>
              <a:cxnLst/>
              <a:rect l="l" t="t" r="r" b="b"/>
              <a:pathLst>
                <a:path w="207969" h="4094353">
                  <a:moveTo>
                    <a:pt x="0" y="0"/>
                  </a:moveTo>
                  <a:lnTo>
                    <a:pt x="207969" y="0"/>
                  </a:lnTo>
                  <a:lnTo>
                    <a:pt x="207969" y="4094353"/>
                  </a:lnTo>
                  <a:lnTo>
                    <a:pt x="0" y="40943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6" t="-1115" b="-1116"/>
              </a:stretch>
            </a:blipFill>
          </p:spPr>
        </p:sp>
      </p:grpSp>
      <p:grpSp>
        <p:nvGrpSpPr>
          <p:cNvPr id="10" name="Group 10"/>
          <p:cNvGrpSpPr/>
          <p:nvPr/>
        </p:nvGrpSpPr>
        <p:grpSpPr>
          <a:xfrm>
            <a:off x="6328519" y="1409169"/>
            <a:ext cx="155977" cy="3070774"/>
            <a:chOff x="0" y="0"/>
            <a:chExt cx="207969" cy="4094366"/>
          </a:xfrm>
        </p:grpSpPr>
        <p:sp>
          <p:nvSpPr>
            <p:cNvPr id="11" name="Freeform 11" descr="preencoded.png"/>
            <p:cNvSpPr/>
            <p:nvPr/>
          </p:nvSpPr>
          <p:spPr>
            <a:xfrm>
              <a:off x="0" y="0"/>
              <a:ext cx="207969" cy="4094353"/>
            </a:xfrm>
            <a:custGeom>
              <a:avLst/>
              <a:gdLst/>
              <a:ahLst/>
              <a:cxnLst/>
              <a:rect l="l" t="t" r="r" b="b"/>
              <a:pathLst>
                <a:path w="207969" h="4094353">
                  <a:moveTo>
                    <a:pt x="0" y="0"/>
                  </a:moveTo>
                  <a:lnTo>
                    <a:pt x="207969" y="0"/>
                  </a:lnTo>
                  <a:lnTo>
                    <a:pt x="207969" y="4094353"/>
                  </a:lnTo>
                  <a:lnTo>
                    <a:pt x="0" y="40943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6" t="-1115" b="-1116"/>
              </a:stretch>
            </a:blipFill>
          </p:spPr>
        </p:sp>
      </p:grpSp>
      <p:grpSp>
        <p:nvGrpSpPr>
          <p:cNvPr id="12" name="Group 12"/>
          <p:cNvGrpSpPr/>
          <p:nvPr/>
        </p:nvGrpSpPr>
        <p:grpSpPr>
          <a:xfrm>
            <a:off x="11987230" y="1409169"/>
            <a:ext cx="155977" cy="3070774"/>
            <a:chOff x="0" y="0"/>
            <a:chExt cx="207969" cy="4094366"/>
          </a:xfrm>
        </p:grpSpPr>
        <p:sp>
          <p:nvSpPr>
            <p:cNvPr id="13" name="Freeform 13" descr="preencoded.png"/>
            <p:cNvSpPr/>
            <p:nvPr/>
          </p:nvSpPr>
          <p:spPr>
            <a:xfrm>
              <a:off x="0" y="0"/>
              <a:ext cx="207969" cy="4094353"/>
            </a:xfrm>
            <a:custGeom>
              <a:avLst/>
              <a:gdLst/>
              <a:ahLst/>
              <a:cxnLst/>
              <a:rect l="l" t="t" r="r" b="b"/>
              <a:pathLst>
                <a:path w="207969" h="4094353">
                  <a:moveTo>
                    <a:pt x="0" y="0"/>
                  </a:moveTo>
                  <a:lnTo>
                    <a:pt x="207969" y="0"/>
                  </a:lnTo>
                  <a:lnTo>
                    <a:pt x="207969" y="4094353"/>
                  </a:lnTo>
                  <a:lnTo>
                    <a:pt x="0" y="40943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6" t="-1115" b="-1116"/>
              </a:stretch>
            </a:blipFill>
          </p:spPr>
        </p:sp>
      </p:grpSp>
      <p:sp>
        <p:nvSpPr>
          <p:cNvPr id="14" name="TextBox 14"/>
          <p:cNvSpPr txBox="1"/>
          <p:nvPr/>
        </p:nvSpPr>
        <p:spPr>
          <a:xfrm>
            <a:off x="628612" y="5975368"/>
            <a:ext cx="16948404" cy="10561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93"/>
              </a:lnSpc>
            </a:pPr>
            <a:r>
              <a:rPr lang="en-US" sz="3362" dirty="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Como </a:t>
            </a:r>
            <a:r>
              <a:rPr lang="en-US" sz="3362" dirty="0" err="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desenvolver</a:t>
            </a:r>
            <a:r>
              <a:rPr lang="en-US" sz="3362" dirty="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um </a:t>
            </a:r>
            <a:r>
              <a:rPr lang="en-US" sz="3362" dirty="0" err="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sistema</a:t>
            </a:r>
            <a:r>
              <a:rPr lang="en-US" sz="3362" dirty="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web </a:t>
            </a:r>
            <a:r>
              <a:rPr lang="en-US" sz="3362" dirty="0" err="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seguro</a:t>
            </a:r>
            <a:r>
              <a:rPr lang="en-US" sz="3362" dirty="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, </a:t>
            </a:r>
            <a:r>
              <a:rPr lang="en-US" sz="3362" dirty="0" err="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acessível</a:t>
            </a:r>
            <a:r>
              <a:rPr lang="en-US" sz="3362" dirty="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e </a:t>
            </a:r>
            <a:r>
              <a:rPr lang="en-US" sz="3362" dirty="0" err="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funcional</a:t>
            </a:r>
            <a:r>
              <a:rPr lang="en-US" sz="3362" dirty="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que centralize a </a:t>
            </a:r>
            <a:r>
              <a:rPr lang="en-US" sz="3362" dirty="0" err="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gestão</a:t>
            </a:r>
            <a:r>
              <a:rPr lang="en-US" sz="3362" dirty="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de </a:t>
            </a:r>
            <a:r>
              <a:rPr lang="en-US" sz="3362" dirty="0" err="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alunos</a:t>
            </a:r>
            <a:r>
              <a:rPr lang="en-US" sz="3362" dirty="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  <a:r>
              <a:rPr lang="en-US" sz="3362" dirty="0" err="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atípicos</a:t>
            </a:r>
            <a:r>
              <a:rPr lang="en-US" sz="3362" dirty="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, </a:t>
            </a:r>
            <a:r>
              <a:rPr lang="en-US" sz="3362" dirty="0" err="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facilitando</a:t>
            </a:r>
            <a:r>
              <a:rPr lang="en-US" sz="3362" dirty="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o </a:t>
            </a:r>
            <a:r>
              <a:rPr lang="en-US" sz="3362" dirty="0" err="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trabalho</a:t>
            </a:r>
            <a:r>
              <a:rPr lang="en-US" sz="3362" dirty="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de </a:t>
            </a:r>
            <a:r>
              <a:rPr lang="en-US" sz="3362" dirty="0" err="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gestores</a:t>
            </a:r>
            <a:r>
              <a:rPr lang="en-US" sz="3362" dirty="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, </a:t>
            </a:r>
            <a:r>
              <a:rPr lang="en-US" sz="3362" dirty="0" err="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cuidadores</a:t>
            </a:r>
            <a:r>
              <a:rPr lang="en-US" sz="3362" dirty="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e </a:t>
            </a:r>
            <a:r>
              <a:rPr lang="en-US" sz="3362" dirty="0" err="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responsáveis</a:t>
            </a:r>
            <a:r>
              <a:rPr lang="en-US" sz="3362" dirty="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?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150371" y="1692690"/>
            <a:ext cx="1330730" cy="4492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 b="1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Cenário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150371" y="2258084"/>
            <a:ext cx="4593235" cy="18036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A Lei </a:t>
            </a:r>
            <a:r>
              <a:rPr lang="en-US" sz="2187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Brasileira</a:t>
            </a:r>
            <a:r>
              <a:rPr lang="en-US" sz="2187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de </a:t>
            </a:r>
            <a:r>
              <a:rPr lang="en-US" sz="2187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Inclusão</a:t>
            </a:r>
            <a:r>
              <a:rPr lang="en-US" sz="2187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, n° 13.146 </a:t>
            </a:r>
            <a:r>
              <a:rPr lang="en-US" sz="2187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obriga</a:t>
            </a:r>
            <a:r>
              <a:rPr lang="en-US" sz="2187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o </a:t>
            </a:r>
            <a:r>
              <a:rPr lang="en-US" sz="2187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atendimento</a:t>
            </a:r>
            <a:r>
              <a:rPr lang="en-US" sz="2187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</a:t>
            </a:r>
            <a:r>
              <a:rPr lang="en-US" sz="2187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especializado</a:t>
            </a:r>
            <a:r>
              <a:rPr lang="en-US" sz="2187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, mas </a:t>
            </a:r>
            <a:r>
              <a:rPr lang="en-US" sz="2187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muitas</a:t>
            </a:r>
            <a:r>
              <a:rPr lang="en-US" sz="2187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</a:t>
            </a:r>
            <a:r>
              <a:rPr lang="en-US" sz="2187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escolas</a:t>
            </a:r>
            <a:r>
              <a:rPr lang="en-US" sz="2187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</a:t>
            </a:r>
            <a:r>
              <a:rPr lang="en-US" sz="2187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ainda</a:t>
            </a:r>
            <a:r>
              <a:rPr lang="en-US" sz="2187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</a:t>
            </a:r>
            <a:r>
              <a:rPr lang="en-US" sz="2187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usam</a:t>
            </a:r>
            <a:r>
              <a:rPr lang="en-US" sz="2187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</a:t>
            </a:r>
            <a:r>
              <a:rPr lang="en-US" sz="2187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planilhas</a:t>
            </a:r>
            <a:r>
              <a:rPr lang="en-US" sz="2187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e </a:t>
            </a:r>
            <a:r>
              <a:rPr lang="en-US" sz="2187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papel</a:t>
            </a:r>
            <a:r>
              <a:rPr lang="en-US" sz="2187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.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6806197" y="1692690"/>
            <a:ext cx="1172178" cy="4492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 b="1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Riscos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6806197" y="2258084"/>
            <a:ext cx="4593235" cy="13097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Perda de histórico pedagógico e, principalmente, vulnerabilidade jurídica perante a LGPD.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2464908" y="1692690"/>
            <a:ext cx="2840922" cy="4492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 b="1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Dados Sensíveis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2464908" y="2258084"/>
            <a:ext cx="4593235" cy="13097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Laudos médicos e diagnósticos de crianças expostos sem controle de acesso adequado.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7667854" y="1133440"/>
            <a:ext cx="2944767" cy="9001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Objetivos</a:t>
            </a:r>
          </a:p>
        </p:txBody>
      </p:sp>
      <p:grpSp>
        <p:nvGrpSpPr>
          <p:cNvPr id="3" name="Group 3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5" name="Group 5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7" name="Group 7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9" name="TextBox 9"/>
          <p:cNvSpPr txBox="1"/>
          <p:nvPr/>
        </p:nvSpPr>
        <p:spPr>
          <a:xfrm>
            <a:off x="669798" y="2952013"/>
            <a:ext cx="15711243" cy="42637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99"/>
              </a:lnSpc>
              <a:spcBef>
                <a:spcPct val="0"/>
              </a:spcBef>
            </a:pPr>
            <a:r>
              <a:rPr lang="en-US" sz="2999" b="1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Objetivo Geral:</a:t>
            </a:r>
          </a:p>
          <a:p>
            <a:pPr algn="l">
              <a:lnSpc>
                <a:spcPts val="4199"/>
              </a:lnSpc>
              <a:spcBef>
                <a:spcPct val="0"/>
              </a:spcBef>
            </a:pPr>
            <a:endParaRPr lang="en-US" sz="2999" b="1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algn="l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Desenvolver um sistema web seguro e centralizado para a gestão de alunos com necessidades especiais.</a:t>
            </a:r>
          </a:p>
          <a:p>
            <a:pPr algn="l">
              <a:lnSpc>
                <a:spcPts val="3499"/>
              </a:lnSpc>
              <a:spcBef>
                <a:spcPct val="0"/>
              </a:spcBef>
            </a:pPr>
            <a:endParaRPr lang="en-US" sz="2499">
              <a:solidFill>
                <a:srgbClr val="000000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algn="l">
              <a:lnSpc>
                <a:spcPts val="4199"/>
              </a:lnSpc>
              <a:spcBef>
                <a:spcPct val="0"/>
              </a:spcBef>
            </a:pPr>
            <a:r>
              <a:rPr lang="en-US" sz="2999" b="1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Objetivos Específicos:  </a:t>
            </a:r>
          </a:p>
          <a:p>
            <a:pPr algn="l">
              <a:lnSpc>
                <a:spcPts val="4199"/>
              </a:lnSpc>
              <a:spcBef>
                <a:spcPct val="0"/>
              </a:spcBef>
            </a:pPr>
            <a:endParaRPr lang="en-US" sz="2999" b="1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marL="539749" lvl="1" indent="-269875" algn="l">
              <a:lnSpc>
                <a:spcPts val="3499"/>
              </a:lnSpc>
              <a:buFont typeface="Arial"/>
              <a:buChar char="•"/>
            </a:pPr>
            <a:r>
              <a:rPr lang="en-US" sz="2499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Substituir registros manuais por um "cofre digital".</a:t>
            </a:r>
          </a:p>
          <a:p>
            <a:pPr marL="539749" lvl="1" indent="-269875" algn="l">
              <a:lnSpc>
                <a:spcPts val="3499"/>
              </a:lnSpc>
              <a:buFont typeface="Arial"/>
              <a:buChar char="•"/>
            </a:pPr>
            <a:r>
              <a:rPr lang="en-US" sz="2499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Implementar segurança em nível de banco de dados (RLS).</a:t>
            </a:r>
          </a:p>
          <a:p>
            <a:pPr marL="539749" lvl="1" indent="-269875" algn="l">
              <a:lnSpc>
                <a:spcPts val="3499"/>
              </a:lnSpc>
              <a:buFont typeface="Arial"/>
              <a:buChar char="•"/>
            </a:pPr>
            <a:r>
              <a:rPr lang="en-US" sz="2499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Validar a aplicação contra vulnerabilidades críticas através de pentests.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8" name="Freeform 8"/>
          <p:cNvSpPr/>
          <p:nvPr/>
        </p:nvSpPr>
        <p:spPr>
          <a:xfrm>
            <a:off x="1885314" y="2432563"/>
            <a:ext cx="1561974" cy="1493637"/>
          </a:xfrm>
          <a:custGeom>
            <a:avLst/>
            <a:gdLst/>
            <a:ahLst/>
            <a:cxnLst/>
            <a:rect l="l" t="t" r="r" b="b"/>
            <a:pathLst>
              <a:path w="1561974" h="1493637">
                <a:moveTo>
                  <a:pt x="0" y="0"/>
                </a:moveTo>
                <a:lnTo>
                  <a:pt x="1561974" y="0"/>
                </a:lnTo>
                <a:lnTo>
                  <a:pt x="1561974" y="1493637"/>
                </a:lnTo>
                <a:lnTo>
                  <a:pt x="0" y="149363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1885314" y="4405675"/>
            <a:ext cx="1319260" cy="1618724"/>
          </a:xfrm>
          <a:custGeom>
            <a:avLst/>
            <a:gdLst/>
            <a:ahLst/>
            <a:cxnLst/>
            <a:rect l="l" t="t" r="r" b="b"/>
            <a:pathLst>
              <a:path w="1319260" h="1618724">
                <a:moveTo>
                  <a:pt x="0" y="0"/>
                </a:moveTo>
                <a:lnTo>
                  <a:pt x="1319260" y="0"/>
                </a:lnTo>
                <a:lnTo>
                  <a:pt x="1319260" y="1618724"/>
                </a:lnTo>
                <a:lnTo>
                  <a:pt x="0" y="161872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1838010" y="6171025"/>
            <a:ext cx="1413869" cy="1665825"/>
          </a:xfrm>
          <a:custGeom>
            <a:avLst/>
            <a:gdLst/>
            <a:ahLst/>
            <a:cxnLst/>
            <a:rect l="l" t="t" r="r" b="b"/>
            <a:pathLst>
              <a:path w="1413869" h="1665825">
                <a:moveTo>
                  <a:pt x="0" y="0"/>
                </a:moveTo>
                <a:lnTo>
                  <a:pt x="1413869" y="0"/>
                </a:lnTo>
                <a:lnTo>
                  <a:pt x="1413869" y="1665825"/>
                </a:lnTo>
                <a:lnTo>
                  <a:pt x="0" y="1665825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1" name="Freeform 11"/>
          <p:cNvSpPr/>
          <p:nvPr/>
        </p:nvSpPr>
        <p:spPr>
          <a:xfrm>
            <a:off x="1728097" y="7979725"/>
            <a:ext cx="1719191" cy="1719191"/>
          </a:xfrm>
          <a:custGeom>
            <a:avLst/>
            <a:gdLst/>
            <a:ahLst/>
            <a:cxnLst/>
            <a:rect l="l" t="t" r="r" b="b"/>
            <a:pathLst>
              <a:path w="1719191" h="1719191">
                <a:moveTo>
                  <a:pt x="0" y="0"/>
                </a:moveTo>
                <a:lnTo>
                  <a:pt x="1719191" y="0"/>
                </a:lnTo>
                <a:lnTo>
                  <a:pt x="1719191" y="1719191"/>
                </a:lnTo>
                <a:lnTo>
                  <a:pt x="0" y="1719191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12" name="TextBox 12"/>
          <p:cNvSpPr txBox="1"/>
          <p:nvPr/>
        </p:nvSpPr>
        <p:spPr>
          <a:xfrm>
            <a:off x="4696884" y="1156926"/>
            <a:ext cx="7657072" cy="9001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Fundamentação Teórica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5735372" y="3141281"/>
            <a:ext cx="11523928" cy="60213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93726" lvl="1" indent="-296863" algn="l">
              <a:lnSpc>
                <a:spcPts val="3437"/>
              </a:lnSpc>
              <a:buFont typeface="Arial"/>
              <a:buChar char="•"/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Educação Inclusiva: Diretrizes da Lei nº 13.146/2015 (Estatuto da Pessoa com Deficiência) e a importância da gestão do Atendimento Educacional Especializado (AEE).</a:t>
            </a:r>
          </a:p>
          <a:p>
            <a:pPr algn="l">
              <a:lnSpc>
                <a:spcPts val="3437"/>
              </a:lnSpc>
            </a:pPr>
            <a:endParaRPr lang="en-US" sz="2750">
              <a:solidFill>
                <a:srgbClr val="000000"/>
              </a:solidFill>
              <a:latin typeface="Arimo"/>
              <a:ea typeface="Arimo"/>
              <a:cs typeface="Arimo"/>
              <a:sym typeface="Arimo"/>
            </a:endParaRPr>
          </a:p>
          <a:p>
            <a:pPr marL="593726" lvl="1" indent="-296863" algn="l">
              <a:lnSpc>
                <a:spcPts val="3437"/>
              </a:lnSpc>
              <a:buFont typeface="Arial"/>
              <a:buChar char="•"/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Privacidade e Ética: Diretrizes da LGPD (Lei nº 13.709/2018) focadas no "melhor interesse" e proteção de dados sensíveis de menores de idade.</a:t>
            </a:r>
          </a:p>
          <a:p>
            <a:pPr algn="l">
              <a:lnSpc>
                <a:spcPts val="3437"/>
              </a:lnSpc>
            </a:pPr>
            <a:endParaRPr lang="en-US" sz="2750">
              <a:solidFill>
                <a:srgbClr val="000000"/>
              </a:solidFill>
              <a:latin typeface="Arimo"/>
              <a:ea typeface="Arimo"/>
              <a:cs typeface="Arimo"/>
              <a:sym typeface="Arimo"/>
            </a:endParaRPr>
          </a:p>
          <a:p>
            <a:pPr marL="593726" lvl="1" indent="-296863" algn="l">
              <a:lnSpc>
                <a:spcPts val="3437"/>
              </a:lnSpc>
              <a:buFont typeface="Arial"/>
              <a:buChar char="•"/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Segurança da Informação: Adoção de padrões globais OWASP (Top 10 e ASVS) e aplicação da Modelagem de Ameaças STRIDE.</a:t>
            </a:r>
          </a:p>
          <a:p>
            <a:pPr algn="l">
              <a:lnSpc>
                <a:spcPts val="3437"/>
              </a:lnSpc>
            </a:pPr>
            <a:endParaRPr lang="en-US" sz="2750">
              <a:solidFill>
                <a:srgbClr val="000000"/>
              </a:solidFill>
              <a:latin typeface="Arimo"/>
              <a:ea typeface="Arimo"/>
              <a:cs typeface="Arimo"/>
              <a:sym typeface="Arimo"/>
            </a:endParaRPr>
          </a:p>
          <a:p>
            <a:pPr marL="593726" lvl="1" indent="-296863" algn="l">
              <a:lnSpc>
                <a:spcPts val="3437"/>
              </a:lnSpc>
              <a:buFont typeface="Arial"/>
              <a:buChar char="•"/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Arquitetura de Software: Modelos Serverless (Backend as a Service) e segurança isolada no banco de dados através de Row Level Security (RLS).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8" name="TextBox 8"/>
          <p:cNvSpPr txBox="1"/>
          <p:nvPr/>
        </p:nvSpPr>
        <p:spPr>
          <a:xfrm>
            <a:off x="2610082" y="2483689"/>
            <a:ext cx="14649218" cy="74317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39749" lvl="1" indent="-269875" algn="l">
              <a:lnSpc>
                <a:spcPts val="3499"/>
              </a:lnSpc>
              <a:buFont typeface="Arial"/>
              <a:buChar char="•"/>
            </a:pPr>
            <a:r>
              <a:rPr lang="en-US" sz="249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Tipo de </a:t>
            </a:r>
            <a:r>
              <a:rPr lang="en-US" sz="2499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Pesquisa</a:t>
            </a:r>
            <a:r>
              <a:rPr lang="en-US" sz="249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: 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r>
              <a:rPr lang="en-US" sz="2499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Pesquisa</a:t>
            </a:r>
            <a:r>
              <a:rPr lang="en-US" sz="249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aplicada</a:t>
            </a:r>
            <a:r>
              <a:rPr lang="en-US" sz="249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de </a:t>
            </a:r>
            <a:r>
              <a:rPr lang="en-US" sz="2499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abordagem</a:t>
            </a:r>
            <a:r>
              <a:rPr lang="en-US" sz="249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qualitativa</a:t>
            </a:r>
            <a:r>
              <a:rPr lang="en-US" sz="249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, </a:t>
            </a:r>
            <a:r>
              <a:rPr lang="en-US" sz="2499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baseada</a:t>
            </a:r>
            <a:r>
              <a:rPr lang="en-US" sz="249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no </a:t>
            </a:r>
            <a:r>
              <a:rPr lang="en-US" sz="2499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desenvolvimento</a:t>
            </a:r>
            <a:r>
              <a:rPr lang="en-US" sz="249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ágil</a:t>
            </a:r>
            <a:r>
              <a:rPr lang="en-US" sz="249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de software com </a:t>
            </a:r>
            <a:r>
              <a:rPr lang="en-US" sz="2499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entregas</a:t>
            </a:r>
            <a:r>
              <a:rPr lang="en-US" sz="249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incrementais</a:t>
            </a:r>
            <a:r>
              <a:rPr lang="en-US" sz="249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(Sprints).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endParaRPr lang="en-US" sz="2499" dirty="0">
              <a:solidFill>
                <a:srgbClr val="000000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algn="just">
              <a:lnSpc>
                <a:spcPts val="3499"/>
              </a:lnSpc>
              <a:spcBef>
                <a:spcPct val="0"/>
              </a:spcBef>
            </a:pPr>
            <a:endParaRPr lang="en-US" sz="2499" dirty="0">
              <a:solidFill>
                <a:srgbClr val="000000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marL="539749" lvl="1" indent="-269875" algn="l">
              <a:lnSpc>
                <a:spcPts val="3499"/>
              </a:lnSpc>
              <a:buFont typeface="Arial"/>
              <a:buChar char="•"/>
            </a:pPr>
            <a:r>
              <a:rPr lang="en-US" sz="249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Coleta de Dados (</a:t>
            </a:r>
            <a:r>
              <a:rPr lang="en-US" sz="2499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Requisitos</a:t>
            </a:r>
            <a:r>
              <a:rPr lang="en-US" sz="249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): 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r>
              <a:rPr lang="en-US" sz="2499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Elicitação</a:t>
            </a:r>
            <a:r>
              <a:rPr lang="en-US" sz="249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através</a:t>
            </a:r>
            <a:r>
              <a:rPr lang="en-US" sz="249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de </a:t>
            </a:r>
            <a:r>
              <a:rPr lang="en-US" sz="2499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entrevistas</a:t>
            </a:r>
            <a:r>
              <a:rPr lang="en-US" sz="249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não</a:t>
            </a:r>
            <a:r>
              <a:rPr lang="en-US" sz="249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estruturadas</a:t>
            </a:r>
            <a:r>
              <a:rPr lang="en-US" sz="249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com </a:t>
            </a:r>
            <a:r>
              <a:rPr lang="en-US" sz="2499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profissionais</a:t>
            </a:r>
            <a:r>
              <a:rPr lang="en-US" sz="249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da </a:t>
            </a:r>
            <a:r>
              <a:rPr lang="en-US" sz="2499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área</a:t>
            </a:r>
            <a:r>
              <a:rPr lang="en-US" sz="249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da </a:t>
            </a:r>
            <a:r>
              <a:rPr lang="en-US" sz="2499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educação</a:t>
            </a:r>
            <a:r>
              <a:rPr lang="en-US" sz="249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.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endParaRPr lang="en-US" sz="2499" dirty="0">
              <a:solidFill>
                <a:srgbClr val="000000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algn="just">
              <a:lnSpc>
                <a:spcPts val="3499"/>
              </a:lnSpc>
              <a:spcBef>
                <a:spcPct val="0"/>
              </a:spcBef>
            </a:pPr>
            <a:endParaRPr lang="en-US" sz="2499" dirty="0">
              <a:solidFill>
                <a:srgbClr val="000000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marL="539749" lvl="1" indent="-269875" algn="l">
              <a:lnSpc>
                <a:spcPts val="3499"/>
              </a:lnSpc>
              <a:buFont typeface="Arial"/>
              <a:buChar char="•"/>
            </a:pPr>
            <a:r>
              <a:rPr lang="en-US" sz="2499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Procedimentos</a:t>
            </a:r>
            <a:r>
              <a:rPr lang="en-US" sz="249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de </a:t>
            </a:r>
            <a:r>
              <a:rPr lang="en-US" sz="2499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Desenvolvimento</a:t>
            </a:r>
            <a:r>
              <a:rPr lang="en-US" sz="249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:  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r>
              <a:rPr lang="en-US" sz="2499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Modelagem</a:t>
            </a:r>
            <a:r>
              <a:rPr lang="en-US" sz="249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de dados e design de interfaces </a:t>
            </a:r>
            <a:r>
              <a:rPr lang="en-US" sz="2499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focadas</a:t>
            </a:r>
            <a:r>
              <a:rPr lang="en-US" sz="249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em</a:t>
            </a:r>
            <a:r>
              <a:rPr lang="en-US" sz="249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UI/UX.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r>
              <a:rPr lang="en-US" sz="2499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Automação</a:t>
            </a:r>
            <a:r>
              <a:rPr lang="en-US" sz="249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via pipeline CI/CD </a:t>
            </a:r>
            <a:r>
              <a:rPr lang="en-US" sz="2499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utilizando</a:t>
            </a:r>
            <a:r>
              <a:rPr lang="en-US" sz="249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GitHub Actions e </a:t>
            </a:r>
            <a:r>
              <a:rPr lang="en-US" sz="2499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Vercel</a:t>
            </a:r>
            <a:r>
              <a:rPr lang="en-US" sz="249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.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r>
              <a:rPr lang="en-US" sz="2499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Empacotamento</a:t>
            </a:r>
            <a:r>
              <a:rPr lang="en-US" sz="249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híbrido</a:t>
            </a:r>
            <a:r>
              <a:rPr lang="en-US" sz="249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(PWA e </a:t>
            </a:r>
            <a:r>
              <a:rPr lang="en-US" sz="2499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nativo</a:t>
            </a:r>
            <a:r>
              <a:rPr lang="en-US" sz="249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Android via Capacitor).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endParaRPr lang="en-US" sz="2499" dirty="0">
              <a:solidFill>
                <a:srgbClr val="000000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algn="just">
              <a:lnSpc>
                <a:spcPts val="3499"/>
              </a:lnSpc>
              <a:spcBef>
                <a:spcPct val="0"/>
              </a:spcBef>
            </a:pPr>
            <a:endParaRPr lang="en-US" sz="2499" dirty="0">
              <a:solidFill>
                <a:srgbClr val="000000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marL="539749" lvl="1" indent="-269875" algn="l">
              <a:lnSpc>
                <a:spcPts val="3499"/>
              </a:lnSpc>
              <a:buFont typeface="Arial"/>
              <a:buChar char="•"/>
            </a:pPr>
            <a:r>
              <a:rPr lang="en-US" sz="2499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Estratégia</a:t>
            </a:r>
            <a:r>
              <a:rPr lang="en-US" sz="249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de </a:t>
            </a:r>
            <a:r>
              <a:rPr lang="en-US" sz="2499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Validação</a:t>
            </a:r>
            <a:r>
              <a:rPr lang="en-US" sz="249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: 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r>
              <a:rPr lang="en-US" sz="2499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Execução</a:t>
            </a:r>
            <a:r>
              <a:rPr lang="en-US" sz="249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de testes </a:t>
            </a:r>
            <a:r>
              <a:rPr lang="en-US" sz="2499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automatizados</a:t>
            </a:r>
            <a:r>
              <a:rPr lang="en-US" sz="249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unitários</a:t>
            </a:r>
            <a:r>
              <a:rPr lang="en-US" sz="249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/</a:t>
            </a:r>
            <a:r>
              <a:rPr lang="en-US" sz="2499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integração</a:t>
            </a:r>
            <a:r>
              <a:rPr lang="en-US" sz="249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(</a:t>
            </a:r>
            <a:r>
              <a:rPr lang="en-US" sz="2499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Vitest</a:t>
            </a:r>
            <a:r>
              <a:rPr lang="en-US" sz="249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) e testes de </a:t>
            </a:r>
            <a:r>
              <a:rPr lang="en-US" sz="2499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penetração</a:t>
            </a:r>
            <a:r>
              <a:rPr lang="en-US" sz="249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Black-Box.</a:t>
            </a:r>
          </a:p>
        </p:txBody>
      </p:sp>
      <p:sp>
        <p:nvSpPr>
          <p:cNvPr id="9" name="Freeform 9"/>
          <p:cNvSpPr/>
          <p:nvPr/>
        </p:nvSpPr>
        <p:spPr>
          <a:xfrm>
            <a:off x="395757" y="2531314"/>
            <a:ext cx="1909823" cy="1272420"/>
          </a:xfrm>
          <a:custGeom>
            <a:avLst/>
            <a:gdLst/>
            <a:ahLst/>
            <a:cxnLst/>
            <a:rect l="l" t="t" r="r" b="b"/>
            <a:pathLst>
              <a:path w="1909823" h="1272420">
                <a:moveTo>
                  <a:pt x="0" y="0"/>
                </a:moveTo>
                <a:lnTo>
                  <a:pt x="1909823" y="0"/>
                </a:lnTo>
                <a:lnTo>
                  <a:pt x="1909823" y="1272420"/>
                </a:lnTo>
                <a:lnTo>
                  <a:pt x="0" y="127242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453542" y="4333914"/>
            <a:ext cx="1713719" cy="1718015"/>
          </a:xfrm>
          <a:custGeom>
            <a:avLst/>
            <a:gdLst/>
            <a:ahLst/>
            <a:cxnLst/>
            <a:rect l="l" t="t" r="r" b="b"/>
            <a:pathLst>
              <a:path w="1713719" h="1718015">
                <a:moveTo>
                  <a:pt x="0" y="0"/>
                </a:moveTo>
                <a:lnTo>
                  <a:pt x="1713719" y="0"/>
                </a:lnTo>
                <a:lnTo>
                  <a:pt x="1713719" y="1718015"/>
                </a:lnTo>
                <a:lnTo>
                  <a:pt x="0" y="171801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11" name="Freeform 11"/>
          <p:cNvSpPr/>
          <p:nvPr/>
        </p:nvSpPr>
        <p:spPr>
          <a:xfrm>
            <a:off x="395757" y="6385744"/>
            <a:ext cx="1582979" cy="1670690"/>
          </a:xfrm>
          <a:custGeom>
            <a:avLst/>
            <a:gdLst/>
            <a:ahLst/>
            <a:cxnLst/>
            <a:rect l="l" t="t" r="r" b="b"/>
            <a:pathLst>
              <a:path w="1582979" h="1670690">
                <a:moveTo>
                  <a:pt x="0" y="0"/>
                </a:moveTo>
                <a:lnTo>
                  <a:pt x="1582979" y="0"/>
                </a:lnTo>
                <a:lnTo>
                  <a:pt x="1582979" y="1670690"/>
                </a:lnTo>
                <a:lnTo>
                  <a:pt x="0" y="167069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453542" y="8390249"/>
            <a:ext cx="1525195" cy="1525195"/>
          </a:xfrm>
          <a:custGeom>
            <a:avLst/>
            <a:gdLst/>
            <a:ahLst/>
            <a:cxnLst/>
            <a:rect l="l" t="t" r="r" b="b"/>
            <a:pathLst>
              <a:path w="1525195" h="1525195">
                <a:moveTo>
                  <a:pt x="0" y="0"/>
                </a:moveTo>
                <a:lnTo>
                  <a:pt x="1525194" y="0"/>
                </a:lnTo>
                <a:lnTo>
                  <a:pt x="1525194" y="1525195"/>
                </a:lnTo>
                <a:lnTo>
                  <a:pt x="0" y="1525195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13" name="TextBox 13"/>
          <p:cNvSpPr txBox="1"/>
          <p:nvPr/>
        </p:nvSpPr>
        <p:spPr>
          <a:xfrm>
            <a:off x="6881115" y="1227385"/>
            <a:ext cx="3848695" cy="9001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Metodologia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8" name="Freeform 8"/>
          <p:cNvSpPr/>
          <p:nvPr/>
        </p:nvSpPr>
        <p:spPr>
          <a:xfrm>
            <a:off x="1275759" y="3947408"/>
            <a:ext cx="1204836" cy="1204836"/>
          </a:xfrm>
          <a:custGeom>
            <a:avLst/>
            <a:gdLst/>
            <a:ahLst/>
            <a:cxnLst/>
            <a:rect l="l" t="t" r="r" b="b"/>
            <a:pathLst>
              <a:path w="1204836" h="1204836">
                <a:moveTo>
                  <a:pt x="0" y="0"/>
                </a:moveTo>
                <a:lnTo>
                  <a:pt x="1204837" y="0"/>
                </a:lnTo>
                <a:lnTo>
                  <a:pt x="1204837" y="1204836"/>
                </a:lnTo>
                <a:lnTo>
                  <a:pt x="0" y="120483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6804717" y="3947408"/>
            <a:ext cx="1007333" cy="1219162"/>
          </a:xfrm>
          <a:custGeom>
            <a:avLst/>
            <a:gdLst/>
            <a:ahLst/>
            <a:cxnLst/>
            <a:rect l="l" t="t" r="r" b="b"/>
            <a:pathLst>
              <a:path w="1007333" h="1219162">
                <a:moveTo>
                  <a:pt x="0" y="0"/>
                </a:moveTo>
                <a:lnTo>
                  <a:pt x="1007333" y="0"/>
                </a:lnTo>
                <a:lnTo>
                  <a:pt x="1007333" y="1219162"/>
                </a:lnTo>
                <a:lnTo>
                  <a:pt x="0" y="1219162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12333684" y="3947408"/>
            <a:ext cx="1219162" cy="1219162"/>
          </a:xfrm>
          <a:custGeom>
            <a:avLst/>
            <a:gdLst/>
            <a:ahLst/>
            <a:cxnLst/>
            <a:rect l="l" t="t" r="r" b="b"/>
            <a:pathLst>
              <a:path w="1219162" h="1219162">
                <a:moveTo>
                  <a:pt x="0" y="0"/>
                </a:moveTo>
                <a:lnTo>
                  <a:pt x="1219162" y="0"/>
                </a:lnTo>
                <a:lnTo>
                  <a:pt x="1219162" y="1219162"/>
                </a:lnTo>
                <a:lnTo>
                  <a:pt x="0" y="1219162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11" name="TextBox 11"/>
          <p:cNvSpPr txBox="1"/>
          <p:nvPr/>
        </p:nvSpPr>
        <p:spPr>
          <a:xfrm>
            <a:off x="992238" y="2522334"/>
            <a:ext cx="7107136" cy="9431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A Solução Proposta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275759" y="5411991"/>
            <a:ext cx="3544043" cy="4810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Objetivo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275759" y="5977385"/>
            <a:ext cx="4678413" cy="9929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Sistema Web Centralizado para gestão de alunos atípicos.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6804717" y="5411991"/>
            <a:ext cx="3544043" cy="4810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Público-Alvo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6804717" y="5977385"/>
            <a:ext cx="4678413" cy="1446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Conecta Gestores, Cuidadores e Responsáveis em uma única plataforma.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2333684" y="5411991"/>
            <a:ext cx="3544043" cy="4810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Foco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2333684" y="5977385"/>
            <a:ext cx="4678413" cy="1446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Substituir processos manuais por um "cofre digital" seguro e acessível.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8" name="TextBox 8"/>
          <p:cNvSpPr txBox="1"/>
          <p:nvPr/>
        </p:nvSpPr>
        <p:spPr>
          <a:xfrm>
            <a:off x="690858" y="1199269"/>
            <a:ext cx="6977805" cy="6549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812"/>
              </a:lnSpc>
            </a:pPr>
            <a:r>
              <a:rPr lang="en-US" sz="3875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Stack Tecnológica Moderna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90858" y="2099239"/>
            <a:ext cx="1375442" cy="3269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75"/>
              </a:lnSpc>
            </a:pPr>
            <a:r>
              <a:rPr lang="en-US" sz="2499" b="1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Frontend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690858" y="2604959"/>
            <a:ext cx="8212341" cy="2680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37"/>
              </a:lnSpc>
            </a:pPr>
            <a:r>
              <a:rPr lang="en-US" sz="2499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React com TypeScript e Tailwind CSS (Foco em </a:t>
            </a:r>
          </a:p>
          <a:p>
            <a:pPr algn="l">
              <a:lnSpc>
                <a:spcPts val="2437"/>
              </a:lnSpc>
            </a:pPr>
            <a:r>
              <a:rPr lang="en-US" sz="2499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Usabilidade e Acessibilidade).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690858" y="3625477"/>
            <a:ext cx="1323353" cy="6221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75"/>
              </a:lnSpc>
            </a:pPr>
            <a:endParaRPr/>
          </a:p>
          <a:p>
            <a:pPr algn="l">
              <a:lnSpc>
                <a:spcPts val="2375"/>
              </a:lnSpc>
            </a:pPr>
            <a:r>
              <a:rPr lang="en-US" sz="2499" b="1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Backend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669798" y="4131188"/>
            <a:ext cx="8212341" cy="2680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37"/>
              </a:lnSpc>
            </a:pPr>
            <a:endParaRPr/>
          </a:p>
          <a:p>
            <a:pPr algn="l">
              <a:lnSpc>
                <a:spcPts val="2437"/>
              </a:lnSpc>
            </a:pPr>
            <a:r>
              <a:rPr lang="en-US" sz="2499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Supabase (Backend as a Service).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669798" y="4644195"/>
            <a:ext cx="2467270" cy="2607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75"/>
              </a:lnSpc>
            </a:pPr>
            <a:endParaRPr/>
          </a:p>
          <a:p>
            <a:pPr algn="l">
              <a:lnSpc>
                <a:spcPts val="2375"/>
              </a:lnSpc>
            </a:pPr>
            <a:r>
              <a:rPr lang="en-US" sz="249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Infraestrutura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669798" y="5149915"/>
            <a:ext cx="8212341" cy="2680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37"/>
              </a:lnSpc>
            </a:pPr>
            <a:endParaRPr/>
          </a:p>
          <a:p>
            <a:pPr algn="l">
              <a:lnSpc>
                <a:spcPts val="2437"/>
              </a:lnSpc>
            </a:pPr>
            <a:r>
              <a:rPr lang="en-US" sz="2499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Vercel (Serverless Edge).</a:t>
            </a:r>
          </a:p>
        </p:txBody>
      </p:sp>
      <p:grpSp>
        <p:nvGrpSpPr>
          <p:cNvPr id="15" name="Group 15"/>
          <p:cNvGrpSpPr/>
          <p:nvPr/>
        </p:nvGrpSpPr>
        <p:grpSpPr>
          <a:xfrm>
            <a:off x="9384802" y="851221"/>
            <a:ext cx="8212341" cy="8212341"/>
            <a:chOff x="0" y="0"/>
            <a:chExt cx="10949788" cy="10949788"/>
          </a:xfrm>
        </p:grpSpPr>
        <p:sp>
          <p:nvSpPr>
            <p:cNvPr id="16" name="Freeform 16" descr="preencoded.png"/>
            <p:cNvSpPr/>
            <p:nvPr/>
          </p:nvSpPr>
          <p:spPr>
            <a:xfrm>
              <a:off x="0" y="0"/>
              <a:ext cx="10949813" cy="10949813"/>
            </a:xfrm>
            <a:custGeom>
              <a:avLst/>
              <a:gdLst/>
              <a:ahLst/>
              <a:cxnLst/>
              <a:rect l="l" t="t" r="r" b="b"/>
              <a:pathLst>
                <a:path w="10949813" h="10949813">
                  <a:moveTo>
                    <a:pt x="0" y="0"/>
                  </a:moveTo>
                  <a:lnTo>
                    <a:pt x="10949813" y="0"/>
                  </a:lnTo>
                  <a:lnTo>
                    <a:pt x="10949813" y="10949813"/>
                  </a:lnTo>
                  <a:lnTo>
                    <a:pt x="0" y="109498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  <p:sp>
        <p:nvSpPr>
          <p:cNvPr id="17" name="TextBox 17"/>
          <p:cNvSpPr txBox="1"/>
          <p:nvPr/>
        </p:nvSpPr>
        <p:spPr>
          <a:xfrm>
            <a:off x="9394327" y="10560691"/>
            <a:ext cx="8212341" cy="3728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37"/>
              </a:lnSpc>
            </a:pPr>
            <a:r>
              <a:rPr lang="en-US" sz="1500">
                <a:solidFill>
                  <a:srgbClr val="E0D6DE"/>
                </a:solidFill>
                <a:latin typeface="Noto Sans"/>
                <a:ea typeface="Noto Sans"/>
                <a:cs typeface="Noto Sans"/>
                <a:sym typeface="Noto Sans"/>
              </a:rPr>
              <a:t>Arquitetura Serverless para alta disponibilidade e baixo custo de manutenção.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grpSp>
        <p:nvGrpSpPr>
          <p:cNvPr id="8" name="Group 8"/>
          <p:cNvGrpSpPr/>
          <p:nvPr/>
        </p:nvGrpSpPr>
        <p:grpSpPr>
          <a:xfrm>
            <a:off x="756999" y="5143500"/>
            <a:ext cx="7746921" cy="4931931"/>
            <a:chOff x="0" y="0"/>
            <a:chExt cx="10329228" cy="6575908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0329291" cy="6575933"/>
            </a:xfrm>
            <a:custGeom>
              <a:avLst/>
              <a:gdLst/>
              <a:ahLst/>
              <a:cxnLst/>
              <a:rect l="l" t="t" r="r" b="b"/>
              <a:pathLst>
                <a:path w="10329291" h="6575933">
                  <a:moveTo>
                    <a:pt x="0" y="0"/>
                  </a:moveTo>
                  <a:lnTo>
                    <a:pt x="10329291" y="0"/>
                  </a:lnTo>
                  <a:lnTo>
                    <a:pt x="10329291" y="6575933"/>
                  </a:lnTo>
                  <a:lnTo>
                    <a:pt x="0" y="65759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</p:sp>
      </p:grpSp>
      <p:grpSp>
        <p:nvGrpSpPr>
          <p:cNvPr id="10" name="Group 10"/>
          <p:cNvGrpSpPr/>
          <p:nvPr/>
        </p:nvGrpSpPr>
        <p:grpSpPr>
          <a:xfrm>
            <a:off x="9692640" y="1028700"/>
            <a:ext cx="7746921" cy="4885934"/>
            <a:chOff x="0" y="0"/>
            <a:chExt cx="10329228" cy="6514579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0329291" cy="6514592"/>
            </a:xfrm>
            <a:custGeom>
              <a:avLst/>
              <a:gdLst/>
              <a:ahLst/>
              <a:cxnLst/>
              <a:rect l="l" t="t" r="r" b="b"/>
              <a:pathLst>
                <a:path w="10329291" h="6514592">
                  <a:moveTo>
                    <a:pt x="0" y="0"/>
                  </a:moveTo>
                  <a:lnTo>
                    <a:pt x="10329291" y="0"/>
                  </a:lnTo>
                  <a:lnTo>
                    <a:pt x="10329291" y="6514592"/>
                  </a:lnTo>
                  <a:lnTo>
                    <a:pt x="0" y="65145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  <p:grpSp>
        <p:nvGrpSpPr>
          <p:cNvPr id="12" name="Group 12"/>
          <p:cNvGrpSpPr/>
          <p:nvPr/>
        </p:nvGrpSpPr>
        <p:grpSpPr>
          <a:xfrm>
            <a:off x="9871281" y="5255696"/>
            <a:ext cx="7746921" cy="4849387"/>
            <a:chOff x="0" y="0"/>
            <a:chExt cx="10329228" cy="6465849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0329291" cy="6465824"/>
            </a:xfrm>
            <a:custGeom>
              <a:avLst/>
              <a:gdLst/>
              <a:ahLst/>
              <a:cxnLst/>
              <a:rect l="l" t="t" r="r" b="b"/>
              <a:pathLst>
                <a:path w="10329291" h="6465824">
                  <a:moveTo>
                    <a:pt x="0" y="0"/>
                  </a:moveTo>
                  <a:lnTo>
                    <a:pt x="10329291" y="0"/>
                  </a:lnTo>
                  <a:lnTo>
                    <a:pt x="10329291" y="6465824"/>
                  </a:lnTo>
                  <a:lnTo>
                    <a:pt x="0" y="64658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</p:sp>
      </p:grpSp>
      <p:sp>
        <p:nvSpPr>
          <p:cNvPr id="14" name="TextBox 14"/>
          <p:cNvSpPr txBox="1"/>
          <p:nvPr/>
        </p:nvSpPr>
        <p:spPr>
          <a:xfrm>
            <a:off x="848439" y="857822"/>
            <a:ext cx="8961120" cy="19859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350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Prints das Telas do Gestor, Cuidador e Responsável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8" name="TextBox 8"/>
          <p:cNvSpPr txBox="1"/>
          <p:nvPr/>
        </p:nvSpPr>
        <p:spPr>
          <a:xfrm>
            <a:off x="992238" y="1975247"/>
            <a:ext cx="16303523" cy="18290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Engenharia de Segurança - Row Level Security (RLS)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992238" y="4758480"/>
            <a:ext cx="5245446" cy="152400"/>
            <a:chOff x="0" y="0"/>
            <a:chExt cx="6993928" cy="203200"/>
          </a:xfrm>
        </p:grpSpPr>
        <p:sp>
          <p:nvSpPr>
            <p:cNvPr id="10" name="Freeform 10" descr="preencoded.png"/>
            <p:cNvSpPr/>
            <p:nvPr/>
          </p:nvSpPr>
          <p:spPr>
            <a:xfrm>
              <a:off x="0" y="0"/>
              <a:ext cx="6993890" cy="203200"/>
            </a:xfrm>
            <a:custGeom>
              <a:avLst/>
              <a:gdLst/>
              <a:ahLst/>
              <a:cxnLst/>
              <a:rect l="l" t="t" r="r" b="b"/>
              <a:pathLst>
                <a:path w="6993890" h="203200">
                  <a:moveTo>
                    <a:pt x="0" y="0"/>
                  </a:moveTo>
                  <a:lnTo>
                    <a:pt x="6993890" y="0"/>
                  </a:lnTo>
                  <a:lnTo>
                    <a:pt x="6993890" y="203200"/>
                  </a:lnTo>
                  <a:lnTo>
                    <a:pt x="0" y="20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26" r="-27"/>
              </a:stretch>
            </a:blipFill>
          </p:spPr>
        </p:sp>
      </p:grpSp>
      <p:sp>
        <p:nvSpPr>
          <p:cNvPr id="11" name="TextBox 11"/>
          <p:cNvSpPr txBox="1"/>
          <p:nvPr/>
        </p:nvSpPr>
        <p:spPr>
          <a:xfrm>
            <a:off x="1313859" y="5467198"/>
            <a:ext cx="3774872" cy="4810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O Grande Diferencial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313859" y="6032602"/>
            <a:ext cx="4602213" cy="19002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A segurança não depende apenas da API, mas é aplicada diretamente no Banco de Dados (PostgreSQL).</a:t>
            </a:r>
          </a:p>
        </p:txBody>
      </p:sp>
      <p:grpSp>
        <p:nvGrpSpPr>
          <p:cNvPr id="13" name="Group 13"/>
          <p:cNvGrpSpPr/>
          <p:nvPr/>
        </p:nvGrpSpPr>
        <p:grpSpPr>
          <a:xfrm>
            <a:off x="6521206" y="4758480"/>
            <a:ext cx="5245446" cy="152400"/>
            <a:chOff x="0" y="0"/>
            <a:chExt cx="6993928" cy="203200"/>
          </a:xfrm>
        </p:grpSpPr>
        <p:sp>
          <p:nvSpPr>
            <p:cNvPr id="14" name="Freeform 14" descr="preencoded.png"/>
            <p:cNvSpPr/>
            <p:nvPr/>
          </p:nvSpPr>
          <p:spPr>
            <a:xfrm>
              <a:off x="0" y="0"/>
              <a:ext cx="6993890" cy="203200"/>
            </a:xfrm>
            <a:custGeom>
              <a:avLst/>
              <a:gdLst/>
              <a:ahLst/>
              <a:cxnLst/>
              <a:rect l="l" t="t" r="r" b="b"/>
              <a:pathLst>
                <a:path w="6993890" h="203200">
                  <a:moveTo>
                    <a:pt x="0" y="0"/>
                  </a:moveTo>
                  <a:lnTo>
                    <a:pt x="6993890" y="0"/>
                  </a:lnTo>
                  <a:lnTo>
                    <a:pt x="6993890" y="203200"/>
                  </a:lnTo>
                  <a:lnTo>
                    <a:pt x="0" y="20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26" r="-27"/>
              </a:stretch>
            </a:blipFill>
          </p:spPr>
        </p:sp>
      </p:grpSp>
      <p:sp>
        <p:nvSpPr>
          <p:cNvPr id="15" name="TextBox 15"/>
          <p:cNvSpPr txBox="1"/>
          <p:nvPr/>
        </p:nvSpPr>
        <p:spPr>
          <a:xfrm>
            <a:off x="6842817" y="5467198"/>
            <a:ext cx="3544043" cy="4810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Política de Acesso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6842817" y="6032602"/>
            <a:ext cx="4602213" cy="19002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Mesmo com a chave pública exposta no frontend, o banco recusa a leitura de dados se o usuário não tiver o token correto.</a:t>
            </a:r>
          </a:p>
        </p:txBody>
      </p:sp>
      <p:grpSp>
        <p:nvGrpSpPr>
          <p:cNvPr id="17" name="Group 17"/>
          <p:cNvGrpSpPr/>
          <p:nvPr/>
        </p:nvGrpSpPr>
        <p:grpSpPr>
          <a:xfrm>
            <a:off x="12050163" y="4758480"/>
            <a:ext cx="5245446" cy="152400"/>
            <a:chOff x="0" y="0"/>
            <a:chExt cx="6993928" cy="203200"/>
          </a:xfrm>
        </p:grpSpPr>
        <p:sp>
          <p:nvSpPr>
            <p:cNvPr id="18" name="Freeform 18" descr="preencoded.png"/>
            <p:cNvSpPr/>
            <p:nvPr/>
          </p:nvSpPr>
          <p:spPr>
            <a:xfrm>
              <a:off x="0" y="0"/>
              <a:ext cx="6993890" cy="203200"/>
            </a:xfrm>
            <a:custGeom>
              <a:avLst/>
              <a:gdLst/>
              <a:ahLst/>
              <a:cxnLst/>
              <a:rect l="l" t="t" r="r" b="b"/>
              <a:pathLst>
                <a:path w="6993890" h="203200">
                  <a:moveTo>
                    <a:pt x="0" y="0"/>
                  </a:moveTo>
                  <a:lnTo>
                    <a:pt x="6993890" y="0"/>
                  </a:lnTo>
                  <a:lnTo>
                    <a:pt x="6993890" y="203200"/>
                  </a:lnTo>
                  <a:lnTo>
                    <a:pt x="0" y="20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26" r="-27"/>
              </a:stretch>
            </a:blipFill>
          </p:spPr>
        </p:sp>
      </p:grpSp>
      <p:grpSp>
        <p:nvGrpSpPr>
          <p:cNvPr id="19" name="Group 19"/>
          <p:cNvGrpSpPr/>
          <p:nvPr/>
        </p:nvGrpSpPr>
        <p:grpSpPr>
          <a:xfrm>
            <a:off x="14247543" y="4371384"/>
            <a:ext cx="850554" cy="850554"/>
            <a:chOff x="0" y="0"/>
            <a:chExt cx="1134072" cy="1134072"/>
          </a:xfrm>
        </p:grpSpPr>
        <p:sp>
          <p:nvSpPr>
            <p:cNvPr id="20" name="Freeform 20" descr="preencoded.png"/>
            <p:cNvSpPr/>
            <p:nvPr/>
          </p:nvSpPr>
          <p:spPr>
            <a:xfrm>
              <a:off x="0" y="0"/>
              <a:ext cx="1134110" cy="1134110"/>
            </a:xfrm>
            <a:custGeom>
              <a:avLst/>
              <a:gdLst/>
              <a:ahLst/>
              <a:cxnLst/>
              <a:rect l="l" t="t" r="r" b="b"/>
              <a:pathLst>
                <a:path w="1134110" h="1134110">
                  <a:moveTo>
                    <a:pt x="0" y="0"/>
                  </a:moveTo>
                  <a:lnTo>
                    <a:pt x="1134110" y="0"/>
                  </a:lnTo>
                  <a:lnTo>
                    <a:pt x="1134110" y="1134110"/>
                  </a:lnTo>
                  <a:lnTo>
                    <a:pt x="0" y="11341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r="3" b="3"/>
              </a:stretch>
            </a:blipFill>
          </p:spPr>
        </p:sp>
      </p:grpSp>
      <p:sp>
        <p:nvSpPr>
          <p:cNvPr id="21" name="TextBox 21"/>
          <p:cNvSpPr txBox="1"/>
          <p:nvPr/>
        </p:nvSpPr>
        <p:spPr>
          <a:xfrm>
            <a:off x="12371784" y="5467198"/>
            <a:ext cx="3544043" cy="4810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Isolamento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2371784" y="6032602"/>
            <a:ext cx="4602213" cy="1446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Um Cuidador jamais consegue acessar dados de alunos que não são seus.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8" name="TextBox 8"/>
          <p:cNvSpPr txBox="1"/>
          <p:nvPr/>
        </p:nvSpPr>
        <p:spPr>
          <a:xfrm>
            <a:off x="669798" y="617791"/>
            <a:ext cx="8961120" cy="7804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4000" dirty="0" err="1">
                <a:latin typeface="Arimo"/>
                <a:ea typeface="Arimo"/>
                <a:cs typeface="Arimo"/>
                <a:sym typeface="Arimo"/>
              </a:rPr>
              <a:t>Diagrama</a:t>
            </a:r>
            <a:r>
              <a:rPr lang="en-US" sz="4000" dirty="0">
                <a:latin typeface="Arimo"/>
                <a:ea typeface="Arimo"/>
                <a:cs typeface="Arimo"/>
                <a:sym typeface="Arimo"/>
              </a:rPr>
              <a:t> do Banco de Dados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571500" y="1987201"/>
            <a:ext cx="15692438" cy="7682008"/>
            <a:chOff x="0" y="0"/>
            <a:chExt cx="20923250" cy="10242677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20923250" cy="10242677"/>
            </a:xfrm>
            <a:custGeom>
              <a:avLst/>
              <a:gdLst/>
              <a:ahLst/>
              <a:cxnLst/>
              <a:rect l="l" t="t" r="r" b="b"/>
              <a:pathLst>
                <a:path w="20923250" h="10242677">
                  <a:moveTo>
                    <a:pt x="0" y="0"/>
                  </a:moveTo>
                  <a:lnTo>
                    <a:pt x="20923250" y="0"/>
                  </a:lnTo>
                  <a:lnTo>
                    <a:pt x="20923250" y="10242677"/>
                  </a:lnTo>
                  <a:lnTo>
                    <a:pt x="0" y="102426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grpSp>
        <p:nvGrpSpPr>
          <p:cNvPr id="8" name="Group 8"/>
          <p:cNvGrpSpPr/>
          <p:nvPr/>
        </p:nvGrpSpPr>
        <p:grpSpPr>
          <a:xfrm>
            <a:off x="11430000" y="0"/>
            <a:ext cx="6858000" cy="10287000"/>
            <a:chOff x="0" y="0"/>
            <a:chExt cx="9144000" cy="13716000"/>
          </a:xfrm>
        </p:grpSpPr>
        <p:sp>
          <p:nvSpPr>
            <p:cNvPr id="9" name="Freeform 9" descr="preencoded.png"/>
            <p:cNvSpPr/>
            <p:nvPr/>
          </p:nvSpPr>
          <p:spPr>
            <a:xfrm>
              <a:off x="0" y="0"/>
              <a:ext cx="9144000" cy="13716000"/>
            </a:xfrm>
            <a:custGeom>
              <a:avLst/>
              <a:gdLst/>
              <a:ahLst/>
              <a:cxnLst/>
              <a:rect l="l" t="t" r="r" b="b"/>
              <a:pathLst>
                <a:path w="9144000" h="13716000">
                  <a:moveTo>
                    <a:pt x="0" y="0"/>
                  </a:moveTo>
                  <a:lnTo>
                    <a:pt x="9144000" y="0"/>
                  </a:lnTo>
                  <a:lnTo>
                    <a:pt x="914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  <p:grpSp>
        <p:nvGrpSpPr>
          <p:cNvPr id="10" name="Group 10"/>
          <p:cNvGrpSpPr/>
          <p:nvPr/>
        </p:nvGrpSpPr>
        <p:grpSpPr>
          <a:xfrm>
            <a:off x="11430000" y="0"/>
            <a:ext cx="6858000" cy="10287000"/>
            <a:chOff x="0" y="0"/>
            <a:chExt cx="9144000" cy="137160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9144000" cy="13716000"/>
            </a:xfrm>
            <a:custGeom>
              <a:avLst/>
              <a:gdLst/>
              <a:ahLst/>
              <a:cxnLst/>
              <a:rect l="l" t="t" r="r" b="b"/>
              <a:pathLst>
                <a:path w="9144000" h="13716000">
                  <a:moveTo>
                    <a:pt x="0" y="0"/>
                  </a:moveTo>
                  <a:lnTo>
                    <a:pt x="9144000" y="0"/>
                  </a:lnTo>
                  <a:lnTo>
                    <a:pt x="914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DFDFE0"/>
            </a:solidFill>
          </p:spPr>
        </p:sp>
      </p:grpSp>
      <p:grpSp>
        <p:nvGrpSpPr>
          <p:cNvPr id="12" name="Group 12"/>
          <p:cNvGrpSpPr/>
          <p:nvPr/>
        </p:nvGrpSpPr>
        <p:grpSpPr>
          <a:xfrm>
            <a:off x="11430000" y="0"/>
            <a:ext cx="6858000" cy="10287000"/>
            <a:chOff x="0" y="0"/>
            <a:chExt cx="9144000" cy="13716000"/>
          </a:xfrm>
        </p:grpSpPr>
        <p:sp>
          <p:nvSpPr>
            <p:cNvPr id="13" name="Freeform 13" descr="preencoded.png"/>
            <p:cNvSpPr/>
            <p:nvPr/>
          </p:nvSpPr>
          <p:spPr>
            <a:xfrm>
              <a:off x="0" y="0"/>
              <a:ext cx="9144000" cy="13716000"/>
            </a:xfrm>
            <a:custGeom>
              <a:avLst/>
              <a:gdLst/>
              <a:ahLst/>
              <a:cxnLst/>
              <a:rect l="l" t="t" r="r" b="b"/>
              <a:pathLst>
                <a:path w="9144000" h="13716000">
                  <a:moveTo>
                    <a:pt x="0" y="0"/>
                  </a:moveTo>
                  <a:lnTo>
                    <a:pt x="9144000" y="0"/>
                  </a:lnTo>
                  <a:lnTo>
                    <a:pt x="914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</p:sp>
      </p:grpSp>
      <p:sp>
        <p:nvSpPr>
          <p:cNvPr id="14" name="TextBox 14"/>
          <p:cNvSpPr txBox="1"/>
          <p:nvPr/>
        </p:nvSpPr>
        <p:spPr>
          <a:xfrm>
            <a:off x="992238" y="1163393"/>
            <a:ext cx="9445523" cy="18290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Validação de Segurança (Pentest)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92238" y="3663105"/>
            <a:ext cx="3544043" cy="4810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Metodologia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992238" y="4341914"/>
            <a:ext cx="4376890" cy="9929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Testes de Penetração Black-Box baseados no OWASP ASVS.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992238" y="5580307"/>
            <a:ext cx="3544043" cy="4810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Ferramenta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992238" y="6259116"/>
            <a:ext cx="4376890" cy="5393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Burp Suite.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6070397" y="3663105"/>
            <a:ext cx="3544043" cy="4810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Resultados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6070397" y="4341914"/>
            <a:ext cx="4376890" cy="5393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29902" lvl="1" indent="-164951" algn="l">
              <a:lnSpc>
                <a:spcPts val="3562"/>
              </a:lnSpc>
              <a:buFont typeface="Arial"/>
              <a:buChar char="•"/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SQL Injection: Mitigado.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6070397" y="4894659"/>
            <a:ext cx="4376890" cy="9929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29902" lvl="1" indent="-164951" algn="l">
              <a:lnSpc>
                <a:spcPts val="3562"/>
              </a:lnSpc>
              <a:buFont typeface="Arial"/>
              <a:buChar char="•"/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XSS (Cross-Site Scripting): Mitigado.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6070397" y="5901033"/>
            <a:ext cx="4376890" cy="9929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29902" lvl="1" indent="-164951" algn="l">
              <a:lnSpc>
                <a:spcPts val="3562"/>
              </a:lnSpc>
              <a:buFont typeface="Arial"/>
              <a:buChar char="•"/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Escalação de Privilégios: Bloqueada.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6070397" y="7139435"/>
            <a:ext cx="3544043" cy="4810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Status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6070397" y="7818234"/>
            <a:ext cx="4376890" cy="9929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Aplicação aprovada sem vulnerabilidades críticas.</a:t>
            </a:r>
          </a:p>
        </p:txBody>
      </p:sp>
      <p:grpSp>
        <p:nvGrpSpPr>
          <p:cNvPr id="25" name="Group 25"/>
          <p:cNvGrpSpPr/>
          <p:nvPr/>
        </p:nvGrpSpPr>
        <p:grpSpPr>
          <a:xfrm>
            <a:off x="11430000" y="3223260"/>
            <a:ext cx="6858000" cy="3840480"/>
            <a:chOff x="0" y="0"/>
            <a:chExt cx="9144000" cy="5120640"/>
          </a:xfrm>
        </p:grpSpPr>
        <p:sp>
          <p:nvSpPr>
            <p:cNvPr id="26" name="Freeform 26" descr="All about the xz-utils backdoor | Kali Linux Blog"/>
            <p:cNvSpPr/>
            <p:nvPr/>
          </p:nvSpPr>
          <p:spPr>
            <a:xfrm>
              <a:off x="0" y="0"/>
              <a:ext cx="9144000" cy="5120640"/>
            </a:xfrm>
            <a:custGeom>
              <a:avLst/>
              <a:gdLst/>
              <a:ahLst/>
              <a:cxnLst/>
              <a:rect l="l" t="t" r="r" b="b"/>
              <a:pathLst>
                <a:path w="9144000" h="5120640">
                  <a:moveTo>
                    <a:pt x="0" y="0"/>
                  </a:moveTo>
                  <a:lnTo>
                    <a:pt x="9144000" y="0"/>
                  </a:lnTo>
                  <a:lnTo>
                    <a:pt x="9144000" y="5120640"/>
                  </a:lnTo>
                  <a:lnTo>
                    <a:pt x="0" y="51206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grpSp>
        <p:nvGrpSpPr>
          <p:cNvPr id="8" name="Group 8"/>
          <p:cNvGrpSpPr/>
          <p:nvPr/>
        </p:nvGrpSpPr>
        <p:grpSpPr>
          <a:xfrm>
            <a:off x="992238" y="4617244"/>
            <a:ext cx="5245446" cy="850554"/>
            <a:chOff x="0" y="0"/>
            <a:chExt cx="6993928" cy="1134072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6993890" cy="1134110"/>
            </a:xfrm>
            <a:custGeom>
              <a:avLst/>
              <a:gdLst/>
              <a:ahLst/>
              <a:cxnLst/>
              <a:rect l="l" t="t" r="r" b="b"/>
              <a:pathLst>
                <a:path w="6993890" h="1134110">
                  <a:moveTo>
                    <a:pt x="0" y="567055"/>
                  </a:moveTo>
                  <a:cubicBezTo>
                    <a:pt x="0" y="253873"/>
                    <a:pt x="253873" y="0"/>
                    <a:pt x="567055" y="0"/>
                  </a:cubicBezTo>
                  <a:lnTo>
                    <a:pt x="6426835" y="0"/>
                  </a:lnTo>
                  <a:cubicBezTo>
                    <a:pt x="6740017" y="0"/>
                    <a:pt x="6993890" y="253873"/>
                    <a:pt x="6993890" y="567055"/>
                  </a:cubicBezTo>
                  <a:cubicBezTo>
                    <a:pt x="6993890" y="880237"/>
                    <a:pt x="6740017" y="1134110"/>
                    <a:pt x="6426835" y="1134110"/>
                  </a:cubicBezTo>
                  <a:lnTo>
                    <a:pt x="567055" y="1134110"/>
                  </a:lnTo>
                  <a:cubicBezTo>
                    <a:pt x="253873" y="1134110"/>
                    <a:pt x="0" y="880237"/>
                    <a:pt x="0" y="567055"/>
                  </a:cubicBezTo>
                  <a:close/>
                </a:path>
              </a:pathLst>
            </a:custGeom>
            <a:solidFill>
              <a:srgbClr val="26262B"/>
            </a:solidFill>
          </p:spPr>
        </p:sp>
      </p:grpSp>
      <p:grpSp>
        <p:nvGrpSpPr>
          <p:cNvPr id="10" name="Group 10"/>
          <p:cNvGrpSpPr/>
          <p:nvPr/>
        </p:nvGrpSpPr>
        <p:grpSpPr>
          <a:xfrm>
            <a:off x="6521206" y="4617244"/>
            <a:ext cx="5245446" cy="850554"/>
            <a:chOff x="0" y="0"/>
            <a:chExt cx="6993928" cy="1134072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6993890" cy="1134110"/>
            </a:xfrm>
            <a:custGeom>
              <a:avLst/>
              <a:gdLst/>
              <a:ahLst/>
              <a:cxnLst/>
              <a:rect l="l" t="t" r="r" b="b"/>
              <a:pathLst>
                <a:path w="6993890" h="1134110">
                  <a:moveTo>
                    <a:pt x="0" y="567055"/>
                  </a:moveTo>
                  <a:cubicBezTo>
                    <a:pt x="0" y="253873"/>
                    <a:pt x="253873" y="0"/>
                    <a:pt x="567055" y="0"/>
                  </a:cubicBezTo>
                  <a:lnTo>
                    <a:pt x="6426835" y="0"/>
                  </a:lnTo>
                  <a:cubicBezTo>
                    <a:pt x="6740017" y="0"/>
                    <a:pt x="6993890" y="253873"/>
                    <a:pt x="6993890" y="567055"/>
                  </a:cubicBezTo>
                  <a:cubicBezTo>
                    <a:pt x="6993890" y="880237"/>
                    <a:pt x="6740017" y="1134110"/>
                    <a:pt x="6426835" y="1134110"/>
                  </a:cubicBezTo>
                  <a:lnTo>
                    <a:pt x="567055" y="1134110"/>
                  </a:lnTo>
                  <a:cubicBezTo>
                    <a:pt x="253873" y="1134110"/>
                    <a:pt x="0" y="880237"/>
                    <a:pt x="0" y="567055"/>
                  </a:cubicBezTo>
                  <a:close/>
                </a:path>
              </a:pathLst>
            </a:custGeom>
            <a:solidFill>
              <a:srgbClr val="26262B"/>
            </a:solidFill>
          </p:spPr>
        </p:sp>
      </p:grpSp>
      <p:sp>
        <p:nvSpPr>
          <p:cNvPr id="12" name="Freeform 12" descr="preencoded.png"/>
          <p:cNvSpPr/>
          <p:nvPr/>
        </p:nvSpPr>
        <p:spPr>
          <a:xfrm>
            <a:off x="8931326" y="4829766"/>
            <a:ext cx="425206" cy="425206"/>
          </a:xfrm>
          <a:custGeom>
            <a:avLst/>
            <a:gdLst/>
            <a:ahLst/>
            <a:cxnLst/>
            <a:rect l="l" t="t" r="r" b="b"/>
            <a:pathLst>
              <a:path w="425206" h="425206">
                <a:moveTo>
                  <a:pt x="0" y="0"/>
                </a:moveTo>
                <a:lnTo>
                  <a:pt x="425205" y="0"/>
                </a:lnTo>
                <a:lnTo>
                  <a:pt x="425205" y="425205"/>
                </a:lnTo>
                <a:lnTo>
                  <a:pt x="0" y="425205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-1111" r="-1111"/>
            </a:stretch>
          </a:blipFill>
        </p:spPr>
      </p:sp>
      <p:grpSp>
        <p:nvGrpSpPr>
          <p:cNvPr id="13" name="Group 13"/>
          <p:cNvGrpSpPr/>
          <p:nvPr/>
        </p:nvGrpSpPr>
        <p:grpSpPr>
          <a:xfrm>
            <a:off x="12050163" y="4617244"/>
            <a:ext cx="5245446" cy="850554"/>
            <a:chOff x="0" y="0"/>
            <a:chExt cx="6993928" cy="1134072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6993890" cy="1134110"/>
            </a:xfrm>
            <a:custGeom>
              <a:avLst/>
              <a:gdLst/>
              <a:ahLst/>
              <a:cxnLst/>
              <a:rect l="l" t="t" r="r" b="b"/>
              <a:pathLst>
                <a:path w="6993890" h="1134110">
                  <a:moveTo>
                    <a:pt x="0" y="567055"/>
                  </a:moveTo>
                  <a:cubicBezTo>
                    <a:pt x="0" y="253873"/>
                    <a:pt x="253873" y="0"/>
                    <a:pt x="567055" y="0"/>
                  </a:cubicBezTo>
                  <a:lnTo>
                    <a:pt x="6426835" y="0"/>
                  </a:lnTo>
                  <a:cubicBezTo>
                    <a:pt x="6740017" y="0"/>
                    <a:pt x="6993890" y="253873"/>
                    <a:pt x="6993890" y="567055"/>
                  </a:cubicBezTo>
                  <a:cubicBezTo>
                    <a:pt x="6993890" y="880237"/>
                    <a:pt x="6740017" y="1134110"/>
                    <a:pt x="6426835" y="1134110"/>
                  </a:cubicBezTo>
                  <a:lnTo>
                    <a:pt x="567055" y="1134110"/>
                  </a:lnTo>
                  <a:cubicBezTo>
                    <a:pt x="253873" y="1134110"/>
                    <a:pt x="0" y="880237"/>
                    <a:pt x="0" y="567055"/>
                  </a:cubicBezTo>
                  <a:close/>
                </a:path>
              </a:pathLst>
            </a:custGeom>
            <a:solidFill>
              <a:srgbClr val="26262B"/>
            </a:solidFill>
          </p:spPr>
        </p:sp>
      </p:grpSp>
      <p:sp>
        <p:nvSpPr>
          <p:cNvPr id="15" name="Freeform 15"/>
          <p:cNvSpPr/>
          <p:nvPr/>
        </p:nvSpPr>
        <p:spPr>
          <a:xfrm>
            <a:off x="14116815" y="4762311"/>
            <a:ext cx="723897" cy="560115"/>
          </a:xfrm>
          <a:custGeom>
            <a:avLst/>
            <a:gdLst/>
            <a:ahLst/>
            <a:cxnLst/>
            <a:rect l="l" t="t" r="r" b="b"/>
            <a:pathLst>
              <a:path w="723897" h="560115">
                <a:moveTo>
                  <a:pt x="0" y="0"/>
                </a:moveTo>
                <a:lnTo>
                  <a:pt x="723897" y="0"/>
                </a:lnTo>
                <a:lnTo>
                  <a:pt x="723897" y="560115"/>
                </a:lnTo>
                <a:lnTo>
                  <a:pt x="0" y="560115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16" name="Freeform 16"/>
          <p:cNvSpPr/>
          <p:nvPr/>
        </p:nvSpPr>
        <p:spPr>
          <a:xfrm>
            <a:off x="3008751" y="4617244"/>
            <a:ext cx="877075" cy="763055"/>
          </a:xfrm>
          <a:custGeom>
            <a:avLst/>
            <a:gdLst/>
            <a:ahLst/>
            <a:cxnLst/>
            <a:rect l="l" t="t" r="r" b="b"/>
            <a:pathLst>
              <a:path w="877075" h="763055">
                <a:moveTo>
                  <a:pt x="0" y="0"/>
                </a:moveTo>
                <a:lnTo>
                  <a:pt x="877074" y="0"/>
                </a:lnTo>
                <a:lnTo>
                  <a:pt x="877074" y="763055"/>
                </a:lnTo>
                <a:lnTo>
                  <a:pt x="0" y="763055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17" name="TextBox 17"/>
          <p:cNvSpPr txBox="1"/>
          <p:nvPr/>
        </p:nvSpPr>
        <p:spPr>
          <a:xfrm>
            <a:off x="992238" y="2221116"/>
            <a:ext cx="16303523" cy="18290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 dirty="0" err="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Defesa</a:t>
            </a:r>
            <a:r>
              <a:rPr lang="en-US" sz="5562" dirty="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  <a:r>
              <a:rPr lang="en-US" sz="5562" dirty="0" err="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em</a:t>
            </a:r>
            <a:r>
              <a:rPr lang="en-US" sz="5562" dirty="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  <a:r>
              <a:rPr lang="en-US" sz="5562" dirty="0" err="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Profundidade</a:t>
            </a:r>
            <a:r>
              <a:rPr lang="en-US" sz="5562" dirty="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(Advanced Security)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275759" y="5713209"/>
            <a:ext cx="3544043" cy="4810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Honeytokens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275759" y="6278613"/>
            <a:ext cx="4678413" cy="1446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Credenciais falsas inseridas no código para atrair e detectar invasores.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6804717" y="5713209"/>
            <a:ext cx="3544043" cy="4810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Canary Endpoints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6804717" y="6278613"/>
            <a:ext cx="4678413" cy="9929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Rotas monitoradas que disparam alertas ao serem acessadas.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2333684" y="5713209"/>
            <a:ext cx="3544043" cy="4810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SIEM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2333684" y="6278613"/>
            <a:ext cx="4678413" cy="9929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Monitoramento de logs em tempo real para resposta a incidentes.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8" name="TextBox 8"/>
          <p:cNvSpPr txBox="1"/>
          <p:nvPr/>
        </p:nvSpPr>
        <p:spPr>
          <a:xfrm>
            <a:off x="1681306" y="314325"/>
            <a:ext cx="15419869" cy="15585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3899"/>
              </a:lnSpc>
            </a:pPr>
            <a:r>
              <a:rPr lang="en-US" sz="555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Aplicativo  PWA e Capacitor (Aplicativo Nativo)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9391240" y="3577419"/>
            <a:ext cx="8241992" cy="2472595"/>
            <a:chOff x="0" y="0"/>
            <a:chExt cx="10989323" cy="3296793"/>
          </a:xfrm>
        </p:grpSpPr>
        <p:sp>
          <p:nvSpPr>
            <p:cNvPr id="10" name="Freeform 10" descr="GitHub - ionic-team/capacitor: Build cross-platform Native Progressive Web  Apps for iOS, Android, and the Web ⚡️"/>
            <p:cNvSpPr/>
            <p:nvPr/>
          </p:nvSpPr>
          <p:spPr>
            <a:xfrm>
              <a:off x="0" y="0"/>
              <a:ext cx="10989310" cy="3296793"/>
            </a:xfrm>
            <a:custGeom>
              <a:avLst/>
              <a:gdLst/>
              <a:ahLst/>
              <a:cxnLst/>
              <a:rect l="l" t="t" r="r" b="b"/>
              <a:pathLst>
                <a:path w="10989310" h="3296793">
                  <a:moveTo>
                    <a:pt x="0" y="0"/>
                  </a:moveTo>
                  <a:lnTo>
                    <a:pt x="10989310" y="0"/>
                  </a:lnTo>
                  <a:lnTo>
                    <a:pt x="10989310" y="3296793"/>
                  </a:lnTo>
                  <a:lnTo>
                    <a:pt x="0" y="32967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</p:sp>
      </p:grpSp>
      <p:grpSp>
        <p:nvGrpSpPr>
          <p:cNvPr id="11" name="Group 11"/>
          <p:cNvGrpSpPr/>
          <p:nvPr/>
        </p:nvGrpSpPr>
        <p:grpSpPr>
          <a:xfrm>
            <a:off x="973026" y="2794064"/>
            <a:ext cx="7468162" cy="4182170"/>
            <a:chOff x="0" y="0"/>
            <a:chExt cx="9957549" cy="5576227"/>
          </a:xfrm>
        </p:grpSpPr>
        <p:sp>
          <p:nvSpPr>
            <p:cNvPr id="12" name="Freeform 12" descr="5 Progressive Web App Alternatives to Popular Android Apps - DroidViews"/>
            <p:cNvSpPr/>
            <p:nvPr/>
          </p:nvSpPr>
          <p:spPr>
            <a:xfrm>
              <a:off x="0" y="0"/>
              <a:ext cx="9957562" cy="5576189"/>
            </a:xfrm>
            <a:custGeom>
              <a:avLst/>
              <a:gdLst/>
              <a:ahLst/>
              <a:cxnLst/>
              <a:rect l="l" t="t" r="r" b="b"/>
              <a:pathLst>
                <a:path w="9957562" h="5576189">
                  <a:moveTo>
                    <a:pt x="0" y="0"/>
                  </a:moveTo>
                  <a:lnTo>
                    <a:pt x="9957562" y="0"/>
                  </a:lnTo>
                  <a:lnTo>
                    <a:pt x="9957562" y="5576189"/>
                  </a:lnTo>
                  <a:lnTo>
                    <a:pt x="0" y="557618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8" name="TextBox 8"/>
          <p:cNvSpPr txBox="1"/>
          <p:nvPr/>
        </p:nvSpPr>
        <p:spPr>
          <a:xfrm>
            <a:off x="669798" y="2090014"/>
            <a:ext cx="6792786" cy="9001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Considerações Finais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992238" y="4413799"/>
            <a:ext cx="5198269" cy="8307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312"/>
              </a:lnSpc>
            </a:pPr>
            <a:r>
              <a:rPr lang="en-US" sz="7312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100%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819275" y="5560666"/>
            <a:ext cx="3544043" cy="4810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Conformidade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992238" y="6126061"/>
            <a:ext cx="5198269" cy="9929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Sistema 100% adequado à LGPD (Proteção de dados de menores).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6544866" y="4413799"/>
            <a:ext cx="5198269" cy="8307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312"/>
              </a:lnSpc>
            </a:pPr>
            <a:r>
              <a:rPr lang="en-US" sz="7312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Eficiência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7371902" y="5560666"/>
            <a:ext cx="3544043" cy="4810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Eficiência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6544866" y="6126061"/>
            <a:ext cx="5198269" cy="9929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Eliminação de papéis e comunicação em tempo real entre escola e família.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2097493" y="4413799"/>
            <a:ext cx="5198269" cy="8307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312"/>
              </a:lnSpc>
            </a:pPr>
            <a:r>
              <a:rPr lang="en-US" sz="7312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Conclusão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3658001" y="5560666"/>
            <a:ext cx="2077099" cy="4492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Produto Final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2097493" y="6126061"/>
            <a:ext cx="5198269" cy="1446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O projeto prova que é possível criar software educacional acessível com segurança de nível empresarial.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39652" y="613923"/>
            <a:ext cx="18008697" cy="90972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99"/>
              </a:lnSpc>
              <a:spcBef>
                <a:spcPct val="0"/>
              </a:spcBef>
            </a:pPr>
            <a:r>
              <a:rPr lang="en-US" sz="259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REFERÊNCIAS BIBLIOGRÁFICAS</a:t>
            </a:r>
          </a:p>
          <a:p>
            <a:pPr algn="l">
              <a:lnSpc>
                <a:spcPts val="2599"/>
              </a:lnSpc>
              <a:spcBef>
                <a:spcPct val="0"/>
              </a:spcBef>
            </a:pPr>
            <a:endParaRPr lang="en-US" sz="2599">
              <a:solidFill>
                <a:srgbClr val="000000"/>
              </a:solidFill>
              <a:latin typeface="Arimo"/>
              <a:ea typeface="Arimo"/>
              <a:cs typeface="Arimo"/>
              <a:sym typeface="Arimo"/>
            </a:endParaRPr>
          </a:p>
          <a:p>
            <a:pPr algn="l">
              <a:lnSpc>
                <a:spcPts val="2599"/>
              </a:lnSpc>
              <a:spcBef>
                <a:spcPct val="0"/>
              </a:spcBef>
            </a:pPr>
            <a:endParaRPr lang="en-US" sz="2599">
              <a:solidFill>
                <a:srgbClr val="000000"/>
              </a:solidFill>
              <a:latin typeface="Arimo"/>
              <a:ea typeface="Arimo"/>
              <a:cs typeface="Arimo"/>
              <a:sym typeface="Arimo"/>
            </a:endParaRPr>
          </a:p>
          <a:p>
            <a:pPr algn="l">
              <a:lnSpc>
                <a:spcPts val="2599"/>
              </a:lnSpc>
              <a:spcBef>
                <a:spcPct val="0"/>
              </a:spcBef>
            </a:pPr>
            <a:r>
              <a:rPr lang="en-US" sz="259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BRASIL. [Portal da Legislação]. </a:t>
            </a:r>
            <a:r>
              <a:rPr lang="en-US" sz="2599" b="1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Lei nº 13.146, de 6 de julho de 2015</a:t>
            </a:r>
            <a:r>
              <a:rPr lang="en-US" sz="259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. Institui a Lei Brasileira de Inclusão da Pessoa com Deficiência (Estatuto da Pessoa com Deficiência). Brasília, DF: Presidência da República, [2015]. Disponível em: http://www.planalto.gov.br/ccivil_03/_ato2015 2018/2015/lei/l13146.htm. Acesso em: 15 dez. 2025. </a:t>
            </a:r>
          </a:p>
          <a:p>
            <a:pPr algn="l">
              <a:lnSpc>
                <a:spcPts val="2599"/>
              </a:lnSpc>
              <a:spcBef>
                <a:spcPct val="0"/>
              </a:spcBef>
            </a:pPr>
            <a:endParaRPr lang="en-US" sz="2599">
              <a:solidFill>
                <a:srgbClr val="000000"/>
              </a:solidFill>
              <a:latin typeface="Arimo"/>
              <a:ea typeface="Arimo"/>
              <a:cs typeface="Arimo"/>
              <a:sym typeface="Arimo"/>
            </a:endParaRPr>
          </a:p>
          <a:p>
            <a:pPr algn="l">
              <a:lnSpc>
                <a:spcPts val="2599"/>
              </a:lnSpc>
              <a:spcBef>
                <a:spcPct val="0"/>
              </a:spcBef>
            </a:pPr>
            <a:r>
              <a:rPr lang="en-US" sz="259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BRASIL. [Portal da Legislação]. </a:t>
            </a:r>
            <a:r>
              <a:rPr lang="en-US" sz="2599" b="1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Lei nº 13.709, de 14 de agosto de 2018</a:t>
            </a:r>
            <a:r>
              <a:rPr lang="en-US" sz="259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. Lei Geral de Proteção de Dados Pessoais (LGPD). Brasília, DF: Presidência da República, [2018]. Disponível em: http://www.planalto.gov.br/ccivil_03/_ato2017-2020/2018/lei/l13709.htm. Acesso em: 15 dez. 2025. </a:t>
            </a:r>
          </a:p>
          <a:p>
            <a:pPr algn="l">
              <a:lnSpc>
                <a:spcPts val="2599"/>
              </a:lnSpc>
              <a:spcBef>
                <a:spcPct val="0"/>
              </a:spcBef>
            </a:pPr>
            <a:endParaRPr lang="en-US" sz="2599">
              <a:solidFill>
                <a:srgbClr val="000000"/>
              </a:solidFill>
              <a:latin typeface="Arimo"/>
              <a:ea typeface="Arimo"/>
              <a:cs typeface="Arimo"/>
              <a:sym typeface="Arimo"/>
            </a:endParaRPr>
          </a:p>
          <a:p>
            <a:pPr algn="l">
              <a:lnSpc>
                <a:spcPts val="2599"/>
              </a:lnSpc>
              <a:spcBef>
                <a:spcPct val="0"/>
              </a:spcBef>
            </a:pPr>
            <a:r>
              <a:rPr lang="en-US" sz="259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BRASIL. </a:t>
            </a:r>
            <a:r>
              <a:rPr lang="en-US" sz="2599" b="1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Decreto nº 10.502, de 30 de setembro de 2020</a:t>
            </a:r>
            <a:r>
              <a:rPr lang="en-US" sz="259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. Institui a Política Nacional de Educação Especial: Equitativa, Inclusiva e com Aprendizado ao Longo da Vida. Brasília, DF: Presidência da República, 2020. LIMA, Marcos Guilherme Oliveira. Gestão Atípicos: Sistema Web para Gestão Especializada de Alunos Atípicos na Educação Inclusiva. 2025. Repositório de código (GitHub). Disponível em: https://github.com/z12guilherme/gestao_atipicos. Acesso em: 19 dez. 2025. </a:t>
            </a:r>
          </a:p>
          <a:p>
            <a:pPr algn="l">
              <a:lnSpc>
                <a:spcPts val="2599"/>
              </a:lnSpc>
              <a:spcBef>
                <a:spcPct val="0"/>
              </a:spcBef>
            </a:pPr>
            <a:endParaRPr lang="en-US" sz="2599">
              <a:solidFill>
                <a:srgbClr val="000000"/>
              </a:solidFill>
              <a:latin typeface="Arimo"/>
              <a:ea typeface="Arimo"/>
              <a:cs typeface="Arimo"/>
              <a:sym typeface="Arimo"/>
            </a:endParaRPr>
          </a:p>
          <a:p>
            <a:pPr algn="l">
              <a:lnSpc>
                <a:spcPts val="2599"/>
              </a:lnSpc>
              <a:spcBef>
                <a:spcPct val="0"/>
              </a:spcBef>
            </a:pPr>
            <a:r>
              <a:rPr lang="en-US" sz="259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MICROSOFT. </a:t>
            </a:r>
            <a:r>
              <a:rPr lang="en-US" sz="2599" b="1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The STRIDE Threat Model</a:t>
            </a:r>
            <a:r>
              <a:rPr lang="en-US" sz="259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. Azure Security Center, 2026. Disponível em: https://learn.microsoft.com/en-us/azure/security/develop/threat-modeling-tool-threats. Acesso em: 15 dez. 2025. </a:t>
            </a:r>
          </a:p>
          <a:p>
            <a:pPr algn="l">
              <a:lnSpc>
                <a:spcPts val="2599"/>
              </a:lnSpc>
              <a:spcBef>
                <a:spcPct val="0"/>
              </a:spcBef>
            </a:pPr>
            <a:endParaRPr lang="en-US" sz="2599">
              <a:solidFill>
                <a:srgbClr val="000000"/>
              </a:solidFill>
              <a:latin typeface="Arimo"/>
              <a:ea typeface="Arimo"/>
              <a:cs typeface="Arimo"/>
              <a:sym typeface="Arimo"/>
            </a:endParaRPr>
          </a:p>
          <a:p>
            <a:pPr algn="l">
              <a:lnSpc>
                <a:spcPts val="2599"/>
              </a:lnSpc>
              <a:spcBef>
                <a:spcPct val="0"/>
              </a:spcBef>
            </a:pPr>
            <a:r>
              <a:rPr lang="en-US" sz="259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OWASP FOUNDATION. </a:t>
            </a:r>
            <a:r>
              <a:rPr lang="en-US" sz="2599" b="1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Application Security Verification Standard</a:t>
            </a:r>
            <a:r>
              <a:rPr lang="en-US" sz="259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(ASVS). Version 4.0.3. 2021. Disponível em: https://owasp.org/www-project-application-security-verification-standard/. Acesso em: 15 dez. 2025. </a:t>
            </a:r>
          </a:p>
          <a:p>
            <a:pPr algn="l">
              <a:lnSpc>
                <a:spcPts val="2599"/>
              </a:lnSpc>
              <a:spcBef>
                <a:spcPct val="0"/>
              </a:spcBef>
            </a:pPr>
            <a:endParaRPr lang="en-US" sz="2599">
              <a:solidFill>
                <a:srgbClr val="000000"/>
              </a:solidFill>
              <a:latin typeface="Arimo"/>
              <a:ea typeface="Arimo"/>
              <a:cs typeface="Arimo"/>
              <a:sym typeface="Arimo"/>
            </a:endParaRPr>
          </a:p>
          <a:p>
            <a:pPr algn="l">
              <a:lnSpc>
                <a:spcPts val="2599"/>
              </a:lnSpc>
              <a:spcBef>
                <a:spcPct val="0"/>
              </a:spcBef>
            </a:pPr>
            <a:r>
              <a:rPr lang="en-US" sz="259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OWASP FOUNDATION. </a:t>
            </a:r>
            <a:r>
              <a:rPr lang="en-US" sz="2599" b="1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OWASP Top 10:2021</a:t>
            </a:r>
            <a:r>
              <a:rPr lang="en-US" sz="259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. The Most Critical Web Application Security Risks. Disponível em: https://owasp.org/www-project-top-ten/. Acesso em: 15 dez. 2025. </a:t>
            </a:r>
          </a:p>
          <a:p>
            <a:pPr algn="l">
              <a:lnSpc>
                <a:spcPts val="2599"/>
              </a:lnSpc>
              <a:spcBef>
                <a:spcPct val="0"/>
              </a:spcBef>
            </a:pPr>
            <a:endParaRPr lang="en-US" sz="2599">
              <a:solidFill>
                <a:srgbClr val="000000"/>
              </a:solidFill>
              <a:latin typeface="Arimo"/>
              <a:ea typeface="Arimo"/>
              <a:cs typeface="Arimo"/>
              <a:sym typeface="Arimo"/>
            </a:endParaRPr>
          </a:p>
          <a:p>
            <a:pPr algn="l">
              <a:lnSpc>
                <a:spcPts val="2599"/>
              </a:lnSpc>
              <a:spcBef>
                <a:spcPct val="0"/>
              </a:spcBef>
            </a:pPr>
            <a:r>
              <a:rPr lang="en-US" sz="259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SUPABASE INC. </a:t>
            </a:r>
            <a:r>
              <a:rPr lang="en-US" sz="2599" b="1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Row Level Security</a:t>
            </a:r>
            <a:r>
              <a:rPr lang="en-US" sz="259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. Documentation. 2026. Disponível em: https://supabase.com/docs/guides/auth/row-level-security. Acesso em: 15 dez. 2025. 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grpSp>
        <p:nvGrpSpPr>
          <p:cNvPr id="8" name="Group 8"/>
          <p:cNvGrpSpPr/>
          <p:nvPr/>
        </p:nvGrpSpPr>
        <p:grpSpPr>
          <a:xfrm>
            <a:off x="669798" y="446885"/>
            <a:ext cx="18288000" cy="3544043"/>
            <a:chOff x="0" y="0"/>
            <a:chExt cx="24384000" cy="4725391"/>
          </a:xfrm>
        </p:grpSpPr>
        <p:sp>
          <p:nvSpPr>
            <p:cNvPr id="9" name="Freeform 9" descr="preencoded.png"/>
            <p:cNvSpPr/>
            <p:nvPr/>
          </p:nvSpPr>
          <p:spPr>
            <a:xfrm>
              <a:off x="0" y="0"/>
              <a:ext cx="24384000" cy="4725416"/>
            </a:xfrm>
            <a:custGeom>
              <a:avLst/>
              <a:gdLst/>
              <a:ahLst/>
              <a:cxnLst/>
              <a:rect l="l" t="t" r="r" b="b"/>
              <a:pathLst>
                <a:path w="24384000" h="4725416">
                  <a:moveTo>
                    <a:pt x="0" y="0"/>
                  </a:moveTo>
                  <a:lnTo>
                    <a:pt x="24384000" y="0"/>
                  </a:lnTo>
                  <a:lnTo>
                    <a:pt x="24384000" y="4725416"/>
                  </a:lnTo>
                  <a:lnTo>
                    <a:pt x="0" y="47254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0" r="-10"/>
              </a:stretch>
            </a:blipFill>
          </p:spPr>
        </p:sp>
      </p:grpSp>
      <p:sp>
        <p:nvSpPr>
          <p:cNvPr id="10" name="TextBox 10"/>
          <p:cNvSpPr txBox="1"/>
          <p:nvPr/>
        </p:nvSpPr>
        <p:spPr>
          <a:xfrm>
            <a:off x="809358" y="7864373"/>
            <a:ext cx="14176619" cy="18768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3937"/>
              </a:lnSpc>
            </a:pPr>
            <a:r>
              <a:rPr lang="en-US" sz="11124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Obrigado!</a:t>
            </a:r>
          </a:p>
        </p:txBody>
      </p:sp>
      <p:grpSp>
        <p:nvGrpSpPr>
          <p:cNvPr id="11" name="Group 11"/>
          <p:cNvGrpSpPr/>
          <p:nvPr/>
        </p:nvGrpSpPr>
        <p:grpSpPr>
          <a:xfrm>
            <a:off x="13892508" y="6294672"/>
            <a:ext cx="3723294" cy="3723294"/>
            <a:chOff x="0" y="0"/>
            <a:chExt cx="4964392" cy="4964392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4964430" cy="4964430"/>
            </a:xfrm>
            <a:custGeom>
              <a:avLst/>
              <a:gdLst/>
              <a:ahLst/>
              <a:cxnLst/>
              <a:rect l="l" t="t" r="r" b="b"/>
              <a:pathLst>
                <a:path w="4964430" h="4964430">
                  <a:moveTo>
                    <a:pt x="0" y="0"/>
                  </a:moveTo>
                  <a:lnTo>
                    <a:pt x="4964430" y="0"/>
                  </a:lnTo>
                  <a:lnTo>
                    <a:pt x="4964430" y="4964430"/>
                  </a:lnTo>
                  <a:lnTo>
                    <a:pt x="0" y="49644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</p:sp>
      </p:grpSp>
      <p:grpSp>
        <p:nvGrpSpPr>
          <p:cNvPr id="13" name="Group 13"/>
          <p:cNvGrpSpPr/>
          <p:nvPr/>
        </p:nvGrpSpPr>
        <p:grpSpPr>
          <a:xfrm>
            <a:off x="-165678" y="0"/>
            <a:ext cx="6597253" cy="6597253"/>
            <a:chOff x="0" y="0"/>
            <a:chExt cx="8796338" cy="8796338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8796401" cy="8796401"/>
            </a:xfrm>
            <a:custGeom>
              <a:avLst/>
              <a:gdLst/>
              <a:ahLst/>
              <a:cxnLst/>
              <a:rect l="l" t="t" r="r" b="b"/>
              <a:pathLst>
                <a:path w="8796401" h="8796401">
                  <a:moveTo>
                    <a:pt x="0" y="0"/>
                  </a:moveTo>
                  <a:lnTo>
                    <a:pt x="8796401" y="0"/>
                  </a:lnTo>
                  <a:lnTo>
                    <a:pt x="8796401" y="8796401"/>
                  </a:lnTo>
                  <a:lnTo>
                    <a:pt x="0" y="87964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</p:sp>
      </p:grpSp>
      <p:sp>
        <p:nvSpPr>
          <p:cNvPr id="15" name="TextBox 15"/>
          <p:cNvSpPr txBox="1"/>
          <p:nvPr/>
        </p:nvSpPr>
        <p:spPr>
          <a:xfrm>
            <a:off x="13875144" y="5234930"/>
            <a:ext cx="3758013" cy="110082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99"/>
              </a:lnSpc>
            </a:pPr>
            <a:r>
              <a:rPr lang="en-US" sz="2249" b="1">
                <a:solidFill>
                  <a:srgbClr val="000000"/>
                </a:solidFill>
                <a:latin typeface="Gill Sans Bold"/>
                <a:ea typeface="Gill Sans Bold"/>
                <a:cs typeface="Gill Sans Bold"/>
                <a:sym typeface="Gill Sans Bold"/>
              </a:rPr>
              <a:t>LEIA O QR CODE PARA ACESSAR O REPOSITÓRIO: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49</TotalTime>
  <Words>1107</Words>
  <Application>Microsoft Office PowerPoint</Application>
  <PresentationFormat>Personalizar</PresentationFormat>
  <Paragraphs>147</Paragraphs>
  <Slides>16</Slides>
  <Notes>9</Notes>
  <HiddenSlides>0</HiddenSlides>
  <MMClips>0</MMClips>
  <ScaleCrop>false</ScaleCrop>
  <HeadingPairs>
    <vt:vector size="6" baseType="variant">
      <vt:variant>
        <vt:lpstr>Fontes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16</vt:i4>
      </vt:variant>
    </vt:vector>
  </HeadingPairs>
  <TitlesOfParts>
    <vt:vector size="24" baseType="lpstr">
      <vt:lpstr>Arimo</vt:lpstr>
      <vt:lpstr>Arimo Bold</vt:lpstr>
      <vt:lpstr>Gill Sans Bold</vt:lpstr>
      <vt:lpstr>Noto Sans</vt:lpstr>
      <vt:lpstr>Arial</vt:lpstr>
      <vt:lpstr>Calibri</vt:lpstr>
      <vt:lpstr>Noto Sans Bold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TCC - Slides.pptx</dc:title>
  <cp:lastModifiedBy>Marcos Guilherme</cp:lastModifiedBy>
  <cp:revision>8</cp:revision>
  <dcterms:created xsi:type="dcterms:W3CDTF">2006-08-16T00:00:00Z</dcterms:created>
  <dcterms:modified xsi:type="dcterms:W3CDTF">2026-04-20T21:20:26Z</dcterms:modified>
  <dc:identifier>DAHHZutQxXU</dc:identifier>
</cp:coreProperties>
</file>