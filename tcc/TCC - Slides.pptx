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5" r:id="rId6"/>
    <p:sldId id="260" r:id="rId7"/>
    <p:sldId id="266" r:id="rId8"/>
    <p:sldId id="261" r:id="rId9"/>
    <p:sldId id="262" r:id="rId10"/>
    <p:sldId id="263" r:id="rId11"/>
    <p:sldId id="264" r:id="rId12"/>
  </p:sldIdLst>
  <p:sldSz cx="14630400" cy="8229600"/>
  <p:notesSz cx="8229600" cy="14630400"/>
  <p:embeddedFontLst>
    <p:embeddedFont>
      <p:font typeface="Noto Sans TC" panose="020B0604020202020204" charset="-128"/>
      <p:regular r:id="rId14"/>
    </p:embeddedFon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Sora Medium" panose="020B0604020202020204" charset="0"/>
      <p:regular r:id="rId19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3" d="100"/>
          <a:sy n="53" d="100"/>
        </p:scale>
        <p:origin x="126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18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8.png"/><Relationship Id="rId4" Type="http://schemas.openxmlformats.org/officeDocument/2006/relationships/image" Target="../media/image2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324142" y="460534"/>
            <a:ext cx="13306258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Defesa de TCC - Sistemas de Informação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263439" y="1982534"/>
            <a:ext cx="5424130" cy="270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Gestão Atípicos: Sistema Web Seguro para Educação Inclusiva</a:t>
            </a:r>
            <a:endParaRPr lang="en-US" sz="4450" dirty="0"/>
          </a:p>
        </p:txBody>
      </p:sp>
      <p:sp>
        <p:nvSpPr>
          <p:cNvPr id="5" name="Text 2"/>
          <p:cNvSpPr/>
          <p:nvPr/>
        </p:nvSpPr>
        <p:spPr>
          <a:xfrm>
            <a:off x="793789" y="7023508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AUTOR: Marcos Guilherme Oliveira Lima</a:t>
            </a:r>
            <a:endParaRPr lang="en-US" sz="175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7AAC655-C865-4BD3-ADF1-3B4F98F8A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9" y="1704861"/>
            <a:ext cx="8040624" cy="5009686"/>
          </a:xfrm>
          <a:prstGeom prst="rect">
            <a:avLst/>
          </a:prstGeom>
        </p:spPr>
      </p:pic>
      <p:sp>
        <p:nvSpPr>
          <p:cNvPr id="2" name="Elipse 1">
            <a:extLst>
              <a:ext uri="{FF2B5EF4-FFF2-40B4-BE49-F238E27FC236}">
                <a16:creationId xmlns:a16="http://schemas.microsoft.com/office/drawing/2014/main" id="{64982A07-D5A7-4015-9666-AD3F3472A70A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05288"/>
            <a:ext cx="866167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 Problema da Gestão Manual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467695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07070C"/>
          </a:solidFill>
          <a:ln w="30480">
            <a:solidFill>
              <a:srgbClr val="3F3F44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310" y="3467695"/>
            <a:ext cx="121920" cy="245661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2524" y="372498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Cenário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142524" y="4215408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Lei Brasileira de Inclusão obriga o atendimento especializado, mas muitas escolas ainda usam planilhas e papel.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5216962" y="3467695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07070C"/>
          </a:solidFill>
          <a:ln w="30480">
            <a:solidFill>
              <a:srgbClr val="3F3F44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482" y="3467695"/>
            <a:ext cx="121920" cy="245661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565696" y="372498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Riscos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565696" y="4215408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Perda de histórico pedagógico e, principalmente, vulnerabilidade jurídica perante a LGPD.</a:t>
            </a:r>
            <a:endParaRPr lang="en-US" sz="1750" dirty="0"/>
          </a:p>
        </p:txBody>
      </p:sp>
      <p:sp>
        <p:nvSpPr>
          <p:cNvPr id="11" name="Shape 7"/>
          <p:cNvSpPr/>
          <p:nvPr/>
        </p:nvSpPr>
        <p:spPr>
          <a:xfrm>
            <a:off x="9640133" y="3467695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07070C"/>
          </a:solidFill>
          <a:ln w="30480">
            <a:solidFill>
              <a:srgbClr val="3F3F44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53" y="3467695"/>
            <a:ext cx="121920" cy="245661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988868" y="372498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Dados Sensíveis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9988868" y="4215408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Laudos médicos e diagnósticos de crianças expostos sem controle de acesso adequado.</a:t>
            </a:r>
            <a:endParaRPr lang="en-US" sz="1750" dirty="0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FC784705-F0EB-4C85-9D68-3CD535241F4B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63591"/>
            <a:ext cx="568571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A Solução Proposta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225998"/>
            <a:ext cx="4196358" cy="2940010"/>
          </a:xfrm>
          <a:prstGeom prst="roundRect">
            <a:avLst>
              <a:gd name="adj" fmla="val 1157"/>
            </a:avLst>
          </a:prstGeom>
          <a:solidFill>
            <a:srgbClr val="26262B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04" y="3452813"/>
            <a:ext cx="680442" cy="680442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07770" y="3639860"/>
            <a:ext cx="306110" cy="30611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20604" y="436006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Objetivo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1020604" y="4850487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Web Centralizado para gestão de alunos atípicos.</a:t>
            </a:r>
            <a:endParaRPr lang="en-US" sz="1750" dirty="0"/>
          </a:p>
        </p:txBody>
      </p:sp>
      <p:sp>
        <p:nvSpPr>
          <p:cNvPr id="8" name="Shape 4"/>
          <p:cNvSpPr/>
          <p:nvPr/>
        </p:nvSpPr>
        <p:spPr>
          <a:xfrm>
            <a:off x="5216962" y="3225998"/>
            <a:ext cx="4196358" cy="2940010"/>
          </a:xfrm>
          <a:prstGeom prst="roundRect">
            <a:avLst>
              <a:gd name="adj" fmla="val 1157"/>
            </a:avLst>
          </a:prstGeom>
          <a:solidFill>
            <a:srgbClr val="26262B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3776" y="3452813"/>
            <a:ext cx="680442" cy="680442"/>
          </a:xfrm>
          <a:prstGeom prst="rect">
            <a:avLst/>
          </a:prstGeom>
        </p:spPr>
      </p:pic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0942" y="3639860"/>
            <a:ext cx="306110" cy="30611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443776" y="436006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Público-Alvo</a:t>
            </a:r>
            <a:endParaRPr lang="en-US" sz="2200" dirty="0"/>
          </a:p>
        </p:txBody>
      </p:sp>
      <p:sp>
        <p:nvSpPr>
          <p:cNvPr id="12" name="Text 6"/>
          <p:cNvSpPr/>
          <p:nvPr/>
        </p:nvSpPr>
        <p:spPr>
          <a:xfrm>
            <a:off x="5443776" y="4850487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Conecta Gestores, Cuidadores e Responsáveis em uma única plataforma.</a:t>
            </a:r>
            <a:endParaRPr lang="en-US" sz="1750" dirty="0"/>
          </a:p>
        </p:txBody>
      </p:sp>
      <p:sp>
        <p:nvSpPr>
          <p:cNvPr id="13" name="Shape 7"/>
          <p:cNvSpPr/>
          <p:nvPr/>
        </p:nvSpPr>
        <p:spPr>
          <a:xfrm>
            <a:off x="9640133" y="3225998"/>
            <a:ext cx="4196358" cy="2940010"/>
          </a:xfrm>
          <a:prstGeom prst="roundRect">
            <a:avLst>
              <a:gd name="adj" fmla="val 1157"/>
            </a:avLst>
          </a:prstGeom>
          <a:solidFill>
            <a:srgbClr val="26262B"/>
          </a:solidFill>
          <a:ln/>
        </p:spPr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66948" y="3452813"/>
            <a:ext cx="680442" cy="680442"/>
          </a:xfrm>
          <a:prstGeom prst="rect">
            <a:avLst/>
          </a:prstGeom>
        </p:spPr>
      </p:pic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054114" y="3639860"/>
            <a:ext cx="306110" cy="30611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9866948" y="436006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Foco</a:t>
            </a:r>
            <a:endParaRPr lang="en-US" sz="2200" dirty="0"/>
          </a:p>
        </p:txBody>
      </p:sp>
      <p:sp>
        <p:nvSpPr>
          <p:cNvPr id="17" name="Text 9"/>
          <p:cNvSpPr/>
          <p:nvPr/>
        </p:nvSpPr>
        <p:spPr>
          <a:xfrm>
            <a:off x="9866948" y="4850487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Substituir processos manuais por um "</a:t>
            </a:r>
            <a:r>
              <a:rPr lang="en-US" sz="175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cofre digital</a:t>
            </a: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" seguro e acessível.</a:t>
            </a:r>
            <a:endParaRPr lang="en-US" sz="1750" dirty="0"/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A05B7C2A-3569-480D-A91F-E77E693435B7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2688" y="434221"/>
            <a:ext cx="5582245" cy="4935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50"/>
              </a:lnSpc>
              <a:buNone/>
            </a:pPr>
            <a:r>
              <a:rPr lang="en-US" sz="31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Stack Tecnológica Moderna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52688" y="1322427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20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Frontend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52688" y="1727002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 com TypeScript e Tailwind CSS (Foco </a:t>
            </a:r>
            <a:r>
              <a:rPr lang="en-US" sz="20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em</a:t>
            </a: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</a:t>
            </a:r>
          </a:p>
          <a:p>
            <a:pPr marL="0" indent="0" algn="l">
              <a:lnSpc>
                <a:spcPts val="1950"/>
              </a:lnSpc>
              <a:buNone/>
            </a:pPr>
            <a:r>
              <a:rPr lang="en-US" sz="20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Usabilidade</a:t>
            </a: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 Acessibilidade).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52688" y="2137410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endParaRPr lang="en-US" sz="200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pPr marL="0" indent="0" algn="l">
              <a:lnSpc>
                <a:spcPts val="1900"/>
              </a:lnSpc>
              <a:buNone/>
            </a:pPr>
            <a:r>
              <a:rPr lang="en-US" sz="20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Backend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52688" y="2541984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endParaRPr lang="en-US" sz="200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pPr marL="0" indent="0" algn="l">
              <a:lnSpc>
                <a:spcPts val="1950"/>
              </a:lnSpc>
              <a:buNone/>
            </a:pPr>
            <a:r>
              <a:rPr lang="en-US" sz="20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Supabase</a:t>
            </a: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(Backend as a Service).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52688" y="2952393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endParaRPr lang="en-US" sz="200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pPr marL="0" indent="0" algn="l">
              <a:lnSpc>
                <a:spcPts val="1900"/>
              </a:lnSpc>
              <a:buNone/>
            </a:pPr>
            <a:r>
              <a:rPr lang="en-US" sz="20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Infraestrutura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52688" y="3356967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endParaRPr lang="en-US" sz="200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pPr marL="0" indent="0" algn="l">
              <a:lnSpc>
                <a:spcPts val="1950"/>
              </a:lnSpc>
              <a:buNone/>
            </a:pPr>
            <a:r>
              <a:rPr lang="en-US" sz="20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Vercel</a:t>
            </a: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(Serverless Edge).</a:t>
            </a:r>
            <a:endParaRPr lang="en-US" sz="20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843" y="680978"/>
            <a:ext cx="6569869" cy="65698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515463" y="8089702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7515463" y="8494276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Arquitetura Serverless para alta disponibilidade e baixo custo de manutenção.</a:t>
            </a:r>
            <a:endParaRPr lang="en-US" sz="1200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B8465F49-AF86-45EC-ABF2-BD806286A88A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182E9254-4604-4F35-A97B-2F5A07010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99" y="4114800"/>
            <a:ext cx="6197537" cy="3945543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8C9D543-13D8-4E6F-8174-121F091A87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178" y="102943"/>
            <a:ext cx="6197537" cy="3908744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B5611B86-D18B-4E1B-B711-21C20CBA42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9178" y="4217913"/>
            <a:ext cx="6197537" cy="3879513"/>
          </a:xfrm>
          <a:prstGeom prst="rect">
            <a:avLst/>
          </a:prstGeom>
        </p:spPr>
      </p:pic>
      <p:sp>
        <p:nvSpPr>
          <p:cNvPr id="15" name="CaixaDeTexto 14">
            <a:extLst>
              <a:ext uri="{FF2B5EF4-FFF2-40B4-BE49-F238E27FC236}">
                <a16:creationId xmlns:a16="http://schemas.microsoft.com/office/drawing/2014/main" id="{7B56537A-028B-4AB2-9BA2-B052A806F071}"/>
              </a:ext>
            </a:extLst>
          </p:cNvPr>
          <p:cNvSpPr txBox="1"/>
          <p:nvPr/>
        </p:nvSpPr>
        <p:spPr>
          <a:xfrm>
            <a:off x="605599" y="878278"/>
            <a:ext cx="7315200" cy="1433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28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Prints das </a:t>
            </a:r>
            <a:r>
              <a:rPr lang="en-US" sz="28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Telas</a:t>
            </a:r>
            <a:r>
              <a:rPr lang="en-US" sz="28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do Gestor, </a:t>
            </a:r>
            <a:r>
              <a:rPr lang="en-US" sz="28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Cuidador</a:t>
            </a:r>
            <a:r>
              <a:rPr lang="en-US" sz="28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e </a:t>
            </a:r>
            <a:r>
              <a:rPr lang="en-US" sz="28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Responsável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339543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25918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Engenharia de Segurança - Row Level Security (RLS)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83726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07070C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806785"/>
            <a:ext cx="4196358" cy="12192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1688" y="3497104"/>
            <a:ext cx="680442" cy="68044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5761" y="3701177"/>
            <a:ext cx="272177" cy="272177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051084" y="4404241"/>
            <a:ext cx="301990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 Grande Diferencial</a:t>
            </a:r>
            <a:endParaRPr lang="en-US" sz="2200" dirty="0"/>
          </a:p>
        </p:txBody>
      </p:sp>
      <p:sp>
        <p:nvSpPr>
          <p:cNvPr id="8" name="Text 3"/>
          <p:cNvSpPr/>
          <p:nvPr/>
        </p:nvSpPr>
        <p:spPr>
          <a:xfrm>
            <a:off x="1051084" y="4894659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segurança não depende apenas da API, mas é aplicada diretamente no Banco de Dados (PostgreSQL).</a:t>
            </a:r>
            <a:endParaRPr lang="en-US" sz="1750" dirty="0"/>
          </a:p>
        </p:txBody>
      </p:sp>
      <p:sp>
        <p:nvSpPr>
          <p:cNvPr id="9" name="Shape 4"/>
          <p:cNvSpPr/>
          <p:nvPr/>
        </p:nvSpPr>
        <p:spPr>
          <a:xfrm>
            <a:off x="5216962" y="383726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07070C"/>
          </a:solidFill>
          <a:ln/>
        </p:spPr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962" y="3806785"/>
            <a:ext cx="4196358" cy="121920"/>
          </a:xfrm>
          <a:prstGeom prst="rect">
            <a:avLst/>
          </a:prstGeom>
        </p:spPr>
      </p:pic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4860" y="3497104"/>
            <a:ext cx="680442" cy="680442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933" y="3701177"/>
            <a:ext cx="272177" cy="272177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5474256" y="440424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Política de Acesso</a:t>
            </a:r>
            <a:endParaRPr lang="en-US" sz="2200" dirty="0"/>
          </a:p>
        </p:txBody>
      </p:sp>
      <p:sp>
        <p:nvSpPr>
          <p:cNvPr id="14" name="Text 6"/>
          <p:cNvSpPr/>
          <p:nvPr/>
        </p:nvSpPr>
        <p:spPr>
          <a:xfrm>
            <a:off x="5474256" y="4894659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Mesmo com a chave pública exposta no frontend, o banco recusa a leitura de dados se o usuário não tiver o token correto.</a:t>
            </a:r>
            <a:endParaRPr lang="en-US" sz="1750" dirty="0"/>
          </a:p>
        </p:txBody>
      </p:sp>
      <p:sp>
        <p:nvSpPr>
          <p:cNvPr id="15" name="Shape 7"/>
          <p:cNvSpPr/>
          <p:nvPr/>
        </p:nvSpPr>
        <p:spPr>
          <a:xfrm>
            <a:off x="9640133" y="383726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07070C"/>
          </a:solidFill>
          <a:ln/>
        </p:spPr>
      </p:sp>
      <p:pic>
        <p:nvPicPr>
          <p:cNvPr id="16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133" y="3806785"/>
            <a:ext cx="4196358" cy="121920"/>
          </a:xfrm>
          <a:prstGeom prst="rect">
            <a:avLst/>
          </a:prstGeom>
        </p:spPr>
      </p:pic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8032" y="3497104"/>
            <a:ext cx="680442" cy="680442"/>
          </a:xfrm>
          <a:prstGeom prst="rect">
            <a:avLst/>
          </a:prstGeom>
        </p:spPr>
      </p:pic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2105" y="3701177"/>
            <a:ext cx="272177" cy="272177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9897427" y="440424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Isolamento</a:t>
            </a:r>
            <a:endParaRPr lang="en-US" sz="2200" dirty="0"/>
          </a:p>
        </p:txBody>
      </p:sp>
      <p:sp>
        <p:nvSpPr>
          <p:cNvPr id="20" name="Text 9"/>
          <p:cNvSpPr/>
          <p:nvPr/>
        </p:nvSpPr>
        <p:spPr>
          <a:xfrm>
            <a:off x="9897427" y="4894659"/>
            <a:ext cx="368177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Um Cuidador jamais consegue acessar dados de alunos que não são seus.</a:t>
            </a:r>
            <a:endParaRPr lang="en-US" sz="1750" dirty="0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2840CD63-293A-4EB0-8741-94DD16DD2C7F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B35A76E3-FF30-4085-AD23-4D40B6265F76}"/>
              </a:ext>
            </a:extLst>
          </p:cNvPr>
          <p:cNvSpPr txBox="1"/>
          <p:nvPr/>
        </p:nvSpPr>
        <p:spPr>
          <a:xfrm>
            <a:off x="457200" y="494230"/>
            <a:ext cx="7315200" cy="74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Diagrama</a:t>
            </a:r>
            <a:r>
              <a:rPr lang="en-US" sz="3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do Banco de Dados</a:t>
            </a:r>
            <a:endParaRPr lang="en-US" sz="3200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561C7D75-C87F-4FA6-8E8D-6C805ECAF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89762"/>
            <a:ext cx="12553950" cy="614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419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93790" y="976432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Validação de Segurança (Pentest)</a:t>
            </a:r>
            <a:endParaRPr lang="en-US" sz="4450" dirty="0"/>
          </a:p>
        </p:txBody>
      </p:sp>
      <p:sp>
        <p:nvSpPr>
          <p:cNvPr id="6" name="Text 2"/>
          <p:cNvSpPr/>
          <p:nvPr/>
        </p:nvSpPr>
        <p:spPr>
          <a:xfrm>
            <a:off x="793790" y="296096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Metodologia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93790" y="3542109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Testes de Penetração Black-Box baseados no OWASP ASVS.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793790" y="449472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Ferramenta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793790" y="5075873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Burp Suite.</a:t>
            </a:r>
            <a:endParaRPr lang="en-US" sz="1750" dirty="0"/>
          </a:p>
        </p:txBody>
      </p:sp>
      <p:sp>
        <p:nvSpPr>
          <p:cNvPr id="10" name="Text 6"/>
          <p:cNvSpPr/>
          <p:nvPr/>
        </p:nvSpPr>
        <p:spPr>
          <a:xfrm>
            <a:off x="4856321" y="296096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Resultados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4856321" y="3542109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SQL Injection: Mitigado.</a:t>
            </a:r>
            <a:endParaRPr lang="en-US" sz="1750" dirty="0"/>
          </a:p>
        </p:txBody>
      </p:sp>
      <p:sp>
        <p:nvSpPr>
          <p:cNvPr id="12" name="Text 8"/>
          <p:cNvSpPr/>
          <p:nvPr/>
        </p:nvSpPr>
        <p:spPr>
          <a:xfrm>
            <a:off x="4856321" y="3984308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XSS (Cross-Site Scripting): Mitigado.</a:t>
            </a:r>
            <a:endParaRPr lang="en-US" sz="1750" dirty="0"/>
          </a:p>
        </p:txBody>
      </p:sp>
      <p:sp>
        <p:nvSpPr>
          <p:cNvPr id="13" name="Text 9"/>
          <p:cNvSpPr/>
          <p:nvPr/>
        </p:nvSpPr>
        <p:spPr>
          <a:xfrm>
            <a:off x="4856321" y="4789408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Escalação de Privilégios: Bloqueada.</a:t>
            </a:r>
            <a:endParaRPr lang="en-US" sz="1750" dirty="0"/>
          </a:p>
        </p:txBody>
      </p:sp>
      <p:sp>
        <p:nvSpPr>
          <p:cNvPr id="14" name="Text 10"/>
          <p:cNvSpPr/>
          <p:nvPr/>
        </p:nvSpPr>
        <p:spPr>
          <a:xfrm>
            <a:off x="4856321" y="574202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Status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856321" y="6323171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Aplicação aprovada sem vulnerabilidades críticas.</a:t>
            </a:r>
            <a:endParaRPr lang="en-US" sz="1750" dirty="0"/>
          </a:p>
        </p:txBody>
      </p:sp>
      <p:pic>
        <p:nvPicPr>
          <p:cNvPr id="1026" name="Picture 2" descr="All about the xz-utils backdoor | Kali Linux Blog">
            <a:extLst>
              <a:ext uri="{FF2B5EF4-FFF2-40B4-BE49-F238E27FC236}">
                <a16:creationId xmlns:a16="http://schemas.microsoft.com/office/drawing/2014/main" id="{A91749F3-0528-42F3-85F1-578A8A38F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0" y="2578608"/>
            <a:ext cx="5486400" cy="3072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22609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Defesa em Profundidade (Advanced Security)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693795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26262B"/>
          </a:solidFill>
          <a:ln/>
        </p:spPr>
      </p:sp>
      <p:sp>
        <p:nvSpPr>
          <p:cNvPr id="4" name="Text 2"/>
          <p:cNvSpPr/>
          <p:nvPr/>
        </p:nvSpPr>
        <p:spPr>
          <a:xfrm>
            <a:off x="2721888" y="3821311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1</a:t>
            </a:r>
            <a:endParaRPr lang="en-US" sz="2650" dirty="0"/>
          </a:p>
        </p:txBody>
      </p:sp>
      <p:sp>
        <p:nvSpPr>
          <p:cNvPr id="5" name="Text 3"/>
          <p:cNvSpPr/>
          <p:nvPr/>
        </p:nvSpPr>
        <p:spPr>
          <a:xfrm>
            <a:off x="1020604" y="460105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Honeytokens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20604" y="5091470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Credenciais falsas inseridas no código para atrair e detectar invasores.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5216962" y="3693795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26262B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5060" y="3863816"/>
            <a:ext cx="340162" cy="34016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43776" y="460105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Canary Endpoints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443776" y="5091470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Rotas monitoradas que disparam alertas ao serem acessadas.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9640133" y="3693795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26262B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8232" y="3863816"/>
            <a:ext cx="340162" cy="34016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866948" y="460105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SIEM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9866948" y="5091470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Monitoramento de logs em tempo real para resposta a incidentes.</a:t>
            </a:r>
            <a:endParaRPr lang="en-US" sz="1750" dirty="0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D0B7DD12-C344-4F20-B7D4-2445C51E8F74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171462"/>
            <a:ext cx="626625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Resultados e Impacto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447217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100%</a:t>
            </a:r>
            <a:endParaRPr lang="en-US" sz="5850" dirty="0"/>
          </a:p>
        </p:txBody>
      </p:sp>
      <p:sp>
        <p:nvSpPr>
          <p:cNvPr id="4" name="Text 2"/>
          <p:cNvSpPr/>
          <p:nvPr/>
        </p:nvSpPr>
        <p:spPr>
          <a:xfrm>
            <a:off x="1455420" y="44790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Conformidade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93790" y="4969431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</a:t>
            </a:r>
            <a:r>
              <a:rPr lang="en-US" sz="175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100% adequado à LGPD</a:t>
            </a: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(Proteção de dados de menores).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5235893" y="3447217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Eficiência</a:t>
            </a:r>
            <a:endParaRPr lang="en-US" sz="5850" dirty="0"/>
          </a:p>
        </p:txBody>
      </p:sp>
      <p:sp>
        <p:nvSpPr>
          <p:cNvPr id="7" name="Text 5"/>
          <p:cNvSpPr/>
          <p:nvPr/>
        </p:nvSpPr>
        <p:spPr>
          <a:xfrm>
            <a:off x="5897523" y="44790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Eficiência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235893" y="4969431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Eliminação de papéis e comunicação em tempo real entre escola e família.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9677995" y="3447217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Conclusão</a:t>
            </a:r>
            <a:endParaRPr lang="en-US" sz="5850" dirty="0"/>
          </a:p>
        </p:txBody>
      </p:sp>
      <p:sp>
        <p:nvSpPr>
          <p:cNvPr id="10" name="Text 8"/>
          <p:cNvSpPr/>
          <p:nvPr/>
        </p:nvSpPr>
        <p:spPr>
          <a:xfrm>
            <a:off x="10339626" y="44790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Conclusão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77995" y="4969431"/>
            <a:ext cx="41586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 projeto prova que é possível criar software educacional acessível com segurança de nível empresarial.</a:t>
            </a:r>
            <a:endParaRPr lang="en-US" sz="1750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693FA85A-14B9-4B96-860A-A167074C2584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037374" y="353137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endParaRPr lang="en-US" sz="4450" dirty="0"/>
          </a:p>
        </p:txBody>
      </p:sp>
      <p:sp>
        <p:nvSpPr>
          <p:cNvPr id="7" name="Text 3"/>
          <p:cNvSpPr/>
          <p:nvPr/>
        </p:nvSpPr>
        <p:spPr>
          <a:xfrm>
            <a:off x="793790" y="4532111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850"/>
              </a:lnSpc>
              <a:buSzPct val="100000"/>
            </a:pP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647486" y="6375321"/>
            <a:ext cx="11341298" cy="1417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50"/>
              </a:lnSpc>
              <a:buNone/>
            </a:pPr>
            <a:r>
              <a:rPr lang="en-US" sz="89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Obrigado</a:t>
            </a:r>
            <a:r>
              <a:rPr lang="en-US" sz="89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!</a:t>
            </a:r>
            <a:endParaRPr lang="en-US" sz="8900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61FBDEB9-19B1-4DB1-9DE2-3B2059355586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FBED14E-1F8C-4F1E-AF2A-C7365A090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14008" y="4949214"/>
            <a:ext cx="2978634" cy="2978634"/>
          </a:xfrm>
          <a:prstGeom prst="rect">
            <a:avLst/>
          </a:prstGeom>
        </p:spPr>
      </p:pic>
      <p:sp>
        <p:nvSpPr>
          <p:cNvPr id="15" name="Rectangle 3">
            <a:extLst>
              <a:ext uri="{FF2B5EF4-FFF2-40B4-BE49-F238E27FC236}">
                <a16:creationId xmlns:a16="http://schemas.microsoft.com/office/drawing/2014/main" id="{B95D66E8-1440-4AAF-A19B-605D4C5F9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46304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17" name="Rectangle 4">
            <a:extLst>
              <a:ext uri="{FF2B5EF4-FFF2-40B4-BE49-F238E27FC236}">
                <a16:creationId xmlns:a16="http://schemas.microsoft.com/office/drawing/2014/main" id="{33318588-2B59-41CF-B419-FF6853AA09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146304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8173513C-5A1A-428E-AE8E-5EEE3356F793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32540" y="0"/>
            <a:ext cx="5277803" cy="5277803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E88D8652-CC34-4615-879F-1D7980A05AAC}"/>
              </a:ext>
            </a:extLst>
          </p:cNvPr>
          <p:cNvSpPr txBox="1"/>
          <p:nvPr/>
        </p:nvSpPr>
        <p:spPr>
          <a:xfrm>
            <a:off x="11026966" y="4181846"/>
            <a:ext cx="31527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bg1"/>
                </a:solidFill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407</Words>
  <Application>Microsoft Office PowerPoint</Application>
  <PresentationFormat>Personalizar</PresentationFormat>
  <Paragraphs>79</Paragraphs>
  <Slides>11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6" baseType="lpstr">
      <vt:lpstr>Arial</vt:lpstr>
      <vt:lpstr>Sora Medium</vt:lpstr>
      <vt:lpstr>Calibri</vt:lpstr>
      <vt:lpstr>Noto Sans TC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>santa fe</dc:creator>
  <cp:lastModifiedBy>santa fe</cp:lastModifiedBy>
  <cp:revision>8</cp:revision>
  <dcterms:created xsi:type="dcterms:W3CDTF">2025-12-19T16:50:19Z</dcterms:created>
  <dcterms:modified xsi:type="dcterms:W3CDTF">2025-12-19T18:02:06Z</dcterms:modified>
</cp:coreProperties>
</file>