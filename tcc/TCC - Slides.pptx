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Arimo" panose="020B0604020202020204" charset="0"/>
      <p:regular r:id="rId20"/>
    </p:embeddedFont>
    <p:embeddedFont>
      <p:font typeface="Calibri (MS)" panose="020B0604020202020204" charset="0"/>
      <p:regular r:id="rId21"/>
    </p:embeddedFont>
    <p:embeddedFont>
      <p:font typeface="Calibri (MS) Bold" panose="020B0604020202020204" charset="0"/>
      <p:regular r:id="rId22"/>
    </p:embeddedFont>
    <p:embeddedFont>
      <p:font typeface="Gill Sans Bold" panose="020B0604020202020204" charset="0"/>
      <p:regular r:id="rId23"/>
    </p:embeddedFont>
    <p:embeddedFont>
      <p:font typeface="Noto Sans" panose="020B0502040504020204" pitchFamily="3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68" autoAdjust="0"/>
    <p:restoredTop sz="94622" autoAdjust="0"/>
  </p:normalViewPr>
  <p:slideViewPr>
    <p:cSldViewPr>
      <p:cViewPr varScale="1">
        <p:scale>
          <a:sx n="46" d="100"/>
          <a:sy n="46" d="100"/>
        </p:scale>
        <p:origin x="762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2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3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4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6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8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9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11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12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7" Type="http://schemas.openxmlformats.org/officeDocument/2006/relationships/image" Target="../media/image49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329298" y="4229100"/>
            <a:ext cx="6780162" cy="2774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Gestão Atípicos: Sistema Web Seguro para Educação Inclusiva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0" y="9572625"/>
            <a:ext cx="3158557" cy="490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32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Belo Jardim, 2026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0" y="1319679"/>
            <a:ext cx="2788872" cy="2788872"/>
            <a:chOff x="0" y="0"/>
            <a:chExt cx="3718496" cy="37184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18433" cy="3718433"/>
            </a:xfrm>
            <a:custGeom>
              <a:avLst/>
              <a:gdLst/>
              <a:ahLst/>
              <a:cxnLst/>
              <a:rect l="l" t="t" r="r" b="b"/>
              <a:pathLst>
                <a:path w="3718433" h="3718433">
                  <a:moveTo>
                    <a:pt x="0" y="0"/>
                  </a:moveTo>
                  <a:lnTo>
                    <a:pt x="3718433" y="0"/>
                  </a:lnTo>
                  <a:lnTo>
                    <a:pt x="3718433" y="3718433"/>
                  </a:lnTo>
                  <a:lnTo>
                    <a:pt x="0" y="3718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7658862" y="1319679"/>
            <a:ext cx="9959340" cy="7590472"/>
            <a:chOff x="0" y="0"/>
            <a:chExt cx="13279120" cy="1012063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279120" cy="10120630"/>
            </a:xfrm>
            <a:custGeom>
              <a:avLst/>
              <a:gdLst/>
              <a:ahLst/>
              <a:cxnLst/>
              <a:rect l="l" t="t" r="r" b="b"/>
              <a:pathLst>
                <a:path w="13279120" h="10120630">
                  <a:moveTo>
                    <a:pt x="0" y="0"/>
                  </a:moveTo>
                  <a:lnTo>
                    <a:pt x="13279120" y="0"/>
                  </a:lnTo>
                  <a:lnTo>
                    <a:pt x="13279120" y="10120630"/>
                  </a:lnTo>
                  <a:lnTo>
                    <a:pt x="0" y="10120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1542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7"/>
            <a:ext cx="155981" cy="3070765"/>
            <a:chOff x="0" y="0"/>
            <a:chExt cx="207975" cy="4094353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8026" cy="4094353"/>
            </a:xfrm>
            <a:custGeom>
              <a:avLst/>
              <a:gdLst/>
              <a:ahLst/>
              <a:cxnLst/>
              <a:rect l="l" t="t" r="r" b="b"/>
              <a:pathLst>
                <a:path w="208026" h="4094353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r="-170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5" y="1409167"/>
            <a:ext cx="155981" cy="3070765"/>
            <a:chOff x="0" y="0"/>
            <a:chExt cx="207975" cy="4094353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8026" cy="4094353"/>
            </a:xfrm>
            <a:custGeom>
              <a:avLst/>
              <a:gdLst/>
              <a:ahLst/>
              <a:cxnLst/>
              <a:rect l="l" t="t" r="r" b="b"/>
              <a:pathLst>
                <a:path w="208026" h="4094353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r="-170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2" y="1409167"/>
            <a:ext cx="155981" cy="3070765"/>
            <a:chOff x="0" y="0"/>
            <a:chExt cx="207975" cy="4094353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8026" cy="4094353"/>
            </a:xfrm>
            <a:custGeom>
              <a:avLst/>
              <a:gdLst/>
              <a:ahLst/>
              <a:cxnLst/>
              <a:rect l="l" t="t" r="r" b="b"/>
              <a:pathLst>
                <a:path w="208026" h="4094353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r="-170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899166"/>
            <a:ext cx="16948404" cy="1132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desenvolver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um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web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seguro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acessível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funcional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que centralize a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gestão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alunos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atípicos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facilitando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trabalho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gestores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cuidadores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336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responsáveis</a:t>
            </a:r>
            <a:r>
              <a:rPr lang="en-US" sz="3361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2" y="1635538"/>
            <a:ext cx="1330728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2" y="2153307"/>
            <a:ext cx="4593231" cy="1908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Lei Brasileira de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Inclusão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n° 13.146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obriga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atendimento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especializado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mas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muitas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escolas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ainda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usam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planilhas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papel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4" y="1635538"/>
            <a:ext cx="1172175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Riscos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6194" y="2153307"/>
            <a:ext cx="4593231" cy="1448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Perda de histórico pedagógico e, principalmente, vulnerabilidade jurídica perante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10" y="1635538"/>
            <a:ext cx="2840926" cy="478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Dados Sensíveis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64910" y="2153307"/>
            <a:ext cx="4593231" cy="14538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981037"/>
            <a:ext cx="2944768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837717"/>
            <a:ext cx="15711240" cy="4153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8"/>
              </a:lnSpc>
            </a:pPr>
            <a:r>
              <a:rPr lang="en-US" sz="29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</a:t>
            </a:r>
            <a:r>
              <a:rPr lang="en-US" sz="29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Geral:</a:t>
            </a:r>
          </a:p>
          <a:p>
            <a:pPr algn="l">
              <a:lnSpc>
                <a:spcPts val="4199"/>
              </a:lnSpc>
            </a:pPr>
            <a:endParaRPr lang="en-US" sz="2999" b="1" dirty="0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algn="l">
              <a:lnSpc>
                <a:spcPts val="3499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Desenvolver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um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web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centralizado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para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alunos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necessidades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especiais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l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1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1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1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ts val="4198"/>
              </a:lnSpc>
            </a:pPr>
            <a:r>
              <a:rPr lang="en-US" sz="29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29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</a:t>
            </a:r>
            <a:r>
              <a:rPr lang="en-US" sz="29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Específicos</a:t>
            </a:r>
            <a:r>
              <a:rPr lang="en-US" sz="29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  </a:t>
            </a:r>
          </a:p>
          <a:p>
            <a:pPr algn="l">
              <a:lnSpc>
                <a:spcPts val="4199"/>
              </a:lnSpc>
            </a:pPr>
            <a:endParaRPr lang="en-US" sz="2999" b="1" dirty="0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Substituir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registros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manuais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um "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cofre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digital".</a:t>
            </a: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Implementar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nível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banco de dados (RLS).</a:t>
            </a: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Validar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contra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vulnerabilidades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críticas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pentests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2744905" y="2372363"/>
            <a:ext cx="1561976" cy="1493634"/>
          </a:xfrm>
          <a:custGeom>
            <a:avLst/>
            <a:gdLst/>
            <a:ahLst/>
            <a:cxnLst/>
            <a:rect l="l" t="t" r="r" b="b"/>
            <a:pathLst>
              <a:path w="1561976" h="1493634">
                <a:moveTo>
                  <a:pt x="0" y="0"/>
                </a:moveTo>
                <a:lnTo>
                  <a:pt x="1561976" y="0"/>
                </a:lnTo>
                <a:lnTo>
                  <a:pt x="1561976" y="1493634"/>
                </a:lnTo>
                <a:lnTo>
                  <a:pt x="0" y="14936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74" b="-374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744905" y="4345476"/>
            <a:ext cx="1319260" cy="1618726"/>
          </a:xfrm>
          <a:custGeom>
            <a:avLst/>
            <a:gdLst/>
            <a:ahLst/>
            <a:cxnLst/>
            <a:rect l="l" t="t" r="r" b="b"/>
            <a:pathLst>
              <a:path w="1319260" h="1618726">
                <a:moveTo>
                  <a:pt x="0" y="0"/>
                </a:moveTo>
                <a:lnTo>
                  <a:pt x="1319260" y="0"/>
                </a:lnTo>
                <a:lnTo>
                  <a:pt x="1319260" y="1618727"/>
                </a:lnTo>
                <a:lnTo>
                  <a:pt x="0" y="16187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31" b="-131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697604" y="6110821"/>
            <a:ext cx="1413872" cy="1665827"/>
          </a:xfrm>
          <a:custGeom>
            <a:avLst/>
            <a:gdLst/>
            <a:ahLst/>
            <a:cxnLst/>
            <a:rect l="l" t="t" r="r" b="b"/>
            <a:pathLst>
              <a:path w="1413872" h="1665827">
                <a:moveTo>
                  <a:pt x="0" y="0"/>
                </a:moveTo>
                <a:lnTo>
                  <a:pt x="1413872" y="0"/>
                </a:lnTo>
                <a:lnTo>
                  <a:pt x="1413872" y="1665827"/>
                </a:lnTo>
                <a:lnTo>
                  <a:pt x="0" y="166582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57" r="-157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2587695" y="7919523"/>
            <a:ext cx="1719186" cy="1719186"/>
          </a:xfrm>
          <a:custGeom>
            <a:avLst/>
            <a:gdLst/>
            <a:ahLst/>
            <a:cxnLst/>
            <a:rect l="l" t="t" r="r" b="b"/>
            <a:pathLst>
              <a:path w="1719186" h="1719186">
                <a:moveTo>
                  <a:pt x="0" y="0"/>
                </a:moveTo>
                <a:lnTo>
                  <a:pt x="1719186" y="0"/>
                </a:lnTo>
                <a:lnTo>
                  <a:pt x="1719186" y="1719186"/>
                </a:lnTo>
                <a:lnTo>
                  <a:pt x="0" y="17191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5311702" y="915048"/>
            <a:ext cx="7657071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Fundamentação Teórica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876800" y="2484018"/>
            <a:ext cx="11523926" cy="696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Inclusiva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Diretrizes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Estatuto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(AEE).</a:t>
            </a:r>
          </a:p>
          <a:p>
            <a:pPr marL="628651" lvl="2" indent="-209550" algn="l">
              <a:lnSpc>
                <a:spcPts val="3436"/>
              </a:lnSpc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34683" lvl="2" indent="-211561" algn="l">
              <a:lnSpc>
                <a:spcPts val="3436"/>
              </a:lnSpc>
              <a:buFont typeface="Arial"/>
              <a:buChar char="⚬"/>
            </a:pP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Privacidade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Ética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Diretrizes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LGPD (Lei nº 13.709/2018)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voltadas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para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garantir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bem-estar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das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crianças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adolescentes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proteger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informações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pessoais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delicadas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dados de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634683" lvl="2" indent="-211561" algn="l">
              <a:lnSpc>
                <a:spcPts val="3436"/>
              </a:lnSpc>
              <a:buFont typeface="Arial"/>
              <a:buChar char="⚬"/>
            </a:pPr>
            <a:endParaRPr lang="en-US" sz="27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3349" lvl="2" indent="-207783" algn="l">
              <a:lnSpc>
                <a:spcPts val="3436"/>
              </a:lnSpc>
            </a:pPr>
            <a:endParaRPr lang="en-US" sz="27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Adoção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padrões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globais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Modelagem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Ameaças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STRIDE.</a:t>
            </a:r>
          </a:p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419101" lvl="2" algn="l">
              <a:lnSpc>
                <a:spcPts val="3436"/>
              </a:lnSpc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8651" lvl="2" indent="-209550" algn="l">
              <a:lnSpc>
                <a:spcPts val="3436"/>
              </a:lnSpc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Modelos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isolada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79" y="2388441"/>
            <a:ext cx="14649221" cy="7697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Tipo de Pesquisa: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Pesquisa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aplicada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abordagem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baseada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ágil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entregas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(Sprints).</a:t>
            </a: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Requisitos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):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área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Modelagem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focadas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UI/UX.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utilizando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Vercel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híbrido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Android via Capacitor).</a:t>
            </a: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Execução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unitários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/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Vitest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4" y="2531316"/>
            <a:ext cx="1909820" cy="1272416"/>
          </a:xfrm>
          <a:custGeom>
            <a:avLst/>
            <a:gdLst/>
            <a:ahLst/>
            <a:cxnLst/>
            <a:rect l="l" t="t" r="r" b="b"/>
            <a:pathLst>
              <a:path w="1909820" h="1272416">
                <a:moveTo>
                  <a:pt x="0" y="0"/>
                </a:moveTo>
                <a:lnTo>
                  <a:pt x="1909820" y="0"/>
                </a:lnTo>
                <a:lnTo>
                  <a:pt x="1909820" y="1272417"/>
                </a:lnTo>
                <a:lnTo>
                  <a:pt x="0" y="12724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1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3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51" b="-152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4" y="6385741"/>
            <a:ext cx="1582979" cy="1670695"/>
          </a:xfrm>
          <a:custGeom>
            <a:avLst/>
            <a:gdLst/>
            <a:ahLst/>
            <a:cxnLst/>
            <a:rect l="l" t="t" r="r" b="b"/>
            <a:pathLst>
              <a:path w="1582979" h="1670695">
                <a:moveTo>
                  <a:pt x="0" y="0"/>
                </a:moveTo>
                <a:lnTo>
                  <a:pt x="1582979" y="0"/>
                </a:lnTo>
                <a:lnTo>
                  <a:pt x="1582979" y="1670695"/>
                </a:lnTo>
                <a:lnTo>
                  <a:pt x="0" y="16706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72" r="-7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1" cy="1525191"/>
          </a:xfrm>
          <a:custGeom>
            <a:avLst/>
            <a:gdLst/>
            <a:ahLst/>
            <a:cxnLst/>
            <a:rect l="l" t="t" r="r" b="b"/>
            <a:pathLst>
              <a:path w="1525191" h="1525191">
                <a:moveTo>
                  <a:pt x="0" y="0"/>
                </a:moveTo>
                <a:lnTo>
                  <a:pt x="1525191" y="0"/>
                </a:lnTo>
                <a:lnTo>
                  <a:pt x="1525191" y="1525190"/>
                </a:lnTo>
                <a:lnTo>
                  <a:pt x="0" y="152519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t="-931" b="-931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7" y="1074982"/>
            <a:ext cx="3848691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5" cy="1219162"/>
          </a:xfrm>
          <a:custGeom>
            <a:avLst/>
            <a:gdLst/>
            <a:ahLst/>
            <a:cxnLst/>
            <a:rect l="l" t="t" r="r" b="b"/>
            <a:pathLst>
              <a:path w="1007335" h="1219162">
                <a:moveTo>
                  <a:pt x="0" y="0"/>
                </a:moveTo>
                <a:lnTo>
                  <a:pt x="1007336" y="0"/>
                </a:lnTo>
                <a:lnTo>
                  <a:pt x="1007336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276" b="-276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369934"/>
            <a:ext cx="7107136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Solução Proposta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5759" y="5335791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759" y="5872610"/>
            <a:ext cx="4678413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Web Centralizado para gestão de alunos atípicos.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335791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872610"/>
            <a:ext cx="4678413" cy="1455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Conecta Gestores, Cuidadores e Responsáveis em uma única plataforma.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335791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872610"/>
            <a:ext cx="4678413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04024"/>
            <a:ext cx="6977805" cy="688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Stack Tecnológica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108768"/>
            <a:ext cx="1375439" cy="317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64"/>
            <a:ext cx="8212341" cy="62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Usabilidade e Acessibilidade).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35007"/>
            <a:ext cx="1323356" cy="61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93"/>
            <a:ext cx="8212341" cy="623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9422" y="5152578"/>
            <a:ext cx="2467270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b="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Infraestrutura</a:t>
            </a:r>
            <a:endParaRPr lang="en-US" sz="2499" b="1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88640" y="5641058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Vercel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64000" y="874107"/>
            <a:ext cx="8212360" cy="8212360"/>
            <a:chOff x="0" y="0"/>
            <a:chExt cx="10949813" cy="10949813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03541"/>
            <a:ext cx="8212341" cy="429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6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68" cy="4931950"/>
            <a:chOff x="0" y="0"/>
            <a:chExt cx="10329291" cy="657593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" r="-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0" y="1028700"/>
            <a:ext cx="7010438" cy="3962410"/>
            <a:chOff x="0" y="0"/>
            <a:chExt cx="9347251" cy="528321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347200" cy="5283200"/>
            </a:xfrm>
            <a:custGeom>
              <a:avLst/>
              <a:gdLst/>
              <a:ahLst/>
              <a:cxnLst/>
              <a:rect l="l" t="t" r="r" b="b"/>
              <a:pathLst>
                <a:path w="9347200" h="5283200">
                  <a:moveTo>
                    <a:pt x="0" y="0"/>
                  </a:moveTo>
                  <a:lnTo>
                    <a:pt x="9347200" y="0"/>
                  </a:lnTo>
                  <a:lnTo>
                    <a:pt x="9347200" y="5283200"/>
                  </a:lnTo>
                  <a:lnTo>
                    <a:pt x="0" y="528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5792" b="-5792"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848439" y="524447"/>
            <a:ext cx="8961120" cy="2000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Prints das </a:t>
            </a:r>
            <a:r>
              <a:rPr lang="en-US" sz="3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Telas</a:t>
            </a:r>
            <a:r>
              <a:rPr lang="en-US" sz="3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Gestor, </a:t>
            </a:r>
            <a:r>
              <a:rPr lang="en-US" sz="3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Cuidador</a:t>
            </a:r>
            <a:r>
              <a:rPr lang="en-US" sz="3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3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Responsável</a:t>
            </a:r>
            <a:endParaRPr lang="en-US" sz="35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9692640" y="5143500"/>
            <a:ext cx="7010400" cy="4395978"/>
            <a:chOff x="0" y="0"/>
            <a:chExt cx="9347200" cy="586130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347200" cy="5861304"/>
            </a:xfrm>
            <a:custGeom>
              <a:avLst/>
              <a:gdLst/>
              <a:ahLst/>
              <a:cxnLst/>
              <a:rect l="l" t="t" r="r" b="b"/>
              <a:pathLst>
                <a:path w="9347200" h="5861304">
                  <a:moveTo>
                    <a:pt x="0" y="0"/>
                  </a:moveTo>
                  <a:lnTo>
                    <a:pt x="9347200" y="0"/>
                  </a:lnTo>
                  <a:lnTo>
                    <a:pt x="9347200" y="5861304"/>
                  </a:lnTo>
                  <a:lnTo>
                    <a:pt x="0" y="58613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8" y="1822847"/>
            <a:ext cx="14704962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Engenharia de Segurança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18" cy="152400"/>
            <a:chOff x="0" y="0"/>
            <a:chExt cx="6993890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993" b="-198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10048"/>
            <a:ext cx="3774872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5927827"/>
            <a:ext cx="4602213" cy="1448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18" cy="152400"/>
            <a:chOff x="0" y="0"/>
            <a:chExt cx="6993890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993" b="-198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10048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5927827"/>
            <a:ext cx="4602213" cy="1910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18" cy="152400"/>
            <a:chOff x="0" y="0"/>
            <a:chExt cx="6993890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993" b="-198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82" cy="850582"/>
            <a:chOff x="0" y="0"/>
            <a:chExt cx="1134110" cy="1134110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10048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5927827"/>
            <a:ext cx="4602213" cy="1455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798471"/>
            <a:ext cx="8961120" cy="999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Diagrama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7" r="-7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24859" y="680466"/>
            <a:ext cx="6477000" cy="9464040"/>
            <a:chOff x="0" y="0"/>
            <a:chExt cx="8636000" cy="12618720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8636000" cy="12618720"/>
            </a:xfrm>
            <a:custGeom>
              <a:avLst/>
              <a:gdLst/>
              <a:ahLst/>
              <a:cxnLst/>
              <a:rect l="l" t="t" r="r" b="b"/>
              <a:pathLst>
                <a:path w="8636000" h="12618720">
                  <a:moveTo>
                    <a:pt x="0" y="0"/>
                  </a:moveTo>
                  <a:lnTo>
                    <a:pt x="8636000" y="0"/>
                  </a:lnTo>
                  <a:lnTo>
                    <a:pt x="8636000" y="12618720"/>
                  </a:lnTo>
                  <a:lnTo>
                    <a:pt x="0" y="126187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328" b="-1328"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992238" y="1010993"/>
            <a:ext cx="9445523" cy="1889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Validação de Segurança (Pentest)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238" y="3605955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Metodologia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238" y="4237139"/>
            <a:ext cx="4376890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Testes de Penetração Black-Box baseados no OWASP ASVS.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5523157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Ferramenta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6023496"/>
            <a:ext cx="4376890" cy="532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Burp Suite.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224778" y="3630197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Resultados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70397" y="4237139"/>
            <a:ext cx="4376890" cy="532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4511" lvl="2" indent="-151504" algn="l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SQL Injection: Mitigado.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4789884"/>
            <a:ext cx="4376890" cy="993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4511" lvl="2" indent="-151504" algn="l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XSS (Cross-Site Scripting): Mitigado.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5796258"/>
            <a:ext cx="4376890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4511" lvl="2" indent="-151504" algn="l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Escalação de Privilégios: Bloqueada.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224778" y="7087638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Status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224778" y="7742596"/>
            <a:ext cx="4376890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 aprovada sem vulnerabilidades críticas.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1811000" y="3223260"/>
            <a:ext cx="6477000" cy="3840480"/>
            <a:chOff x="0" y="0"/>
            <a:chExt cx="8636000" cy="5120640"/>
          </a:xfrm>
        </p:grpSpPr>
        <p:sp>
          <p:nvSpPr>
            <p:cNvPr id="24" name="Freeform 24" descr="All about the xz-utils backdoor | Kali Linux Blog"/>
            <p:cNvSpPr/>
            <p:nvPr/>
          </p:nvSpPr>
          <p:spPr>
            <a:xfrm>
              <a:off x="0" y="0"/>
              <a:ext cx="8636000" cy="5120640"/>
            </a:xfrm>
            <a:custGeom>
              <a:avLst/>
              <a:gdLst/>
              <a:ahLst/>
              <a:cxnLst/>
              <a:rect l="l" t="t" r="r" b="b"/>
              <a:pathLst>
                <a:path w="8636000" h="5120640">
                  <a:moveTo>
                    <a:pt x="0" y="0"/>
                  </a:moveTo>
                  <a:lnTo>
                    <a:pt x="8636000" y="0"/>
                  </a:lnTo>
                  <a:lnTo>
                    <a:pt x="8636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941" r="-2941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18" cy="850582"/>
            <a:chOff x="0" y="0"/>
            <a:chExt cx="6993890" cy="113411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82" y="4617244"/>
            <a:ext cx="5245418" cy="850582"/>
            <a:chOff x="0" y="0"/>
            <a:chExt cx="6993890" cy="113411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18" cy="850582"/>
            <a:chOff x="0" y="0"/>
            <a:chExt cx="6993890" cy="113411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  <p:txBody>
            <a:bodyPr/>
            <a:lstStyle/>
            <a:p>
              <a:endParaRPr lang="pt-BR" dirty="0"/>
            </a:p>
          </p:txBody>
        </p:sp>
      </p:grpSp>
      <p:sp>
        <p:nvSpPr>
          <p:cNvPr id="15" name="Freeform 15"/>
          <p:cNvSpPr/>
          <p:nvPr/>
        </p:nvSpPr>
        <p:spPr>
          <a:xfrm>
            <a:off x="14116812" y="4762310"/>
            <a:ext cx="723900" cy="560118"/>
          </a:xfrm>
          <a:custGeom>
            <a:avLst/>
            <a:gdLst/>
            <a:ahLst/>
            <a:cxnLst/>
            <a:rect l="l" t="t" r="r" b="b"/>
            <a:pathLst>
              <a:path w="723900" h="560118">
                <a:moveTo>
                  <a:pt x="0" y="0"/>
                </a:moveTo>
                <a:lnTo>
                  <a:pt x="723900" y="0"/>
                </a:lnTo>
                <a:lnTo>
                  <a:pt x="723900" y="560117"/>
                </a:lnTo>
                <a:lnTo>
                  <a:pt x="0" y="56011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490" r="-489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47" y="4617244"/>
            <a:ext cx="877072" cy="763057"/>
          </a:xfrm>
          <a:custGeom>
            <a:avLst/>
            <a:gdLst/>
            <a:ahLst/>
            <a:cxnLst/>
            <a:rect l="l" t="t" r="r" b="b"/>
            <a:pathLst>
              <a:path w="877072" h="763057">
                <a:moveTo>
                  <a:pt x="0" y="0"/>
                </a:moveTo>
                <a:lnTo>
                  <a:pt x="877072" y="0"/>
                </a:lnTo>
                <a:lnTo>
                  <a:pt x="877072" y="763057"/>
                </a:lnTo>
                <a:lnTo>
                  <a:pt x="0" y="76305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56" b="-54"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068716"/>
            <a:ext cx="16303523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Defesa em Profundidade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637009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145263"/>
            <a:ext cx="4678413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Credenciais falsas inseridas no código para atrair e detectar invasores.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637009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145263"/>
            <a:ext cx="4678413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637009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145263"/>
            <a:ext cx="4678413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839430" y="219075"/>
            <a:ext cx="15419870" cy="2368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7"/>
              </a:lnSpc>
            </a:pPr>
            <a:r>
              <a:rPr lang="en-US" sz="555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 PWA e Capacitor (</a:t>
            </a:r>
            <a:r>
              <a:rPr lang="en-US" sz="555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0238" y="3648837"/>
            <a:ext cx="8241982" cy="2472595"/>
            <a:chOff x="0" y="0"/>
            <a:chExt cx="10989310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71" cy="4182142"/>
            <a:chOff x="0" y="0"/>
            <a:chExt cx="9957562" cy="5576189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451006" y="2591477"/>
            <a:ext cx="1242447" cy="1242447"/>
          </a:xfrm>
          <a:custGeom>
            <a:avLst/>
            <a:gdLst/>
            <a:ahLst/>
            <a:cxnLst/>
            <a:rect l="l" t="t" r="r" b="b"/>
            <a:pathLst>
              <a:path w="1242447" h="1242447">
                <a:moveTo>
                  <a:pt x="0" y="0"/>
                </a:moveTo>
                <a:lnTo>
                  <a:pt x="1242448" y="0"/>
                </a:lnTo>
                <a:lnTo>
                  <a:pt x="1242448" y="1242448"/>
                </a:lnTo>
                <a:lnTo>
                  <a:pt x="0" y="12424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7511558" y="2403800"/>
            <a:ext cx="1786699" cy="1621429"/>
          </a:xfrm>
          <a:custGeom>
            <a:avLst/>
            <a:gdLst/>
            <a:ahLst/>
            <a:cxnLst/>
            <a:rect l="l" t="t" r="r" b="b"/>
            <a:pathLst>
              <a:path w="1786699" h="1621429">
                <a:moveTo>
                  <a:pt x="0" y="0"/>
                </a:moveTo>
                <a:lnTo>
                  <a:pt x="1786699" y="0"/>
                </a:lnTo>
                <a:lnTo>
                  <a:pt x="1786699" y="1621429"/>
                </a:lnTo>
                <a:lnTo>
                  <a:pt x="0" y="162142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3052327" y="2357620"/>
            <a:ext cx="1657466" cy="1665795"/>
          </a:xfrm>
          <a:custGeom>
            <a:avLst/>
            <a:gdLst/>
            <a:ahLst/>
            <a:cxnLst/>
            <a:rect l="l" t="t" r="r" b="b"/>
            <a:pathLst>
              <a:path w="1657466" h="1665795">
                <a:moveTo>
                  <a:pt x="0" y="0"/>
                </a:moveTo>
                <a:lnTo>
                  <a:pt x="1657466" y="0"/>
                </a:lnTo>
                <a:lnTo>
                  <a:pt x="1657466" y="1665795"/>
                </a:lnTo>
                <a:lnTo>
                  <a:pt x="0" y="16657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5328995" y="238125"/>
            <a:ext cx="7312104" cy="1640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Resultados e Discussão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7193" y="4121899"/>
            <a:ext cx="4236720" cy="39497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Validação</a:t>
            </a:r>
            <a:r>
              <a:rPr lang="en-US" sz="27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Técnica</a:t>
            </a:r>
          </a:p>
          <a:p>
            <a:pPr algn="l">
              <a:lnSpc>
                <a:spcPts val="3359"/>
              </a:lnSpc>
            </a:pPr>
            <a:endParaRPr lang="en-US" sz="2799" b="1" dirty="0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Arquitetura</a:t>
            </a: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Moderna: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React +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garantindo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alta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disponibilidade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Acessibilidade</a:t>
            </a: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Interface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focada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UI/UX para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diferentes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perfis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(Gestor/Pai).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PWA/Capacitor: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Experiência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nativa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dispositivos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móveis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46060" y="4121899"/>
            <a:ext cx="4084320" cy="5180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Segurança</a:t>
            </a:r>
            <a:r>
              <a:rPr lang="en-US" sz="27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Dados</a:t>
            </a:r>
          </a:p>
          <a:p>
            <a:pPr algn="l">
              <a:lnSpc>
                <a:spcPts val="3359"/>
              </a:lnSpc>
            </a:pPr>
            <a:endParaRPr lang="en-US" sz="2799" b="1" dirty="0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RLS (Row Level Security):</a:t>
            </a:r>
          </a:p>
          <a:p>
            <a:pPr marL="120650" lvl="1" algn="l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dos dados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garantido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no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nível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banco.</a:t>
            </a:r>
          </a:p>
          <a:p>
            <a:pPr marL="120650" lvl="1" algn="l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Pentests</a:t>
            </a: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</a:t>
            </a:r>
          </a:p>
          <a:p>
            <a:pPr marL="120650" lvl="1" algn="l">
              <a:lnSpc>
                <a:spcPts val="2400"/>
              </a:lnSpc>
            </a:pP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Mitigação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comprovada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contra SQL Injection e XSS.</a:t>
            </a:r>
          </a:p>
          <a:p>
            <a:pPr marL="120650" lvl="1" algn="l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Sec: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</a:t>
            </a:r>
          </a:p>
          <a:p>
            <a:pPr marL="120650" lvl="1" algn="l">
              <a:lnSpc>
                <a:spcPts val="2400"/>
              </a:lnSpc>
            </a:pP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Uso de Honeytokens e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monitoramento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via SIEM.</a:t>
            </a:r>
          </a:p>
          <a:p>
            <a:pPr marL="120650" lvl="1" algn="l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Security: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</a:t>
            </a:r>
          </a:p>
          <a:p>
            <a:pPr marL="120650" lvl="1" algn="l">
              <a:lnSpc>
                <a:spcPts val="2400"/>
              </a:lnSpc>
            </a:pP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Isolamento</a:t>
            </a: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2322527" y="4121899"/>
            <a:ext cx="3832098" cy="2676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Conformidade e Impacto</a:t>
            </a:r>
          </a:p>
          <a:p>
            <a:pPr algn="l">
              <a:lnSpc>
                <a:spcPts val="3359"/>
              </a:lnSpc>
            </a:pPr>
            <a:endParaRPr lang="en-US" sz="2799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LGPD: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Proteção rigorosa de dados sensíveis de menores.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Cofre Digital: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Eliminação de planilhas e papéis vulneráveis.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Inclusão: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Tecnologia como suporte direto à Lei 13.146 (LBI).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1937614"/>
            <a:ext cx="6792782" cy="998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Considerações</a:t>
            </a:r>
            <a:r>
              <a:rPr lang="en-US" sz="5562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Finais</a:t>
            </a:r>
            <a:endParaRPr lang="en-US" sz="5562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2238" y="4394749"/>
            <a:ext cx="5198269" cy="968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484466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5992711"/>
            <a:ext cx="5198269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100%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adequado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à LGPD (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Proteção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dados de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menores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394749"/>
            <a:ext cx="5198269" cy="968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Eficiência</a:t>
            </a:r>
            <a:endParaRPr lang="en-US" sz="7312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371902" y="5484466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5992711"/>
            <a:ext cx="5198269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Eliminação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papéis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comunicação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tempo real entre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escola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família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394749"/>
            <a:ext cx="5198269" cy="968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2" y="5484466"/>
            <a:ext cx="2077098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5992711"/>
            <a:ext cx="5198269" cy="1476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6" y="613924"/>
            <a:ext cx="18008698" cy="9097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REFERÊNCIAS BIBLIOGRÁFICAS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BRASIL. [Portal da Legislação].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[Portal da Legislação].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MICROSOFT.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INC.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4"/>
            <a:ext cx="18288000" cy="3544062"/>
            <a:chOff x="0" y="0"/>
            <a:chExt cx="24384000" cy="472541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56" b="-56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759598"/>
            <a:ext cx="14176619" cy="1981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165678" y="0"/>
            <a:ext cx="6597301" cy="6597301"/>
            <a:chOff x="0" y="0"/>
            <a:chExt cx="8796401" cy="879640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3" name="TextBox 13"/>
          <p:cNvSpPr txBox="1"/>
          <p:nvPr/>
        </p:nvSpPr>
        <p:spPr>
          <a:xfrm>
            <a:off x="13857818" y="5491372"/>
            <a:ext cx="3758013" cy="712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SISTEMA: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3717095" y="6380693"/>
            <a:ext cx="3924300" cy="3895725"/>
            <a:chOff x="0" y="0"/>
            <a:chExt cx="5232400" cy="51943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232400" cy="5194300"/>
            </a:xfrm>
            <a:custGeom>
              <a:avLst/>
              <a:gdLst/>
              <a:ahLst/>
              <a:cxnLst/>
              <a:rect l="l" t="t" r="r" b="b"/>
              <a:pathLst>
                <a:path w="5232400" h="5194300">
                  <a:moveTo>
                    <a:pt x="0" y="0"/>
                  </a:moveTo>
                  <a:lnTo>
                    <a:pt x="5232400" y="0"/>
                  </a:lnTo>
                  <a:lnTo>
                    <a:pt x="5232400" y="5194300"/>
                  </a:lnTo>
                  <a:lnTo>
                    <a:pt x="0" y="5194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1252</Words>
  <Application>Microsoft Office PowerPoint</Application>
  <PresentationFormat>Personalizar</PresentationFormat>
  <Paragraphs>215</Paragraphs>
  <Slides>17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5" baseType="lpstr">
      <vt:lpstr>Arimo</vt:lpstr>
      <vt:lpstr>Calibri (MS)</vt:lpstr>
      <vt:lpstr>Gill Sans Bold</vt:lpstr>
      <vt:lpstr>Arial</vt:lpstr>
      <vt:lpstr>Calibri</vt:lpstr>
      <vt:lpstr>Noto Sans</vt:lpstr>
      <vt:lpstr>Calibri (MS)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cp:lastModifiedBy>Marcos Guilherme</cp:lastModifiedBy>
  <cp:revision>6</cp:revision>
  <dcterms:created xsi:type="dcterms:W3CDTF">2006-08-16T00:00:00Z</dcterms:created>
  <dcterms:modified xsi:type="dcterms:W3CDTF">2026-04-29T00:50:48Z</dcterms:modified>
  <dc:identifier>DAHILYlQN3s</dc:identifier>
</cp:coreProperties>
</file>