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72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5" r:id="rId6"/>
    <p:sldId id="260" r:id="rId7"/>
    <p:sldId id="266" r:id="rId8"/>
    <p:sldId id="261" r:id="rId9"/>
    <p:sldId id="262" r:id="rId10"/>
    <p:sldId id="267" r:id="rId11"/>
    <p:sldId id="263" r:id="rId12"/>
    <p:sldId id="264" r:id="rId13"/>
  </p:sldIdLst>
  <p:sldSz cx="14630400" cy="8229600"/>
  <p:notesSz cx="8229600" cy="14630400"/>
  <p:embeddedFontLst>
    <p:embeddedFont>
      <p:font typeface="Noto Sans TC" panose="020B0604020202020204" charset="-128"/>
      <p:regular r:id="rId15"/>
    </p:embeddedFont>
    <p:embeddedFont>
      <p:font typeface="Gill Sans MT" panose="020B0502020104020203" pitchFamily="34" charset="0"/>
      <p:regular r:id="rId16"/>
      <p:bold r:id="rId17"/>
      <p:italic r:id="rId18"/>
      <p:boldItalic r:id="rId19"/>
    </p:embeddedFont>
    <p:embeddedFont>
      <p:font typeface="Sora Medium" panose="020B0604020202020204" charset="0"/>
      <p:regular r:id="rId20"/>
    </p:embeddedFont>
    <p:embeddedFont>
      <p:font typeface="Wingdings 2" panose="05020102010507070707" pitchFamily="18" charset="2"/>
      <p:regular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1" d="100"/>
          <a:sy n="61" d="100"/>
        </p:scale>
        <p:origin x="61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8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535841" y="3702918"/>
            <a:ext cx="13515439" cy="396576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7430" y="1224518"/>
            <a:ext cx="13192259" cy="1770016"/>
          </a:xfrm>
          <a:effectLst/>
        </p:spPr>
        <p:txBody>
          <a:bodyPr anchor="b">
            <a:normAutofit/>
          </a:bodyPr>
          <a:lstStyle>
            <a:lvl1pPr>
              <a:defRPr sz="432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97433" y="2994535"/>
            <a:ext cx="13192255" cy="708385"/>
          </a:xfrm>
        </p:spPr>
        <p:txBody>
          <a:bodyPr anchor="t">
            <a:normAutofit/>
          </a:bodyPr>
          <a:lstStyle>
            <a:lvl1pPr marL="0" indent="0" algn="l">
              <a:buNone/>
              <a:defRPr sz="1920" cap="all">
                <a:solidFill>
                  <a:schemeClr val="accent2"/>
                </a:solidFill>
              </a:defRPr>
            </a:lvl1pPr>
            <a:lvl2pPr marL="548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127141" y="7147365"/>
            <a:ext cx="3413760" cy="438150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8D85543-FC08-4294-80B7-08D308A72E17}" type="datetimeFigureOut">
              <a:rPr lang="pt-BR" smtClean="0"/>
              <a:t>15/04/2026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97430" y="7142174"/>
            <a:ext cx="8300652" cy="438150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2669960" y="7147365"/>
            <a:ext cx="1219728" cy="438150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2965980-964F-4363-BD0E-5FFCC202E0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693551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28343" y="737288"/>
            <a:ext cx="13571206" cy="142715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431" y="842587"/>
            <a:ext cx="13235539" cy="121656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431" y="2616596"/>
            <a:ext cx="13235538" cy="44139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85543-FC08-4294-80B7-08D308A72E17}" type="datetimeFigureOut">
              <a:rPr lang="pt-BR" smtClean="0"/>
              <a:t>15/04/2026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2669960" y="7147365"/>
            <a:ext cx="1263010" cy="438150"/>
          </a:xfrm>
        </p:spPr>
        <p:txBody>
          <a:bodyPr/>
          <a:lstStyle/>
          <a:p>
            <a:fld id="{D2965980-964F-4363-BD0E-5FFCC202E0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823940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537380" y="6170370"/>
            <a:ext cx="13549032" cy="15105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432" y="3652693"/>
            <a:ext cx="13235538" cy="1797008"/>
          </a:xfrm>
        </p:spPr>
        <p:txBody>
          <a:bodyPr anchor="b">
            <a:normAutofit/>
          </a:bodyPr>
          <a:lstStyle>
            <a:lvl1pPr algn="l">
              <a:defRPr sz="4320" b="0" cap="all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7431" y="5449701"/>
            <a:ext cx="13235538" cy="720667"/>
          </a:xfrm>
        </p:spPr>
        <p:txBody>
          <a:bodyPr anchor="t">
            <a:normAutofit/>
          </a:bodyPr>
          <a:lstStyle>
            <a:lvl1pPr marL="0" indent="0" algn="l">
              <a:buNone/>
              <a:defRPr sz="2160" cap="all">
                <a:solidFill>
                  <a:schemeClr val="accent2"/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8D85543-FC08-4294-80B7-08D308A72E17}" type="datetimeFigureOut">
              <a:rPr lang="pt-BR" smtClean="0"/>
              <a:t>15/04/2026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2965980-964F-4363-BD0E-5FFCC202E0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612879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535179" y="727866"/>
            <a:ext cx="13560043" cy="15105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432" y="875590"/>
            <a:ext cx="13235539" cy="1185998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7432" y="2673604"/>
            <a:ext cx="6506868" cy="4359656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26101" y="2673604"/>
            <a:ext cx="6506870" cy="4359656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85543-FC08-4294-80B7-08D308A72E17}" type="datetimeFigureOut">
              <a:rPr lang="pt-BR" smtClean="0"/>
              <a:t>15/04/2026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965980-964F-4363-BD0E-5FFCC202E0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935601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535179" y="727866"/>
            <a:ext cx="13560043" cy="15105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697432" y="875590"/>
            <a:ext cx="13235539" cy="1185998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4663" y="2701071"/>
            <a:ext cx="6104490" cy="643206"/>
          </a:xfrm>
        </p:spPr>
        <p:txBody>
          <a:bodyPr anchor="b">
            <a:noAutofit/>
          </a:bodyPr>
          <a:lstStyle>
            <a:lvl1pPr marL="0" indent="0">
              <a:buNone/>
              <a:defRPr sz="2640" b="0">
                <a:solidFill>
                  <a:schemeClr val="accent2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7433" y="3511263"/>
            <a:ext cx="6471720" cy="3521999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28482" y="2701071"/>
            <a:ext cx="6104488" cy="664048"/>
          </a:xfrm>
        </p:spPr>
        <p:txBody>
          <a:bodyPr anchor="b">
            <a:noAutofit/>
          </a:bodyPr>
          <a:lstStyle>
            <a:lvl1pPr marL="0" indent="0">
              <a:buNone/>
              <a:defRPr sz="2640" b="0">
                <a:solidFill>
                  <a:schemeClr val="accent2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61251" y="3511263"/>
            <a:ext cx="6471720" cy="3521999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85543-FC08-4294-80B7-08D308A72E17}" type="datetimeFigureOut">
              <a:rPr lang="pt-BR" smtClean="0"/>
              <a:t>15/04/2026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965980-964F-4363-BD0E-5FFCC202E0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03180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28820" y="727866"/>
            <a:ext cx="13560043" cy="15105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91073" y="875590"/>
            <a:ext cx="13235539" cy="1185998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85543-FC08-4294-80B7-08D308A72E17}" type="datetimeFigureOut">
              <a:rPr lang="pt-BR" smtClean="0"/>
              <a:t>15/04/2026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965980-964F-4363-BD0E-5FFCC202E0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705834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85543-FC08-4294-80B7-08D308A72E17}" type="datetimeFigureOut">
              <a:rPr lang="pt-BR" smtClean="0"/>
              <a:t>15/04/2026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965980-964F-4363-BD0E-5FFCC202E0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1982140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537380" y="6170368"/>
            <a:ext cx="13557840" cy="152964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431" y="6314755"/>
            <a:ext cx="5891334" cy="827417"/>
          </a:xfrm>
        </p:spPr>
        <p:txBody>
          <a:bodyPr anchor="ctr"/>
          <a:lstStyle>
            <a:lvl1pPr algn="l">
              <a:defRPr sz="24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7379" y="721440"/>
            <a:ext cx="13551408" cy="5045760"/>
          </a:xfrm>
        </p:spPr>
        <p:txBody>
          <a:bodyPr anchor="ctr">
            <a:normAutofit/>
          </a:bodyPr>
          <a:lstStyle>
            <a:lvl1pPr>
              <a:defRPr sz="2400">
                <a:solidFill>
                  <a:schemeClr val="tx2"/>
                </a:solidFill>
              </a:defRPr>
            </a:lvl1pPr>
            <a:lvl2pPr>
              <a:defRPr sz="2160">
                <a:solidFill>
                  <a:schemeClr val="tx2"/>
                </a:solidFill>
              </a:defRPr>
            </a:lvl2pPr>
            <a:lvl3pPr>
              <a:defRPr sz="1920">
                <a:solidFill>
                  <a:schemeClr val="tx2"/>
                </a:solidFill>
              </a:defRPr>
            </a:lvl3pPr>
            <a:lvl4pPr>
              <a:defRPr sz="1680">
                <a:solidFill>
                  <a:schemeClr val="tx2"/>
                </a:solidFill>
              </a:defRPr>
            </a:lvl4pPr>
            <a:lvl5pPr>
              <a:defRPr sz="1680">
                <a:solidFill>
                  <a:schemeClr val="tx2"/>
                </a:solidFill>
              </a:defRPr>
            </a:lvl5pPr>
            <a:lvl6pPr>
              <a:defRPr sz="1680">
                <a:solidFill>
                  <a:schemeClr val="tx2"/>
                </a:solidFill>
              </a:defRPr>
            </a:lvl6pPr>
            <a:lvl7pPr>
              <a:defRPr sz="1680">
                <a:solidFill>
                  <a:schemeClr val="tx2"/>
                </a:solidFill>
              </a:defRPr>
            </a:lvl7pPr>
            <a:lvl8pPr>
              <a:defRPr sz="1680">
                <a:solidFill>
                  <a:schemeClr val="tx2"/>
                </a:solidFill>
              </a:defRPr>
            </a:lvl8pPr>
            <a:lvl9pPr>
              <a:defRPr sz="1680">
                <a:solidFill>
                  <a:schemeClr val="tx2"/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88988" y="6314756"/>
            <a:ext cx="7043984" cy="827418"/>
          </a:xfrm>
        </p:spPr>
        <p:txBody>
          <a:bodyPr anchor="ctr">
            <a:normAutofit/>
          </a:bodyPr>
          <a:lstStyle>
            <a:lvl1pPr marL="0" indent="0" algn="r">
              <a:buNone/>
              <a:defRPr sz="1320">
                <a:solidFill>
                  <a:schemeClr val="bg1"/>
                </a:solidFill>
              </a:defRPr>
            </a:lvl1pPr>
            <a:lvl2pPr marL="548640" indent="0">
              <a:buNone/>
              <a:defRPr sz="132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8D85543-FC08-4294-80B7-08D308A72E17}" type="datetimeFigureOut">
              <a:rPr lang="pt-BR" smtClean="0"/>
              <a:t>15/04/2026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2965980-964F-4363-BD0E-5FFCC202E0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751958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432" y="5632067"/>
            <a:ext cx="13235539" cy="680086"/>
          </a:xfrm>
        </p:spPr>
        <p:txBody>
          <a:bodyPr anchor="b">
            <a:normAutofit/>
          </a:bodyPr>
          <a:lstStyle>
            <a:lvl1pPr algn="l">
              <a:defRPr sz="2880" b="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7381" y="719670"/>
            <a:ext cx="13549031" cy="4268702"/>
          </a:xfrm>
        </p:spPr>
        <p:txBody>
          <a:bodyPr anchor="t">
            <a:normAutofit/>
          </a:bodyPr>
          <a:lstStyle>
            <a:lvl1pPr marL="0" indent="0" algn="ctr">
              <a:buNone/>
              <a:defRPr sz="1920"/>
            </a:lvl1pPr>
            <a:lvl2pPr marL="548640" indent="0">
              <a:buNone/>
              <a:defRPr sz="1920"/>
            </a:lvl2pPr>
            <a:lvl3pPr marL="1097280" indent="0">
              <a:buNone/>
              <a:defRPr sz="1920"/>
            </a:lvl3pPr>
            <a:lvl4pPr marL="1645920" indent="0">
              <a:buNone/>
              <a:defRPr sz="1920"/>
            </a:lvl4pPr>
            <a:lvl5pPr marL="2194560" indent="0">
              <a:buNone/>
              <a:defRPr sz="1920"/>
            </a:lvl5pPr>
            <a:lvl6pPr marL="2743200" indent="0">
              <a:buNone/>
              <a:defRPr sz="1920"/>
            </a:lvl6pPr>
            <a:lvl7pPr marL="3291840" indent="0">
              <a:buNone/>
              <a:defRPr sz="1920"/>
            </a:lvl7pPr>
            <a:lvl8pPr marL="3840480" indent="0">
              <a:buNone/>
              <a:defRPr sz="1920"/>
            </a:lvl8pPr>
            <a:lvl9pPr marL="4389120" indent="0">
              <a:buNone/>
              <a:defRPr sz="192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7431" y="6312153"/>
            <a:ext cx="13235540" cy="718405"/>
          </a:xfrm>
        </p:spPr>
        <p:txBody>
          <a:bodyPr>
            <a:normAutofit/>
          </a:bodyPr>
          <a:lstStyle>
            <a:lvl1pPr marL="0" indent="0">
              <a:buNone/>
              <a:defRPr sz="144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85543-FC08-4294-80B7-08D308A72E17}" type="datetimeFigureOut">
              <a:rPr lang="pt-BR" smtClean="0"/>
              <a:t>15/04/2026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965980-964F-4363-BD0E-5FFCC202E0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704167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528343" y="737288"/>
            <a:ext cx="13571206" cy="142715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697431" y="842587"/>
            <a:ext cx="13235539" cy="121656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85543-FC08-4294-80B7-08D308A72E17}" type="datetimeFigureOut">
              <a:rPr lang="pt-BR" smtClean="0"/>
              <a:t>15/04/2026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965980-964F-4363-BD0E-5FFCC202E0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166730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0607042" y="719670"/>
            <a:ext cx="3488180" cy="69803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041" y="810872"/>
            <a:ext cx="2404997" cy="621968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9908" y="810872"/>
            <a:ext cx="9475535" cy="6219688"/>
          </a:xfrm>
        </p:spPr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92408" y="7147365"/>
            <a:ext cx="1593769" cy="438150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8D85543-FC08-4294-80B7-08D308A72E17}" type="datetimeFigureOut">
              <a:rPr lang="pt-BR" smtClean="0"/>
              <a:t>15/04/2026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29908" y="7142174"/>
            <a:ext cx="9475535" cy="438150"/>
          </a:xfrm>
        </p:spPr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2535939" y="7147365"/>
            <a:ext cx="1397034" cy="438150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2965980-964F-4363-BD0E-5FFCC202E06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9049617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4381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401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83408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63831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03477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20287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73422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2883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524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7431" y="846149"/>
            <a:ext cx="13235539" cy="142746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7431" y="2803204"/>
            <a:ext cx="13235539" cy="42273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127142" y="7147365"/>
            <a:ext cx="3413759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0">
                <a:solidFill>
                  <a:schemeClr val="accent2"/>
                </a:solidFill>
              </a:defRPr>
            </a:lvl1pPr>
          </a:lstStyle>
          <a:p>
            <a:fld id="{D8D85543-FC08-4294-80B7-08D308A72E17}" type="datetimeFigureOut">
              <a:rPr lang="pt-BR" smtClean="0"/>
              <a:t>15/04/2026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97430" y="7142174"/>
            <a:ext cx="8300652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0" cap="all">
                <a:solidFill>
                  <a:schemeClr val="accent2"/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669960" y="7147365"/>
            <a:ext cx="1263012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0">
                <a:solidFill>
                  <a:schemeClr val="accent2"/>
                </a:solidFill>
              </a:defRPr>
            </a:lvl1pPr>
          </a:lstStyle>
          <a:p>
            <a:fld id="{D2965980-964F-4363-BD0E-5FFCC202E060}" type="slidenum">
              <a:rPr lang="pt-BR" smtClean="0"/>
              <a:t>‹nº›</a:t>
            </a:fld>
            <a:endParaRPr lang="pt-BR"/>
          </a:p>
        </p:txBody>
      </p:sp>
      <p:sp>
        <p:nvSpPr>
          <p:cNvPr id="9" name="Rectangle 8"/>
          <p:cNvSpPr/>
          <p:nvPr/>
        </p:nvSpPr>
        <p:spPr>
          <a:xfrm>
            <a:off x="535841" y="548641"/>
            <a:ext cx="4443984" cy="11399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650576" y="544372"/>
            <a:ext cx="4443984" cy="11826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5090196" y="548640"/>
            <a:ext cx="4443984" cy="109728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9404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38" r:id="rId10"/>
    <p:sldLayoutId id="2147483739" r:id="rId11"/>
    <p:sldLayoutId id="2147483740" r:id="rId12"/>
    <p:sldLayoutId id="2147483741" r:id="rId13"/>
    <p:sldLayoutId id="2147483742" r:id="rId14"/>
    <p:sldLayoutId id="2147483743" r:id="rId15"/>
    <p:sldLayoutId id="2147483744" r:id="rId16"/>
    <p:sldLayoutId id="2147483745" r:id="rId17"/>
    <p:sldLayoutId id="2147483746" r:id="rId18"/>
    <p:sldLayoutId id="2147483747" r:id="rId19"/>
    <p:sldLayoutId id="2147483748" r:id="rId20"/>
  </p:sldLayoutIdLst>
  <p:hf sldNum="0" hdr="0" ftr="0" dt="0"/>
  <p:txStyles>
    <p:titleStyle>
      <a:lvl1pPr algn="l" defTabSz="548640" rtl="0" eaLnBrk="1" latinLnBrk="0" hangingPunct="1">
        <a:spcBef>
          <a:spcPct val="0"/>
        </a:spcBef>
        <a:buNone/>
        <a:defRPr sz="336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67200" indent="-367200" algn="l" defTabSz="548640" rtl="0" eaLnBrk="1" latinLnBrk="0" hangingPunct="1">
        <a:spcBef>
          <a:spcPct val="20000"/>
        </a:spcBef>
        <a:spcAft>
          <a:spcPts val="72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2160" kern="1200">
          <a:solidFill>
            <a:schemeClr val="tx2"/>
          </a:solidFill>
          <a:latin typeface="+mn-lt"/>
          <a:ea typeface="+mn-ea"/>
          <a:cs typeface="+mn-cs"/>
        </a:defRPr>
      </a:lvl1pPr>
      <a:lvl2pPr marL="756000" indent="-367200" algn="l" defTabSz="548640" rtl="0" eaLnBrk="1" latinLnBrk="0" hangingPunct="1">
        <a:spcBef>
          <a:spcPct val="20000"/>
        </a:spcBef>
        <a:spcAft>
          <a:spcPts val="72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920" kern="1200">
          <a:solidFill>
            <a:schemeClr val="tx2"/>
          </a:solidFill>
          <a:latin typeface="+mn-lt"/>
          <a:ea typeface="+mn-ea"/>
          <a:cs typeface="+mn-cs"/>
        </a:defRPr>
      </a:lvl2pPr>
      <a:lvl3pPr marL="1080000" indent="-324000" algn="l" defTabSz="548640" rtl="0" eaLnBrk="1" latinLnBrk="0" hangingPunct="1">
        <a:spcBef>
          <a:spcPct val="20000"/>
        </a:spcBef>
        <a:spcAft>
          <a:spcPts val="72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80" kern="1200">
          <a:solidFill>
            <a:schemeClr val="tx2"/>
          </a:solidFill>
          <a:latin typeface="+mn-lt"/>
          <a:ea typeface="+mn-ea"/>
          <a:cs typeface="+mn-cs"/>
        </a:defRPr>
      </a:lvl3pPr>
      <a:lvl4pPr marL="1490400" indent="-280800" algn="l" defTabSz="548640" rtl="0" eaLnBrk="1" latinLnBrk="0" hangingPunct="1">
        <a:spcBef>
          <a:spcPct val="20000"/>
        </a:spcBef>
        <a:spcAft>
          <a:spcPts val="72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2"/>
          </a:solidFill>
          <a:latin typeface="+mn-lt"/>
          <a:ea typeface="+mn-ea"/>
          <a:cs typeface="+mn-cs"/>
        </a:defRPr>
      </a:lvl4pPr>
      <a:lvl5pPr marL="1922400" indent="-280800" algn="l" defTabSz="548640" rtl="0" eaLnBrk="1" latinLnBrk="0" hangingPunct="1">
        <a:spcBef>
          <a:spcPct val="20000"/>
        </a:spcBef>
        <a:spcAft>
          <a:spcPts val="72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2"/>
          </a:solidFill>
          <a:latin typeface="+mn-lt"/>
          <a:ea typeface="+mn-ea"/>
          <a:cs typeface="+mn-cs"/>
        </a:defRPr>
      </a:lvl5pPr>
      <a:lvl6pPr marL="2280000" indent="-274320" algn="l" defTabSz="548640" rtl="0" eaLnBrk="1" latinLnBrk="0" hangingPunct="1">
        <a:spcBef>
          <a:spcPct val="20000"/>
        </a:spcBef>
        <a:spcAft>
          <a:spcPts val="72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2"/>
          </a:solidFill>
          <a:latin typeface="+mn-lt"/>
          <a:ea typeface="+mn-ea"/>
          <a:cs typeface="+mn-cs"/>
        </a:defRPr>
      </a:lvl6pPr>
      <a:lvl7pPr marL="2640000" indent="-274320" algn="l" defTabSz="548640" rtl="0" eaLnBrk="1" latinLnBrk="0" hangingPunct="1">
        <a:spcBef>
          <a:spcPct val="20000"/>
        </a:spcBef>
        <a:spcAft>
          <a:spcPts val="72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2"/>
          </a:solidFill>
          <a:latin typeface="+mn-lt"/>
          <a:ea typeface="+mn-ea"/>
          <a:cs typeface="+mn-cs"/>
        </a:defRPr>
      </a:lvl7pPr>
      <a:lvl8pPr marL="3000000" indent="-274320" algn="l" defTabSz="548640" rtl="0" eaLnBrk="1" latinLnBrk="0" hangingPunct="1">
        <a:spcBef>
          <a:spcPct val="20000"/>
        </a:spcBef>
        <a:spcAft>
          <a:spcPts val="72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2"/>
          </a:solidFill>
          <a:latin typeface="+mn-lt"/>
          <a:ea typeface="+mn-ea"/>
          <a:cs typeface="+mn-cs"/>
        </a:defRPr>
      </a:lvl8pPr>
      <a:lvl9pPr marL="3360000" indent="-274320" algn="l" defTabSz="548640" rtl="0" eaLnBrk="1" latinLnBrk="0" hangingPunct="1">
        <a:spcBef>
          <a:spcPct val="20000"/>
        </a:spcBef>
        <a:spcAft>
          <a:spcPts val="72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31.png"/><Relationship Id="rId4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324142" y="678111"/>
            <a:ext cx="13306258" cy="745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Defesa de TCC - Sistemas de Informação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263439" y="1982534"/>
            <a:ext cx="5424130" cy="270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Gestão Atípicos: Sistema Web Seguro para Educação Inclusiva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793789" y="7023508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AUTOR: Marcos Guilherme Oliveira Lima</a:t>
            </a:r>
            <a:endParaRPr lang="en-US" sz="175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7AAC655-C865-4BD3-ADF1-3B4F98F8A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9" y="1609957"/>
            <a:ext cx="8040624" cy="50096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05288"/>
            <a:ext cx="866167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 Problema da Gestão Manual</a:t>
            </a:r>
            <a:endParaRPr lang="en-US" sz="4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10" y="3467695"/>
            <a:ext cx="121920" cy="24566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2524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Cenário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142524" y="4215408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Lei Brasileira de Inclusão obriga o atendimento especializado, mas muitas escolas ainda usam planilhas e papel.</a:t>
            </a:r>
            <a:endParaRPr lang="en-US" sz="17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482" y="3467695"/>
            <a:ext cx="121920" cy="245661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565696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Riscos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565696" y="4215408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Perda de histórico pedagógico e, principalmente, vulnerabilidade jurídica perante a LGPD.</a:t>
            </a:r>
            <a:endParaRPr lang="en-US" sz="17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53" y="3467695"/>
            <a:ext cx="121920" cy="245661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988868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Dados Sensíveis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9988868" y="4215408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Laudos médicos e diagnósticos de crianças expostos sem controle de acesso adequado.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63591"/>
            <a:ext cx="568571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A Solução Proposta</a:t>
            </a:r>
            <a:endParaRPr lang="en-US" sz="4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3452813"/>
            <a:ext cx="680442" cy="680442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7770" y="3639860"/>
            <a:ext cx="306110" cy="30611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20604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Objetivo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1020604" y="4850487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Web Centralizado para gestão de alunos atípicos.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3776" y="3452813"/>
            <a:ext cx="680442" cy="680442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30942" y="3639860"/>
            <a:ext cx="306110" cy="30611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443776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Público-Alvo</a:t>
            </a:r>
            <a:endParaRPr lang="en-US" sz="2200" dirty="0"/>
          </a:p>
        </p:txBody>
      </p:sp>
      <p:sp>
        <p:nvSpPr>
          <p:cNvPr id="12" name="Text 6"/>
          <p:cNvSpPr/>
          <p:nvPr/>
        </p:nvSpPr>
        <p:spPr>
          <a:xfrm>
            <a:off x="5443776" y="4850487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Conecta Gestores, Cuidadores e Responsáveis em uma única plataforma.</a:t>
            </a:r>
            <a:endParaRPr lang="en-US" sz="17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66948" y="3452813"/>
            <a:ext cx="680442" cy="680442"/>
          </a:xfrm>
          <a:prstGeom prst="rect">
            <a:avLst/>
          </a:prstGeom>
        </p:spPr>
      </p:pic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054114" y="3639860"/>
            <a:ext cx="306110" cy="30611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9866948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Foco</a:t>
            </a:r>
            <a:endParaRPr lang="en-US" sz="2200" dirty="0"/>
          </a:p>
        </p:txBody>
      </p:sp>
      <p:sp>
        <p:nvSpPr>
          <p:cNvPr id="17" name="Text 9"/>
          <p:cNvSpPr/>
          <p:nvPr/>
        </p:nvSpPr>
        <p:spPr>
          <a:xfrm>
            <a:off x="9866948" y="4850487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Substituir processos manuais por um "cofre digital" seguro e acessível.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2688" y="671036"/>
            <a:ext cx="5582245" cy="4935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50"/>
              </a:lnSpc>
              <a:buNone/>
            </a:pPr>
            <a:r>
              <a:rPr lang="en-US" sz="31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Stack Tecnológica Moderna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52688" y="1322427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20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52688" y="1727002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200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 com TypeScript e Tailwind CSS (Foco </a:t>
            </a:r>
            <a:r>
              <a:rPr lang="en-US" sz="2000" dirty="0" err="1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em</a:t>
            </a:r>
            <a:r>
              <a:rPr lang="en-US" sz="200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</a:t>
            </a: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Usabilidade</a:t>
            </a:r>
            <a:r>
              <a:rPr lang="en-US" sz="200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 Acessibilidade).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52688" y="2137410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200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20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52688" y="2541984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endParaRPr lang="en-US" sz="20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Supabase</a:t>
            </a:r>
            <a:r>
              <a:rPr lang="en-US" sz="200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(Backend as a Service).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52688" y="2952393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200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2000" dirty="0" err="1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Infraestrutura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52688" y="3356967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endParaRPr lang="en-US" sz="20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Vercel</a:t>
            </a:r>
            <a:r>
              <a:rPr lang="en-US" sz="200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(Serverless Edge).</a:t>
            </a:r>
            <a:endParaRPr lang="en-US" sz="20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843" y="680978"/>
            <a:ext cx="6569869" cy="65698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515463" y="8089702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515463" y="8494276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Arquitetura Serverless para alta disponibilidade e baixo custo de manutenção.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182E9254-4604-4F35-A97B-2F5A07010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99" y="4114800"/>
            <a:ext cx="6197537" cy="394554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8C9D543-13D8-4E6F-8174-121F091A8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178" y="102943"/>
            <a:ext cx="6197537" cy="3908744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B5611B86-D18B-4E1B-B711-21C20CBA42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9178" y="4217913"/>
            <a:ext cx="6197537" cy="3879513"/>
          </a:xfrm>
          <a:prstGeom prst="rect">
            <a:avLst/>
          </a:prstGeom>
        </p:spPr>
      </p:pic>
      <p:sp>
        <p:nvSpPr>
          <p:cNvPr id="15" name="CaixaDeTexto 14">
            <a:extLst>
              <a:ext uri="{FF2B5EF4-FFF2-40B4-BE49-F238E27FC236}">
                <a16:creationId xmlns:a16="http://schemas.microsoft.com/office/drawing/2014/main" id="{7B56537A-028B-4AB2-9BA2-B052A806F071}"/>
              </a:ext>
            </a:extLst>
          </p:cNvPr>
          <p:cNvSpPr txBox="1"/>
          <p:nvPr/>
        </p:nvSpPr>
        <p:spPr>
          <a:xfrm>
            <a:off x="605599" y="878278"/>
            <a:ext cx="7315200" cy="1433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28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Prints das </a:t>
            </a:r>
            <a:r>
              <a:rPr lang="en-US" sz="2800" dirty="0" err="1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Telas</a:t>
            </a:r>
            <a:r>
              <a:rPr lang="en-US" sz="28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do Gestor, </a:t>
            </a:r>
            <a:r>
              <a:rPr lang="en-US" sz="2800" dirty="0" err="1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Cuidador</a:t>
            </a:r>
            <a:r>
              <a:rPr lang="en-US" sz="28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e </a:t>
            </a:r>
            <a:r>
              <a:rPr lang="en-US" sz="2800" dirty="0" err="1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Responsável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39543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25918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Engenharia de Segurança - Row Level Security (RLS)</a:t>
            </a:r>
            <a:endParaRPr lang="en-US" sz="4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806785"/>
            <a:ext cx="4196358" cy="1219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1688" y="3497104"/>
            <a:ext cx="680442" cy="68044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5761" y="3701177"/>
            <a:ext cx="272177" cy="272177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051084" y="4404241"/>
            <a:ext cx="301990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 Grande Diferencial</a:t>
            </a:r>
            <a:endParaRPr lang="en-US" sz="2200" dirty="0"/>
          </a:p>
        </p:txBody>
      </p:sp>
      <p:sp>
        <p:nvSpPr>
          <p:cNvPr id="8" name="Text 3"/>
          <p:cNvSpPr/>
          <p:nvPr/>
        </p:nvSpPr>
        <p:spPr>
          <a:xfrm>
            <a:off x="1051084" y="489465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segurança não depende apenas da API, mas é aplicada diretamente no Banco de Dados (PostgreSQL).</a:t>
            </a:r>
            <a:endParaRPr lang="en-US" sz="17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962" y="3806785"/>
            <a:ext cx="4196358" cy="121920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860" y="3497104"/>
            <a:ext cx="680442" cy="680442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933" y="3701177"/>
            <a:ext cx="272177" cy="272177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5474256" y="44042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Política de Acesso</a:t>
            </a:r>
            <a:endParaRPr lang="en-US" sz="2200" dirty="0"/>
          </a:p>
        </p:txBody>
      </p:sp>
      <p:sp>
        <p:nvSpPr>
          <p:cNvPr id="14" name="Text 6"/>
          <p:cNvSpPr/>
          <p:nvPr/>
        </p:nvSpPr>
        <p:spPr>
          <a:xfrm>
            <a:off x="5474256" y="489465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Mesmo com a chave pública exposta no frontend, o banco recusa a leitura de dados se o usuário não tiver o token correto.</a:t>
            </a:r>
            <a:endParaRPr lang="en-US" sz="1750" dirty="0"/>
          </a:p>
        </p:txBody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133" y="3806785"/>
            <a:ext cx="4196358" cy="121920"/>
          </a:xfrm>
          <a:prstGeom prst="rect">
            <a:avLst/>
          </a:prstGeom>
        </p:spPr>
      </p:pic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8032" y="3497104"/>
            <a:ext cx="680442" cy="680442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2105" y="3701177"/>
            <a:ext cx="272177" cy="272177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9897427" y="44042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Isolamento</a:t>
            </a:r>
            <a:endParaRPr lang="en-US" sz="2200" dirty="0"/>
          </a:p>
        </p:txBody>
      </p:sp>
      <p:sp>
        <p:nvSpPr>
          <p:cNvPr id="20" name="Text 9"/>
          <p:cNvSpPr/>
          <p:nvPr/>
        </p:nvSpPr>
        <p:spPr>
          <a:xfrm>
            <a:off x="9897427" y="4894659"/>
            <a:ext cx="368177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Um Cuidador jamais consegue acessar dados de alunos que não são seus.</a:t>
            </a:r>
            <a:endParaRPr lang="en-US" sz="1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B35A76E3-FF30-4085-AD23-4D40B6265F76}"/>
              </a:ext>
            </a:extLst>
          </p:cNvPr>
          <p:cNvSpPr txBox="1"/>
          <p:nvPr/>
        </p:nvSpPr>
        <p:spPr>
          <a:xfrm>
            <a:off x="457200" y="494230"/>
            <a:ext cx="7315200" cy="74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Diagrama</a:t>
            </a:r>
            <a:r>
              <a:rPr lang="en-US" sz="3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do Banco de Dados</a:t>
            </a:r>
            <a:endParaRPr lang="en-US" sz="3200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561C7D75-C87F-4FA6-8E8D-6C805ECAF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9762"/>
            <a:ext cx="12553950" cy="614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419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976432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Validação de Segurança (Pentest)</a:t>
            </a:r>
            <a:endParaRPr lang="en-US" sz="4450" dirty="0"/>
          </a:p>
        </p:txBody>
      </p:sp>
      <p:sp>
        <p:nvSpPr>
          <p:cNvPr id="6" name="Text 2"/>
          <p:cNvSpPr/>
          <p:nvPr/>
        </p:nvSpPr>
        <p:spPr>
          <a:xfrm>
            <a:off x="793790" y="296096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Metodologia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93790" y="3542109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Testes de Penetração Black-Box baseados no OWASP ASVS.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793790" y="449472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Ferramenta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93790" y="5075873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Burp Suite.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4856321" y="296096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Resultados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4856321" y="3542109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SQL Injection: Mitigado.</a:t>
            </a:r>
            <a:endParaRPr lang="en-US" sz="1750" dirty="0"/>
          </a:p>
        </p:txBody>
      </p:sp>
      <p:sp>
        <p:nvSpPr>
          <p:cNvPr id="12" name="Text 8"/>
          <p:cNvSpPr/>
          <p:nvPr/>
        </p:nvSpPr>
        <p:spPr>
          <a:xfrm>
            <a:off x="4856321" y="3984308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XSS (Cross-Site Scripting): Mitigado.</a:t>
            </a:r>
            <a:endParaRPr lang="en-US" sz="1750" dirty="0"/>
          </a:p>
        </p:txBody>
      </p:sp>
      <p:sp>
        <p:nvSpPr>
          <p:cNvPr id="13" name="Text 9"/>
          <p:cNvSpPr/>
          <p:nvPr/>
        </p:nvSpPr>
        <p:spPr>
          <a:xfrm>
            <a:off x="4856321" y="4789408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Escalação de Privilégios: Bloqueada.</a:t>
            </a:r>
            <a:endParaRPr lang="en-US" sz="1750" dirty="0"/>
          </a:p>
        </p:txBody>
      </p:sp>
      <p:sp>
        <p:nvSpPr>
          <p:cNvPr id="14" name="Text 10"/>
          <p:cNvSpPr/>
          <p:nvPr/>
        </p:nvSpPr>
        <p:spPr>
          <a:xfrm>
            <a:off x="4856321" y="574202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Status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856321" y="6323171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Aplicação aprovada sem vulnerabilidades críticas.</a:t>
            </a:r>
            <a:endParaRPr lang="en-US" sz="1750" dirty="0"/>
          </a:p>
        </p:txBody>
      </p:sp>
      <p:pic>
        <p:nvPicPr>
          <p:cNvPr id="1026" name="Picture 2" descr="All about the xz-utils backdoor | Kali Linux Blog">
            <a:extLst>
              <a:ext uri="{FF2B5EF4-FFF2-40B4-BE49-F238E27FC236}">
                <a16:creationId xmlns:a16="http://schemas.microsoft.com/office/drawing/2014/main" id="{A91749F3-0528-42F3-85F1-578A8A38F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0" y="2578608"/>
            <a:ext cx="5486400" cy="3072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22609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Defesa em Profundidade (Advanced Security)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sp>
        <p:nvSpPr>
          <p:cNvPr id="4" name="Text 2"/>
          <p:cNvSpPr/>
          <p:nvPr/>
        </p:nvSpPr>
        <p:spPr>
          <a:xfrm>
            <a:off x="2721888" y="3821311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1</a:t>
            </a:r>
            <a:endParaRPr lang="en-US" sz="2650" dirty="0"/>
          </a:p>
        </p:txBody>
      </p:sp>
      <p:sp>
        <p:nvSpPr>
          <p:cNvPr id="5" name="Text 3"/>
          <p:cNvSpPr/>
          <p:nvPr/>
        </p:nvSpPr>
        <p:spPr>
          <a:xfrm>
            <a:off x="1020604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Honeytokens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20604" y="5091470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Credenciais falsas inseridas no código para atrair e detectar invasores.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5216962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5060" y="3863816"/>
            <a:ext cx="340162" cy="3401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43776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Canary Endpoints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443776" y="5091470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Rotas monitoradas que disparam alertas ao serem acessadas.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9640133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8232" y="3863816"/>
            <a:ext cx="340162" cy="3401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866948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SIEM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9866948" y="5091470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Monitoramento de logs em tempo real para resposta a incidentes.</a:t>
            </a:r>
            <a:endParaRPr lang="en-US" sz="1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38644D29-EC5D-280F-22C4-D0595EE18357}"/>
              </a:ext>
            </a:extLst>
          </p:cNvPr>
          <p:cNvSpPr txBox="1"/>
          <p:nvPr/>
        </p:nvSpPr>
        <p:spPr>
          <a:xfrm>
            <a:off x="4033701" y="905864"/>
            <a:ext cx="7315200" cy="701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2000" dirty="0" err="1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Aplicativo</a:t>
            </a:r>
            <a:r>
              <a:rPr lang="en-US" sz="20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 PWA e Capacitor (</a:t>
            </a:r>
            <a:r>
              <a:rPr lang="en-US" sz="2000" dirty="0" err="1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Aplicativo</a:t>
            </a:r>
            <a:r>
              <a:rPr lang="en-US" sz="20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Nativo)</a:t>
            </a:r>
            <a:endParaRPr lang="en-US" sz="2000" dirty="0"/>
          </a:p>
        </p:txBody>
      </p:sp>
      <p:pic>
        <p:nvPicPr>
          <p:cNvPr id="1028" name="Picture 4" descr="GitHub - ionic-team/capacitor: Build cross-platform Native Progressive Web  Apps for iOS, Android, and the Web ⚡️">
            <a:extLst>
              <a:ext uri="{FF2B5EF4-FFF2-40B4-BE49-F238E27FC236}">
                <a16:creationId xmlns:a16="http://schemas.microsoft.com/office/drawing/2014/main" id="{23184D27-678E-B520-AFA4-C9637F665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2996" y="2861935"/>
            <a:ext cx="6593597" cy="1978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5 Progressive Web App Alternatives to Popular Android Apps - DroidViews">
            <a:extLst>
              <a:ext uri="{FF2B5EF4-FFF2-40B4-BE49-F238E27FC236}">
                <a16:creationId xmlns:a16="http://schemas.microsoft.com/office/drawing/2014/main" id="{02419F5C-803E-A809-7BFD-AC7DACEA9E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422" y="2235254"/>
            <a:ext cx="5974530" cy="3345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5918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171462"/>
            <a:ext cx="626625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Resultados e Impacto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100%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1455420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Conformidade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4969431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100% adequado à LGPD (Proteção de dados de menores).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235893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Eficiência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5897523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Eficiência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235893" y="4969431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Eliminação de papéis e comunicação em tempo real entre escola e família.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9677995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Conclusão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10339626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Conclusão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77995" y="4969431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 projeto prova que é possível criar software educacional acessível com segurança de nível empresarial.</a:t>
            </a:r>
            <a:endParaRPr lang="en-US" sz="1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037374" y="353137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4450" dirty="0"/>
          </a:p>
        </p:txBody>
      </p:sp>
      <p:sp>
        <p:nvSpPr>
          <p:cNvPr id="7" name="Text 3"/>
          <p:cNvSpPr/>
          <p:nvPr/>
        </p:nvSpPr>
        <p:spPr>
          <a:xfrm>
            <a:off x="793790" y="453211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850"/>
              </a:lnSpc>
              <a:buSzPct val="100000"/>
            </a:pP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647486" y="6375321"/>
            <a:ext cx="11341298" cy="1417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50"/>
              </a:lnSpc>
              <a:buNone/>
            </a:pPr>
            <a:r>
              <a:rPr lang="en-US" sz="8900" dirty="0" err="1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Obrigado</a:t>
            </a:r>
            <a:r>
              <a:rPr lang="en-US" sz="8900" dirty="0"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!</a:t>
            </a:r>
            <a:endParaRPr lang="en-US" sz="89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FBED14E-1F8C-4F1E-AF2A-C7365A090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4007" y="5035736"/>
            <a:ext cx="2978634" cy="2978634"/>
          </a:xfrm>
          <a:prstGeom prst="rect">
            <a:avLst/>
          </a:prstGeom>
        </p:spPr>
      </p:pic>
      <p:sp>
        <p:nvSpPr>
          <p:cNvPr id="15" name="Rectangle 3">
            <a:extLst>
              <a:ext uri="{FF2B5EF4-FFF2-40B4-BE49-F238E27FC236}">
                <a16:creationId xmlns:a16="http://schemas.microsoft.com/office/drawing/2014/main" id="{B95D66E8-1440-4AAF-A19B-605D4C5F9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46304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17" name="Rectangle 4">
            <a:extLst>
              <a:ext uri="{FF2B5EF4-FFF2-40B4-BE49-F238E27FC236}">
                <a16:creationId xmlns:a16="http://schemas.microsoft.com/office/drawing/2014/main" id="{33318588-2B59-41CF-B419-FF6853AA09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146304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8173513C-5A1A-428E-AE8E-5EEE3356F79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32540" y="0"/>
            <a:ext cx="5277803" cy="5277803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E88D8652-CC34-4615-879F-1D7980A05AAC}"/>
              </a:ext>
            </a:extLst>
          </p:cNvPr>
          <p:cNvSpPr txBox="1"/>
          <p:nvPr/>
        </p:nvSpPr>
        <p:spPr>
          <a:xfrm>
            <a:off x="11026966" y="4181846"/>
            <a:ext cx="3152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o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o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o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TM03457464[[fn=Dividendo]]</Template>
  <TotalTime>136</TotalTime>
  <Words>415</Words>
  <Application>Microsoft Office PowerPoint</Application>
  <PresentationFormat>Personalizar</PresentationFormat>
  <Paragraphs>80</Paragraphs>
  <Slides>12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7" baseType="lpstr">
      <vt:lpstr>Sora Medium</vt:lpstr>
      <vt:lpstr>Wingdings 2</vt:lpstr>
      <vt:lpstr>Gill Sans MT</vt:lpstr>
      <vt:lpstr>Noto Sans TC</vt:lpstr>
      <vt:lpstr>Dividendo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>santa fe</dc:creator>
  <cp:lastModifiedBy>Marcos Guilherme</cp:lastModifiedBy>
  <cp:revision>12</cp:revision>
  <dcterms:created xsi:type="dcterms:W3CDTF">2025-12-19T16:50:19Z</dcterms:created>
  <dcterms:modified xsi:type="dcterms:W3CDTF">2026-04-15T23:26:23Z</dcterms:modified>
</cp:coreProperties>
</file>