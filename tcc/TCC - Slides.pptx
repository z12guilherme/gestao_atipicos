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3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8288000" cy="10287000"/>
  <p:notesSz cx="6858000" cy="9144000"/>
  <p:embeddedFontLst>
    <p:embeddedFont>
      <p:font typeface="Calibri (MS)" charset="1" panose="020F0502020204030204"/>
      <p:regular r:id="rId26"/>
    </p:embeddedFont>
    <p:embeddedFont>
      <p:font typeface="Calibri (MS) Bold" charset="1" panose="020F0702030404030204"/>
      <p:regular r:id="rId27"/>
    </p:embeddedFont>
    <p:embeddedFont>
      <p:font typeface="Noto Sans" charset="1" panose="020B0502040504020204"/>
      <p:regular r:id="rId31"/>
    </p:embeddedFont>
    <p:embeddedFont>
      <p:font typeface="Arimo" charset="1" panose="020B0604020202020204"/>
      <p:regular r:id="rId33"/>
    </p:embeddedFont>
    <p:embeddedFont>
      <p:font typeface="Gill Sans Bold" charset="1" panose="020B0802020104020203"/>
      <p:regular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notesMasters/notesMaster1.xml" Type="http://schemas.openxmlformats.org/officeDocument/2006/relationships/notesMaster"/><Relationship Id="rId24" Target="theme/theme2.xml" Type="http://schemas.openxmlformats.org/officeDocument/2006/relationships/theme"/><Relationship Id="rId25" Target="notesSlides/notesSlide1.xml" Type="http://schemas.openxmlformats.org/officeDocument/2006/relationships/notesSlide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notesSlides/notesSlide2.xml" Type="http://schemas.openxmlformats.org/officeDocument/2006/relationships/notesSlide"/><Relationship Id="rId29" Target="notesSlides/notesSlide3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4.xml" Type="http://schemas.openxmlformats.org/officeDocument/2006/relationships/notesSlide"/><Relationship Id="rId31" Target="fonts/font31.fntdata" Type="http://schemas.openxmlformats.org/officeDocument/2006/relationships/font"/><Relationship Id="rId32" Target="notesSlides/notesSlide5.xml" Type="http://schemas.openxmlformats.org/officeDocument/2006/relationships/notesSlide"/><Relationship Id="rId33" Target="fonts/font33.fntdata" Type="http://schemas.openxmlformats.org/officeDocument/2006/relationships/font"/><Relationship Id="rId34" Target="notesSlides/notesSlide6.xml" Type="http://schemas.openxmlformats.org/officeDocument/2006/relationships/notesSlide"/><Relationship Id="rId35" Target="notesSlides/notesSlide7.xml" Type="http://schemas.openxmlformats.org/officeDocument/2006/relationships/notesSlide"/><Relationship Id="rId36" Target="notesSlides/notesSlide8.xml" Type="http://schemas.openxmlformats.org/officeDocument/2006/relationships/notesSlide"/><Relationship Id="rId37" Target="notesSlides/notesSlide9.xml" Type="http://schemas.openxmlformats.org/officeDocument/2006/relationships/notesSlide"/><Relationship Id="rId38" Target="fonts/font38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7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1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2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3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4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6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8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9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11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1.7.2013</a:t>
            </a:r>
          </a:p>
          <a:p>
            <a:r>
              <a:rPr lang="en-US"/>
              <a:t/>
            </a:r>
          </a:p>
          <a:p>
            <a:r>
              <a:rPr lang="en-US"/>
              <a:t>12</a:t>
            </a:r>
          </a:p>
          <a:p>
            <a:r>
              <a:rPr lang="en-US"/>
              <a:t/>
            </a:r>
          </a:p>
          <a:p>
            <a:r>
              <a:rPr lang="en-US"/>
              <a:t>‹#›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Relationship Id="rId4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3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8.png" Type="http://schemas.openxmlformats.org/officeDocument/2006/relationships/image"/><Relationship Id="rId7" Target="../media/image9.svg" Type="http://schemas.openxmlformats.org/officeDocument/2006/relationships/image"/><Relationship Id="rId8" Target="../media/image10.png" Type="http://schemas.openxmlformats.org/officeDocument/2006/relationships/image"/><Relationship Id="rId9" Target="../media/image11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14.png" Type="http://schemas.openxmlformats.org/officeDocument/2006/relationships/image"/><Relationship Id="rId5" Target="../media/image15.svg" Type="http://schemas.openxmlformats.org/officeDocument/2006/relationships/image"/><Relationship Id="rId6" Target="../media/image16.png" Type="http://schemas.openxmlformats.org/officeDocument/2006/relationships/image"/><Relationship Id="rId7" Target="../media/image17.svg" Type="http://schemas.openxmlformats.org/officeDocument/2006/relationships/image"/><Relationship Id="rId8" Target="../media/image18.png" Type="http://schemas.openxmlformats.org/officeDocument/2006/relationships/image"/><Relationship Id="rId9" Target="../media/image19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26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jpeg" Type="http://schemas.openxmlformats.org/officeDocument/2006/relationships/image"/><Relationship Id="rId3" Target="../media/image28.jpeg" Type="http://schemas.openxmlformats.org/officeDocument/2006/relationships/image"/><Relationship Id="rId4" Target="../media/image29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30.png" Type="http://schemas.openxmlformats.org/officeDocument/2006/relationships/image"/><Relationship Id="rId4" Target="../media/image31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33.png" Type="http://schemas.openxmlformats.org/officeDocument/2006/relationships/image"/><Relationship Id="rId4" Target="../media/image34.png" Type="http://schemas.openxmlformats.org/officeDocument/2006/relationships/image"/><Relationship Id="rId5" Target="../media/image35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36.png" Type="http://schemas.openxmlformats.org/officeDocument/2006/relationships/image"/><Relationship Id="rId4" Target="../media/image37.svg" Type="http://schemas.openxmlformats.org/officeDocument/2006/relationships/image"/><Relationship Id="rId5" Target="../media/image38.png" Type="http://schemas.openxmlformats.org/officeDocument/2006/relationships/image"/><Relationship Id="rId6" Target="../media/image39.svg" Type="http://schemas.openxmlformats.org/officeDocument/2006/relationships/image"/><Relationship Id="rId7" Target="../media/image40.png" Type="http://schemas.openxmlformats.org/officeDocument/2006/relationships/image"/><Relationship Id="rId8" Target="../media/image41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2.png" Type="http://schemas.openxmlformats.org/officeDocument/2006/relationships/image"/><Relationship Id="rId3" Target="../media/image43.jpe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4.png" Type="http://schemas.openxmlformats.org/officeDocument/2006/relationships/image"/><Relationship Id="rId3" Target="../media/image45.svg" Type="http://schemas.openxmlformats.org/officeDocument/2006/relationships/image"/><Relationship Id="rId4" Target="../media/image46.png" Type="http://schemas.openxmlformats.org/officeDocument/2006/relationships/image"/><Relationship Id="rId5" Target="../media/image47.svg" Type="http://schemas.openxmlformats.org/officeDocument/2006/relationships/image"/><Relationship Id="rId6" Target="../media/image48.png" Type="http://schemas.openxmlformats.org/officeDocument/2006/relationships/image"/><Relationship Id="rId7" Target="../media/image49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50.png" Type="http://schemas.openxmlformats.org/officeDocument/2006/relationships/image"/><Relationship Id="rId4" Target="../media/image1.png" Type="http://schemas.openxmlformats.org/officeDocument/2006/relationships/image"/><Relationship Id="rId5" Target="../media/image5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329298" y="4229100"/>
            <a:ext cx="6780162" cy="27740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Gestão Atípicos: Sistema Web Seguro para Educação Inclusiva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858000" y="9572625"/>
            <a:ext cx="3158557" cy="490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3200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Belo Jardim, 2026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0" y="1319679"/>
            <a:ext cx="2788872" cy="2788872"/>
            <a:chOff x="0" y="0"/>
            <a:chExt cx="3718496" cy="371849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718433" cy="3718433"/>
            </a:xfrm>
            <a:custGeom>
              <a:avLst/>
              <a:gdLst/>
              <a:ahLst/>
              <a:cxnLst/>
              <a:rect r="r" b="b" t="t" l="l"/>
              <a:pathLst>
                <a:path h="3718433" w="3718433">
                  <a:moveTo>
                    <a:pt x="0" y="0"/>
                  </a:moveTo>
                  <a:lnTo>
                    <a:pt x="3718433" y="0"/>
                  </a:lnTo>
                  <a:lnTo>
                    <a:pt x="3718433" y="3718433"/>
                  </a:lnTo>
                  <a:lnTo>
                    <a:pt x="0" y="37184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-1" b="-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7658862" y="1319679"/>
            <a:ext cx="9959340" cy="7590472"/>
            <a:chOff x="0" y="0"/>
            <a:chExt cx="13279120" cy="1012063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3279120" cy="10120630"/>
            </a:xfrm>
            <a:custGeom>
              <a:avLst/>
              <a:gdLst/>
              <a:ahLst/>
              <a:cxnLst/>
              <a:rect r="r" b="b" t="t" l="l"/>
              <a:pathLst>
                <a:path h="10120630" w="13279120">
                  <a:moveTo>
                    <a:pt x="0" y="0"/>
                  </a:moveTo>
                  <a:lnTo>
                    <a:pt x="13279120" y="0"/>
                  </a:lnTo>
                  <a:lnTo>
                    <a:pt x="13279120" y="10120630"/>
                  </a:lnTo>
                  <a:lnTo>
                    <a:pt x="0" y="10120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21542" b="0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9798" y="1409167"/>
            <a:ext cx="155981" cy="3070765"/>
            <a:chOff x="0" y="0"/>
            <a:chExt cx="207975" cy="4094353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208026" cy="4094353"/>
            </a:xfrm>
            <a:custGeom>
              <a:avLst/>
              <a:gdLst/>
              <a:ahLst/>
              <a:cxnLst/>
              <a:rect r="r" b="b" t="t" l="l"/>
              <a:pathLst>
                <a:path h="4094353" w="208026">
                  <a:moveTo>
                    <a:pt x="0" y="0"/>
                  </a:moveTo>
                  <a:lnTo>
                    <a:pt x="208026" y="0"/>
                  </a:lnTo>
                  <a:lnTo>
                    <a:pt x="208026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01" t="0" r="-17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328515" y="1409167"/>
            <a:ext cx="155981" cy="3070765"/>
            <a:chOff x="0" y="0"/>
            <a:chExt cx="207975" cy="4094353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208026" cy="4094353"/>
            </a:xfrm>
            <a:custGeom>
              <a:avLst/>
              <a:gdLst/>
              <a:ahLst/>
              <a:cxnLst/>
              <a:rect r="r" b="b" t="t" l="l"/>
              <a:pathLst>
                <a:path h="4094353" w="208026">
                  <a:moveTo>
                    <a:pt x="0" y="0"/>
                  </a:moveTo>
                  <a:lnTo>
                    <a:pt x="208026" y="0"/>
                  </a:lnTo>
                  <a:lnTo>
                    <a:pt x="208026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01" t="0" r="-17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987232" y="1409167"/>
            <a:ext cx="155981" cy="3070765"/>
            <a:chOff x="0" y="0"/>
            <a:chExt cx="207975" cy="4094353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208026" cy="4094353"/>
            </a:xfrm>
            <a:custGeom>
              <a:avLst/>
              <a:gdLst/>
              <a:ahLst/>
              <a:cxnLst/>
              <a:rect r="r" b="b" t="t" l="l"/>
              <a:pathLst>
                <a:path h="4094353" w="208026">
                  <a:moveTo>
                    <a:pt x="0" y="0"/>
                  </a:moveTo>
                  <a:lnTo>
                    <a:pt x="208026" y="0"/>
                  </a:lnTo>
                  <a:lnTo>
                    <a:pt x="208026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01" t="0" r="-170" b="0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628612" y="5899166"/>
            <a:ext cx="16948404" cy="1132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3"/>
              </a:lnSpc>
            </a:pPr>
            <a:r>
              <a:rPr lang="en-US" sz="3361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Como desenvolver um sistema web seguro, acessível e funcional que centralize a gestão de alunos atípicos, facilitando o trabalho de gestores, cuidadores e responsáveis?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50372" y="1635538"/>
            <a:ext cx="1330728" cy="477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Cenário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50372" y="2153307"/>
            <a:ext cx="4593231" cy="190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Lei Brasileira de Inclusão, n° 13.146 obriga o atendimento especializado, mas muitas escolas ainda usam planilhas e papel.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806194" y="1635538"/>
            <a:ext cx="1172175" cy="477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Riscos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06194" y="2153307"/>
            <a:ext cx="4593231" cy="144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Perda de histórico pedagógico e, principalmente, vulnerabilidade jurídica perante a LGPD.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464910" y="1635538"/>
            <a:ext cx="2840926" cy="478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Dados Sensíveis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464910" y="2153307"/>
            <a:ext cx="4593231" cy="14538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Laudos médicos e diagnósticos de crianças expostos sem controle de acesso adequado.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667854" y="981037"/>
            <a:ext cx="2944768" cy="10042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Objetivos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669798" y="2837717"/>
            <a:ext cx="15711240" cy="41538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8"/>
              </a:lnSpc>
            </a:pPr>
            <a:r>
              <a:rPr lang="en-US" sz="29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 Geral:</a:t>
            </a:r>
          </a:p>
          <a:p>
            <a:pPr algn="l">
              <a:lnSpc>
                <a:spcPts val="4199"/>
              </a:lnSpc>
            </a:pPr>
          </a:p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Desenvolver um sistema web seguro e centralizado para a gestão de alunos com necessidades especiais.</a:t>
            </a:r>
          </a:p>
          <a:p>
            <a:pPr algn="l">
              <a:lnSpc>
                <a:spcPts val="3499"/>
              </a:lnSpc>
            </a:pPr>
          </a:p>
          <a:p>
            <a:pPr algn="l">
              <a:lnSpc>
                <a:spcPts val="4199"/>
              </a:lnSpc>
            </a:pPr>
          </a:p>
          <a:p>
            <a:pPr algn="l">
              <a:lnSpc>
                <a:spcPts val="4199"/>
              </a:lnSpc>
            </a:pPr>
          </a:p>
          <a:p>
            <a:pPr algn="l">
              <a:lnSpc>
                <a:spcPts val="4199"/>
              </a:lnSpc>
            </a:pPr>
          </a:p>
          <a:p>
            <a:pPr algn="just">
              <a:lnSpc>
                <a:spcPts val="4198"/>
              </a:lnSpc>
            </a:pPr>
            <a:r>
              <a:rPr lang="en-US" sz="29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  Objetivos Específicos:  </a:t>
            </a:r>
          </a:p>
          <a:p>
            <a:pPr algn="l">
              <a:lnSpc>
                <a:spcPts val="4199"/>
              </a:lnSpc>
            </a:pPr>
          </a:p>
          <a:p>
            <a:pPr algn="l" marL="571378" indent="-190459" lvl="2">
              <a:lnSpc>
                <a:spcPts val="3499"/>
              </a:lnSpc>
              <a:buFont typeface="Arial"/>
              <a:buChar char="⚬"/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Substituir registros manuais por um "cofre digital".</a:t>
            </a:r>
          </a:p>
          <a:p>
            <a:pPr algn="l" marL="571378" indent="-190459" lvl="2">
              <a:lnSpc>
                <a:spcPts val="3499"/>
              </a:lnSpc>
              <a:buFont typeface="Arial"/>
              <a:buChar char="⚬"/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Implementar segurança em nível de banco de dados (RLS).</a:t>
            </a:r>
          </a:p>
          <a:p>
            <a:pPr algn="l" marL="571378" indent="-190459" lvl="2">
              <a:lnSpc>
                <a:spcPts val="3499"/>
              </a:lnSpc>
              <a:buFont typeface="Arial"/>
              <a:buChar char="⚬"/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Validar a aplicação contra vulnerabilidades críticas através de pentests.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2744905" y="2372363"/>
            <a:ext cx="1561976" cy="1493634"/>
          </a:xfrm>
          <a:custGeom>
            <a:avLst/>
            <a:gdLst/>
            <a:ahLst/>
            <a:cxnLst/>
            <a:rect r="r" b="b" t="t" l="l"/>
            <a:pathLst>
              <a:path h="1493634" w="1561976">
                <a:moveTo>
                  <a:pt x="0" y="0"/>
                </a:moveTo>
                <a:lnTo>
                  <a:pt x="1561976" y="0"/>
                </a:lnTo>
                <a:lnTo>
                  <a:pt x="1561976" y="1493634"/>
                </a:lnTo>
                <a:lnTo>
                  <a:pt x="0" y="14936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374" r="0" b="-374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2744905" y="4345476"/>
            <a:ext cx="1319260" cy="1618726"/>
          </a:xfrm>
          <a:custGeom>
            <a:avLst/>
            <a:gdLst/>
            <a:ahLst/>
            <a:cxnLst/>
            <a:rect r="r" b="b" t="t" l="l"/>
            <a:pathLst>
              <a:path h="1618726" w="1319260">
                <a:moveTo>
                  <a:pt x="0" y="0"/>
                </a:moveTo>
                <a:lnTo>
                  <a:pt x="1319260" y="0"/>
                </a:lnTo>
                <a:lnTo>
                  <a:pt x="1319260" y="1618727"/>
                </a:lnTo>
                <a:lnTo>
                  <a:pt x="0" y="161872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131" r="0" b="-131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2697604" y="6110821"/>
            <a:ext cx="1413872" cy="1665827"/>
          </a:xfrm>
          <a:custGeom>
            <a:avLst/>
            <a:gdLst/>
            <a:ahLst/>
            <a:cxnLst/>
            <a:rect r="r" b="b" t="t" l="l"/>
            <a:pathLst>
              <a:path h="1665827" w="1413872">
                <a:moveTo>
                  <a:pt x="0" y="0"/>
                </a:moveTo>
                <a:lnTo>
                  <a:pt x="1413872" y="0"/>
                </a:lnTo>
                <a:lnTo>
                  <a:pt x="1413872" y="1665827"/>
                </a:lnTo>
                <a:lnTo>
                  <a:pt x="0" y="166582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157" t="0" r="-157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2587695" y="7919523"/>
            <a:ext cx="1719186" cy="1719186"/>
          </a:xfrm>
          <a:custGeom>
            <a:avLst/>
            <a:gdLst/>
            <a:ahLst/>
            <a:cxnLst/>
            <a:rect r="r" b="b" t="t" l="l"/>
            <a:pathLst>
              <a:path h="1719186" w="1719186">
                <a:moveTo>
                  <a:pt x="0" y="0"/>
                </a:moveTo>
                <a:lnTo>
                  <a:pt x="1719186" y="0"/>
                </a:lnTo>
                <a:lnTo>
                  <a:pt x="1719186" y="1719186"/>
                </a:lnTo>
                <a:lnTo>
                  <a:pt x="0" y="171918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5311702" y="915048"/>
            <a:ext cx="7657071" cy="10042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Fundamentação Teórica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878762" y="3103178"/>
            <a:ext cx="11523926" cy="57285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28651" indent="-209550" lvl="2">
              <a:lnSpc>
                <a:spcPts val="3436"/>
              </a:lnSpc>
              <a:buFont typeface="Arial"/>
              <a:buChar char="⚬"/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Educação Inclusiva: Diretrizes da Lei nº 13.146/2015 (Estatuto da Pessoa com Deficiência) e a importância da gestão do Atendimento Educacional Especializado (AEE).</a:t>
            </a:r>
          </a:p>
          <a:p>
            <a:pPr algn="l" marL="628651" indent="-209550" lvl="2">
              <a:lnSpc>
                <a:spcPts val="3436"/>
              </a:lnSpc>
            </a:pPr>
          </a:p>
          <a:p>
            <a:pPr algn="l" marL="634683" indent="-211561" lvl="2">
              <a:lnSpc>
                <a:spcPts val="3436"/>
              </a:lnSpc>
              <a:buFont typeface="Arial"/>
              <a:buChar char="⚬"/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Privacidade e Ética: Diretrizes da LGPD (Lei nº 13.709/2018) voltadas para garantir o bem-estar das crianças e adolescentes e proteger informações pessoais delicadas, como dados de saúde.</a:t>
            </a:r>
          </a:p>
          <a:p>
            <a:pPr algn="l" marL="623349" indent="-207783" lvl="2">
              <a:lnSpc>
                <a:spcPts val="3436"/>
              </a:lnSpc>
            </a:pPr>
          </a:p>
          <a:p>
            <a:pPr algn="l" marL="628651" indent="-209550" lvl="2">
              <a:lnSpc>
                <a:spcPts val="3436"/>
              </a:lnSpc>
              <a:buFont typeface="Arial"/>
              <a:buChar char="⚬"/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Segurança da Informação: Adoção de padrões globais OWASP (Top 10 e ASVS) e aplicação da Modelagem de Ameaças STRIDE.</a:t>
            </a:r>
          </a:p>
          <a:p>
            <a:pPr algn="l" marL="628651" indent="-209550" lvl="2">
              <a:lnSpc>
                <a:spcPts val="3436"/>
              </a:lnSpc>
            </a:pPr>
          </a:p>
          <a:p>
            <a:pPr algn="l" marL="628651" indent="-209550" lvl="2">
              <a:lnSpc>
                <a:spcPts val="3436"/>
              </a:lnSpc>
              <a:buFont typeface="Arial"/>
              <a:buChar char="⚬"/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Arquitetura de Software: Modelos Serverless (Backend as a Service) e segurança isolada no banco de dados através de Row Level Security (RLS).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2610079" y="2388441"/>
            <a:ext cx="14649221" cy="7697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71378" indent="-190459" lvl="2">
              <a:lnSpc>
                <a:spcPts val="3499"/>
              </a:lnSpc>
              <a:buFont typeface="Arial"/>
              <a:buChar char="⚬"/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Tipo de Pesquisa: </a:t>
            </a:r>
          </a:p>
          <a:p>
            <a:pPr algn="just" marL="571378" indent="-190459" lvl="2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Pesquisa aplicada de abordagem qualitativa, baseada no desenvolvimento ágil de software com entregas incrementais (Sprints).</a:t>
            </a:r>
          </a:p>
          <a:p>
            <a:pPr algn="just" marL="571378" indent="-190459" lvl="2">
              <a:lnSpc>
                <a:spcPts val="3499"/>
              </a:lnSpc>
            </a:pPr>
          </a:p>
          <a:p>
            <a:pPr algn="just" marL="571378" indent="-190459" lvl="2">
              <a:lnSpc>
                <a:spcPts val="3499"/>
              </a:lnSpc>
            </a:pPr>
          </a:p>
          <a:p>
            <a:pPr algn="l" marL="571378" indent="-190459" lvl="2">
              <a:lnSpc>
                <a:spcPts val="3499"/>
              </a:lnSpc>
              <a:buFont typeface="Arial"/>
              <a:buChar char="⚬"/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Coleta de Dados (Requisitos): </a:t>
            </a:r>
          </a:p>
          <a:p>
            <a:pPr algn="just" marL="571378" indent="-190459" lvl="2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Elicitação através de entrevistas não estruturadas com profissionais da área da educação.</a:t>
            </a:r>
          </a:p>
          <a:p>
            <a:pPr algn="just" marL="571378" indent="-190459" lvl="2">
              <a:lnSpc>
                <a:spcPts val="3499"/>
              </a:lnSpc>
            </a:pPr>
          </a:p>
          <a:p>
            <a:pPr algn="just" marL="571378" indent="-190459" lvl="2">
              <a:lnSpc>
                <a:spcPts val="3499"/>
              </a:lnSpc>
            </a:pPr>
          </a:p>
          <a:p>
            <a:pPr algn="l" marL="571378" indent="-190459" lvl="2">
              <a:lnSpc>
                <a:spcPts val="3499"/>
              </a:lnSpc>
              <a:buFont typeface="Arial"/>
              <a:buChar char="⚬"/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Procedimentos de Desenvolvimento:  </a:t>
            </a:r>
          </a:p>
          <a:p>
            <a:pPr algn="just" marL="571378" indent="-190459" lvl="2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Modelagem de dados e design de interfaces focadas em UI/UX.</a:t>
            </a:r>
          </a:p>
          <a:p>
            <a:pPr algn="just" marL="571378" indent="-190459" lvl="2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Automação via pipeline CI/CD utilizando GitHub Actions e Vercel.</a:t>
            </a:r>
          </a:p>
          <a:p>
            <a:pPr algn="just" marL="571378" indent="-190459" lvl="2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Empacotamento híbrido (PWA e nativo Android via Capacitor).</a:t>
            </a:r>
          </a:p>
          <a:p>
            <a:pPr algn="just" marL="571378" indent="-190459" lvl="2">
              <a:lnSpc>
                <a:spcPts val="3499"/>
              </a:lnSpc>
            </a:pPr>
          </a:p>
          <a:p>
            <a:pPr algn="just" marL="571378" indent="-190459" lvl="2">
              <a:lnSpc>
                <a:spcPts val="3499"/>
              </a:lnSpc>
            </a:pPr>
          </a:p>
          <a:p>
            <a:pPr algn="l" marL="571378" indent="-190459" lvl="2">
              <a:lnSpc>
                <a:spcPts val="3499"/>
              </a:lnSpc>
              <a:buFont typeface="Arial"/>
              <a:buChar char="⚬"/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Estratégia de Validação: </a:t>
            </a:r>
          </a:p>
          <a:p>
            <a:pPr algn="just" marL="571378" indent="-190459" lvl="2">
              <a:lnSpc>
                <a:spcPts val="3499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Execução de testes automatizados unitários/integração (Vitest) e testes de penetração Black-Box.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395754" y="2531316"/>
            <a:ext cx="1909820" cy="1272416"/>
          </a:xfrm>
          <a:custGeom>
            <a:avLst/>
            <a:gdLst/>
            <a:ahLst/>
            <a:cxnLst/>
            <a:rect r="r" b="b" t="t" l="l"/>
            <a:pathLst>
              <a:path h="1272416" w="1909820">
                <a:moveTo>
                  <a:pt x="0" y="0"/>
                </a:moveTo>
                <a:lnTo>
                  <a:pt x="1909820" y="0"/>
                </a:lnTo>
                <a:lnTo>
                  <a:pt x="1909820" y="1272417"/>
                </a:lnTo>
                <a:lnTo>
                  <a:pt x="0" y="12724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31" r="0" b="-31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453542" y="4333913"/>
            <a:ext cx="1713719" cy="1718015"/>
          </a:xfrm>
          <a:custGeom>
            <a:avLst/>
            <a:gdLst/>
            <a:ahLst/>
            <a:cxnLst/>
            <a:rect r="r" b="b" t="t" l="l"/>
            <a:pathLst>
              <a:path h="1718015" w="1713719">
                <a:moveTo>
                  <a:pt x="0" y="0"/>
                </a:moveTo>
                <a:lnTo>
                  <a:pt x="1713719" y="0"/>
                </a:lnTo>
                <a:lnTo>
                  <a:pt x="1713719" y="1718015"/>
                </a:lnTo>
                <a:lnTo>
                  <a:pt x="0" y="1718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151" r="0" b="-152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395754" y="6385741"/>
            <a:ext cx="1582979" cy="1670695"/>
          </a:xfrm>
          <a:custGeom>
            <a:avLst/>
            <a:gdLst/>
            <a:ahLst/>
            <a:cxnLst/>
            <a:rect r="r" b="b" t="t" l="l"/>
            <a:pathLst>
              <a:path h="1670695" w="1582979">
                <a:moveTo>
                  <a:pt x="0" y="0"/>
                </a:moveTo>
                <a:lnTo>
                  <a:pt x="1582979" y="0"/>
                </a:lnTo>
                <a:lnTo>
                  <a:pt x="1582979" y="1670695"/>
                </a:lnTo>
                <a:lnTo>
                  <a:pt x="0" y="167069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72" t="0" r="-71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453542" y="8390249"/>
            <a:ext cx="1525191" cy="1525191"/>
          </a:xfrm>
          <a:custGeom>
            <a:avLst/>
            <a:gdLst/>
            <a:ahLst/>
            <a:cxnLst/>
            <a:rect r="r" b="b" t="t" l="l"/>
            <a:pathLst>
              <a:path h="1525191" w="1525191">
                <a:moveTo>
                  <a:pt x="0" y="0"/>
                </a:moveTo>
                <a:lnTo>
                  <a:pt x="1525191" y="0"/>
                </a:lnTo>
                <a:lnTo>
                  <a:pt x="1525191" y="1525190"/>
                </a:lnTo>
                <a:lnTo>
                  <a:pt x="0" y="152519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-931" r="0" b="-931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6881117" y="1074982"/>
            <a:ext cx="3848691" cy="10042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Metodologia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275759" y="3947408"/>
            <a:ext cx="1204836" cy="1204836"/>
          </a:xfrm>
          <a:custGeom>
            <a:avLst/>
            <a:gdLst/>
            <a:ahLst/>
            <a:cxnLst/>
            <a:rect r="r" b="b" t="t" l="l"/>
            <a:pathLst>
              <a:path h="1204836" w="1204836">
                <a:moveTo>
                  <a:pt x="0" y="0"/>
                </a:moveTo>
                <a:lnTo>
                  <a:pt x="1204837" y="0"/>
                </a:lnTo>
                <a:lnTo>
                  <a:pt x="1204837" y="1204836"/>
                </a:lnTo>
                <a:lnTo>
                  <a:pt x="0" y="120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804717" y="3947408"/>
            <a:ext cx="1007335" cy="1219162"/>
          </a:xfrm>
          <a:custGeom>
            <a:avLst/>
            <a:gdLst/>
            <a:ahLst/>
            <a:cxnLst/>
            <a:rect r="r" b="b" t="t" l="l"/>
            <a:pathLst>
              <a:path h="1219162" w="1007335">
                <a:moveTo>
                  <a:pt x="0" y="0"/>
                </a:moveTo>
                <a:lnTo>
                  <a:pt x="1007336" y="0"/>
                </a:lnTo>
                <a:lnTo>
                  <a:pt x="1007336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-276" r="0" b="-276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2333684" y="3947408"/>
            <a:ext cx="1219162" cy="1219162"/>
          </a:xfrm>
          <a:custGeom>
            <a:avLst/>
            <a:gdLst/>
            <a:ahLst/>
            <a:cxnLst/>
            <a:rect r="r" b="b" t="t" l="l"/>
            <a:pathLst>
              <a:path h="1219162" w="1219162">
                <a:moveTo>
                  <a:pt x="0" y="0"/>
                </a:moveTo>
                <a:lnTo>
                  <a:pt x="1219162" y="0"/>
                </a:lnTo>
                <a:lnTo>
                  <a:pt x="1219162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992238" y="2369934"/>
            <a:ext cx="7107136" cy="10042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Solução Proposta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75759" y="5335791"/>
            <a:ext cx="3544043" cy="496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Objetivo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75759" y="5872610"/>
            <a:ext cx="4678413" cy="986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 Web Centralizado para gestão de alunos atípicos.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804717" y="5335791"/>
            <a:ext cx="3544043" cy="496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Público-Alvo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804717" y="5872610"/>
            <a:ext cx="4678413" cy="14555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Conecta Gestores, Cuidadores e Responsáveis em uma única plataforma.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333684" y="5335791"/>
            <a:ext cx="3544043" cy="496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Foco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333684" y="5872610"/>
            <a:ext cx="4678413" cy="986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Substituir processos manuais por um "cofre digital" seguro e acessível.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690858" y="1104024"/>
            <a:ext cx="6977805" cy="688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875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Stack Tecnológica Moderna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90858" y="2108768"/>
            <a:ext cx="1375439" cy="3174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Frontend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90858" y="2604964"/>
            <a:ext cx="8212341" cy="621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React com TypeScript e Tailwind CSS (Foco em </a:t>
            </a:r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Usabilidade e Acessibilidade).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90858" y="3635007"/>
            <a:ext cx="1323356" cy="6126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5"/>
              </a:lnSpc>
            </a:pPr>
          </a:p>
          <a:p>
            <a:pPr algn="l">
              <a:lnSpc>
                <a:spcPts val="2375"/>
              </a:lnSpc>
            </a:pPr>
            <a:r>
              <a:rPr lang="en-US" sz="24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Backend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69798" y="4131193"/>
            <a:ext cx="8212341" cy="6231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Supabase (Backend as a Service).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69798" y="4653725"/>
            <a:ext cx="2467270" cy="6136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5"/>
              </a:lnSpc>
            </a:pPr>
          </a:p>
          <a:p>
            <a:pPr algn="l">
              <a:lnSpc>
                <a:spcPts val="2375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Infraestrutura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69798" y="5149910"/>
            <a:ext cx="8212341" cy="6231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Vercel (Serverless Edge).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384802" y="851221"/>
            <a:ext cx="8212360" cy="8212360"/>
            <a:chOff x="0" y="0"/>
            <a:chExt cx="10949813" cy="10949813"/>
          </a:xfrm>
        </p:grpSpPr>
        <p:sp>
          <p:nvSpPr>
            <p:cNvPr name="Freeform 16" id="16" descr="preencoded.png"/>
            <p:cNvSpPr/>
            <p:nvPr/>
          </p:nvSpPr>
          <p:spPr>
            <a:xfrm flipH="false" flipV="false" rot="0">
              <a:off x="0" y="0"/>
              <a:ext cx="10949813" cy="10949813"/>
            </a:xfrm>
            <a:custGeom>
              <a:avLst/>
              <a:gdLst/>
              <a:ahLst/>
              <a:cxnLst/>
              <a:rect r="r" b="b" t="t" l="l"/>
              <a:pathLst>
                <a:path h="10949813" w="10949813">
                  <a:moveTo>
                    <a:pt x="0" y="0"/>
                  </a:moveTo>
                  <a:lnTo>
                    <a:pt x="10949813" y="0"/>
                  </a:lnTo>
                  <a:lnTo>
                    <a:pt x="10949813" y="10949813"/>
                  </a:lnTo>
                  <a:lnTo>
                    <a:pt x="0" y="109498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9394327" y="10503541"/>
            <a:ext cx="8212341" cy="4299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6"/>
              </a:lnSpc>
            </a:pPr>
            <a:r>
              <a:rPr lang="en-US" sz="1500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Arquitetura Serverless para alta disponibilidade e baixo custo de manutenção.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9798" y="5143500"/>
            <a:ext cx="7746968" cy="4931950"/>
            <a:chOff x="0" y="0"/>
            <a:chExt cx="10329291" cy="657593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329291" cy="6575933"/>
            </a:xfrm>
            <a:custGeom>
              <a:avLst/>
              <a:gdLst/>
              <a:ahLst/>
              <a:cxnLst/>
              <a:rect r="r" b="b" t="t" l="l"/>
              <a:pathLst>
                <a:path h="6575933" w="10329291">
                  <a:moveTo>
                    <a:pt x="0" y="0"/>
                  </a:moveTo>
                  <a:lnTo>
                    <a:pt x="10329291" y="0"/>
                  </a:lnTo>
                  <a:lnTo>
                    <a:pt x="10329291" y="6575933"/>
                  </a:lnTo>
                  <a:lnTo>
                    <a:pt x="0" y="65759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5" t="0" r="-5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692640" y="1028700"/>
            <a:ext cx="7010438" cy="3962410"/>
            <a:chOff x="0" y="0"/>
            <a:chExt cx="9347251" cy="528321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347200" cy="5283200"/>
            </a:xfrm>
            <a:custGeom>
              <a:avLst/>
              <a:gdLst/>
              <a:ahLst/>
              <a:cxnLst/>
              <a:rect r="r" b="b" t="t" l="l"/>
              <a:pathLst>
                <a:path h="5283200" w="9347200">
                  <a:moveTo>
                    <a:pt x="0" y="0"/>
                  </a:moveTo>
                  <a:lnTo>
                    <a:pt x="9347200" y="0"/>
                  </a:lnTo>
                  <a:lnTo>
                    <a:pt x="9347200" y="5283200"/>
                  </a:lnTo>
                  <a:lnTo>
                    <a:pt x="0" y="528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5792" r="0" b="-5792"/>
              </a:stretch>
            </a:blip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848439" y="524447"/>
            <a:ext cx="8961120" cy="2000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35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Prints das Telas do Gestor, Cuidador e Responsável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692640" y="5143500"/>
            <a:ext cx="7010400" cy="4395978"/>
            <a:chOff x="0" y="0"/>
            <a:chExt cx="9347200" cy="586130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9347200" cy="5861304"/>
            </a:xfrm>
            <a:custGeom>
              <a:avLst/>
              <a:gdLst/>
              <a:ahLst/>
              <a:cxnLst/>
              <a:rect r="r" b="b" t="t" l="l"/>
              <a:pathLst>
                <a:path h="5861304" w="9347200">
                  <a:moveTo>
                    <a:pt x="0" y="0"/>
                  </a:moveTo>
                  <a:lnTo>
                    <a:pt x="9347200" y="0"/>
                  </a:lnTo>
                  <a:lnTo>
                    <a:pt x="9347200" y="5861304"/>
                  </a:lnTo>
                  <a:lnTo>
                    <a:pt x="0" y="58613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992238" y="1822847"/>
            <a:ext cx="14704962" cy="10042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Engenharia de Segurança - Row Level Security (RLS)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92238" y="4758480"/>
            <a:ext cx="5245418" cy="152400"/>
            <a:chOff x="0" y="0"/>
            <a:chExt cx="6993890" cy="203200"/>
          </a:xfrm>
        </p:grpSpPr>
        <p:sp>
          <p:nvSpPr>
            <p:cNvPr name="Freeform 10" id="10" descr="preencoded.png"/>
            <p:cNvSpPr/>
            <p:nvPr/>
          </p:nvSpPr>
          <p:spPr>
            <a:xfrm flipH="false" flipV="false" rot="0">
              <a:off x="0" y="0"/>
              <a:ext cx="6993890" cy="203200"/>
            </a:xfrm>
            <a:custGeom>
              <a:avLst/>
              <a:gdLst/>
              <a:ahLst/>
              <a:cxnLst/>
              <a:rect r="r" b="b" t="t" l="l"/>
              <a:pathLst>
                <a:path h="203200" w="699389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993" r="0" b="-1987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313859" y="5410048"/>
            <a:ext cx="3774872" cy="477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 Grande Diferencial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313859" y="5927827"/>
            <a:ext cx="4602213" cy="144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 segurança não depende apenas da API, mas é aplicada diretamente no Banco de Dados (PostgreSQL).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6521206" y="4758480"/>
            <a:ext cx="5245418" cy="152400"/>
            <a:chOff x="0" y="0"/>
            <a:chExt cx="6993890" cy="203200"/>
          </a:xfrm>
        </p:grpSpPr>
        <p:sp>
          <p:nvSpPr>
            <p:cNvPr name="Freeform 14" id="14" descr="preencoded.png"/>
            <p:cNvSpPr/>
            <p:nvPr/>
          </p:nvSpPr>
          <p:spPr>
            <a:xfrm flipH="false" flipV="false" rot="0">
              <a:off x="0" y="0"/>
              <a:ext cx="6993890" cy="203200"/>
            </a:xfrm>
            <a:custGeom>
              <a:avLst/>
              <a:gdLst/>
              <a:ahLst/>
              <a:cxnLst/>
              <a:rect r="r" b="b" t="t" l="l"/>
              <a:pathLst>
                <a:path h="203200" w="699389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993" r="0" b="-1987"/>
              </a:stretch>
            </a:blip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6842817" y="5410048"/>
            <a:ext cx="3544043" cy="477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Política de Acesso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842817" y="5927827"/>
            <a:ext cx="4602213" cy="19100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Mesmo com a chave pública exposta no frontend, o banco recusa a leitura de dados se o usuário não tiver o token correto.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2050163" y="4758480"/>
            <a:ext cx="5245418" cy="152400"/>
            <a:chOff x="0" y="0"/>
            <a:chExt cx="6993890" cy="203200"/>
          </a:xfrm>
        </p:grpSpPr>
        <p:sp>
          <p:nvSpPr>
            <p:cNvPr name="Freeform 18" id="18" descr="preencoded.png"/>
            <p:cNvSpPr/>
            <p:nvPr/>
          </p:nvSpPr>
          <p:spPr>
            <a:xfrm flipH="false" flipV="false" rot="0">
              <a:off x="0" y="0"/>
              <a:ext cx="6993890" cy="203200"/>
            </a:xfrm>
            <a:custGeom>
              <a:avLst/>
              <a:gdLst/>
              <a:ahLst/>
              <a:cxnLst/>
              <a:rect r="r" b="b" t="t" l="l"/>
              <a:pathLst>
                <a:path h="203200" w="699389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993" r="0" b="-1987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14247543" y="4371384"/>
            <a:ext cx="850582" cy="850582"/>
            <a:chOff x="0" y="0"/>
            <a:chExt cx="1134110" cy="1134110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1134110" cy="1134110"/>
            </a:xfrm>
            <a:custGeom>
              <a:avLst/>
              <a:gdLst/>
              <a:ahLst/>
              <a:cxnLst/>
              <a:rect r="r" b="b" t="t" l="l"/>
              <a:pathLst>
                <a:path h="1134110" w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12371784" y="5410048"/>
            <a:ext cx="3544043" cy="477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Isolamento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371784" y="5927827"/>
            <a:ext cx="4602213" cy="14555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Um Cuidador jamais consegue acessar dados de alunos que não são seus.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669798" y="798471"/>
            <a:ext cx="8961120" cy="999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40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Diagrama do Banco de Dados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71500" y="1987201"/>
            <a:ext cx="15692438" cy="7682008"/>
            <a:chOff x="0" y="0"/>
            <a:chExt cx="20923250" cy="1024267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0923250" cy="10242677"/>
            </a:xfrm>
            <a:custGeom>
              <a:avLst/>
              <a:gdLst/>
              <a:ahLst/>
              <a:cxnLst/>
              <a:rect r="r" b="b" t="t" l="l"/>
              <a:pathLst>
                <a:path h="10242677" w="20923250">
                  <a:moveTo>
                    <a:pt x="0" y="0"/>
                  </a:moveTo>
                  <a:lnTo>
                    <a:pt x="20923250" y="0"/>
                  </a:lnTo>
                  <a:lnTo>
                    <a:pt x="20923250" y="10242677"/>
                  </a:lnTo>
                  <a:lnTo>
                    <a:pt x="0" y="10242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7" t="0" r="-7" b="0"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1430000" y="0"/>
            <a:ext cx="6858000" cy="10287000"/>
            <a:chOff x="0" y="0"/>
            <a:chExt cx="9144000" cy="13716000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824859" y="680466"/>
            <a:ext cx="6477000" cy="9464040"/>
            <a:chOff x="0" y="0"/>
            <a:chExt cx="8636000" cy="12618720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8636000" cy="12618720"/>
            </a:xfrm>
            <a:custGeom>
              <a:avLst/>
              <a:gdLst/>
              <a:ahLst/>
              <a:cxnLst/>
              <a:rect r="r" b="b" t="t" l="l"/>
              <a:pathLst>
                <a:path h="12618720" w="8636000">
                  <a:moveTo>
                    <a:pt x="0" y="0"/>
                  </a:moveTo>
                  <a:lnTo>
                    <a:pt x="8636000" y="0"/>
                  </a:lnTo>
                  <a:lnTo>
                    <a:pt x="8636000" y="12618720"/>
                  </a:lnTo>
                  <a:lnTo>
                    <a:pt x="0" y="126187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1328" r="0" b="-1328"/>
              </a:stretch>
            </a:blip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992238" y="1010993"/>
            <a:ext cx="9445523" cy="1889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Validação de Segurança (Pentest)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92238" y="3605955"/>
            <a:ext cx="3544043" cy="477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Metodologia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92238" y="4237139"/>
            <a:ext cx="4376890" cy="986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Testes de Penetração Black-Box baseados no OWASP ASVS.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92238" y="5523157"/>
            <a:ext cx="3544043" cy="477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Ferramenta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92238" y="6023496"/>
            <a:ext cx="4376890" cy="5322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Burp Suite.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224778" y="3630197"/>
            <a:ext cx="3544043" cy="477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Resultados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070397" y="4237139"/>
            <a:ext cx="4376890" cy="5322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4511" indent="-151504" lvl="2">
              <a:lnSpc>
                <a:spcPts val="3561"/>
              </a:lnSpc>
              <a:buFont typeface="Arial"/>
              <a:buChar char="⚬"/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SQL Injection: Mitigado.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070397" y="4789884"/>
            <a:ext cx="4376890" cy="993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4511" indent="-151504" lvl="2">
              <a:lnSpc>
                <a:spcPts val="3561"/>
              </a:lnSpc>
              <a:buFont typeface="Arial"/>
              <a:buChar char="⚬"/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XSS (Cross-Site Scripting): Mitigado.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070397" y="5796258"/>
            <a:ext cx="4376890" cy="986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4511" indent="-151504" lvl="2">
              <a:lnSpc>
                <a:spcPts val="3561"/>
              </a:lnSpc>
              <a:buFont typeface="Arial"/>
              <a:buChar char="⚬"/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Escalação de Privilégios: Bloqueada.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224778" y="7087638"/>
            <a:ext cx="3544043" cy="4772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Status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224778" y="7742596"/>
            <a:ext cx="4376890" cy="986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4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Aplicação aprovada sem vulnerabilidades críticas.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1811000" y="3223260"/>
            <a:ext cx="6477000" cy="3840480"/>
            <a:chOff x="0" y="0"/>
            <a:chExt cx="8636000" cy="5120640"/>
          </a:xfrm>
        </p:grpSpPr>
        <p:sp>
          <p:nvSpPr>
            <p:cNvPr name="Freeform 24" id="24" descr="All about the xz-utils backdoor | Kali Linux Blog"/>
            <p:cNvSpPr/>
            <p:nvPr/>
          </p:nvSpPr>
          <p:spPr>
            <a:xfrm flipH="false" flipV="false" rot="0">
              <a:off x="0" y="0"/>
              <a:ext cx="8636000" cy="5120640"/>
            </a:xfrm>
            <a:custGeom>
              <a:avLst/>
              <a:gdLst/>
              <a:ahLst/>
              <a:cxnLst/>
              <a:rect r="r" b="b" t="t" l="l"/>
              <a:pathLst>
                <a:path h="5120640" w="8636000">
                  <a:moveTo>
                    <a:pt x="0" y="0"/>
                  </a:moveTo>
                  <a:lnTo>
                    <a:pt x="8636000" y="0"/>
                  </a:lnTo>
                  <a:lnTo>
                    <a:pt x="8636000" y="5120640"/>
                  </a:lnTo>
                  <a:lnTo>
                    <a:pt x="0" y="512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941" t="0" r="-2941" b="0"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992238" y="4617244"/>
            <a:ext cx="5245418" cy="850582"/>
            <a:chOff x="0" y="0"/>
            <a:chExt cx="6993890" cy="113411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993890" cy="1134110"/>
            </a:xfrm>
            <a:custGeom>
              <a:avLst/>
              <a:gdLst/>
              <a:ahLst/>
              <a:cxnLst/>
              <a:rect r="r" b="b" t="t" l="l"/>
              <a:pathLst>
                <a:path h="1134110" w="699389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521282" y="4617244"/>
            <a:ext cx="5245418" cy="850582"/>
            <a:chOff x="0" y="0"/>
            <a:chExt cx="6993890" cy="113411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993890" cy="1134110"/>
            </a:xfrm>
            <a:custGeom>
              <a:avLst/>
              <a:gdLst/>
              <a:ahLst/>
              <a:cxnLst/>
              <a:rect r="r" b="b" t="t" l="l"/>
              <a:pathLst>
                <a:path h="1134110" w="699389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name="Freeform 12" id="12" descr="preencoded.png"/>
          <p:cNvSpPr/>
          <p:nvPr/>
        </p:nvSpPr>
        <p:spPr>
          <a:xfrm flipH="false" flipV="false" rot="0">
            <a:off x="8931326" y="4829766"/>
            <a:ext cx="425206" cy="425206"/>
          </a:xfrm>
          <a:custGeom>
            <a:avLst/>
            <a:gdLst/>
            <a:ahLst/>
            <a:cxnLst/>
            <a:rect r="r" b="b" t="t" l="l"/>
            <a:pathLst>
              <a:path h="425206" w="425206">
                <a:moveTo>
                  <a:pt x="0" y="0"/>
                </a:moveTo>
                <a:lnTo>
                  <a:pt x="425205" y="0"/>
                </a:lnTo>
                <a:lnTo>
                  <a:pt x="425205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11" t="0" r="-1111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12050163" y="4617244"/>
            <a:ext cx="5245418" cy="850582"/>
            <a:chOff x="0" y="0"/>
            <a:chExt cx="6993890" cy="113411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993890" cy="1134110"/>
            </a:xfrm>
            <a:custGeom>
              <a:avLst/>
              <a:gdLst/>
              <a:ahLst/>
              <a:cxnLst/>
              <a:rect r="r" b="b" t="t" l="l"/>
              <a:pathLst>
                <a:path h="1134110" w="699389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name="Freeform 15" id="15"/>
          <p:cNvSpPr/>
          <p:nvPr/>
        </p:nvSpPr>
        <p:spPr>
          <a:xfrm flipH="false" flipV="false" rot="0">
            <a:off x="14116812" y="4762310"/>
            <a:ext cx="723900" cy="560118"/>
          </a:xfrm>
          <a:custGeom>
            <a:avLst/>
            <a:gdLst/>
            <a:ahLst/>
            <a:cxnLst/>
            <a:rect r="r" b="b" t="t" l="l"/>
            <a:pathLst>
              <a:path h="560118" w="723900">
                <a:moveTo>
                  <a:pt x="0" y="0"/>
                </a:moveTo>
                <a:lnTo>
                  <a:pt x="723900" y="0"/>
                </a:lnTo>
                <a:lnTo>
                  <a:pt x="723900" y="560117"/>
                </a:lnTo>
                <a:lnTo>
                  <a:pt x="0" y="56011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490" t="0" r="-489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3008747" y="4617244"/>
            <a:ext cx="877072" cy="763057"/>
          </a:xfrm>
          <a:custGeom>
            <a:avLst/>
            <a:gdLst/>
            <a:ahLst/>
            <a:cxnLst/>
            <a:rect r="r" b="b" t="t" l="l"/>
            <a:pathLst>
              <a:path h="763057" w="877072">
                <a:moveTo>
                  <a:pt x="0" y="0"/>
                </a:moveTo>
                <a:lnTo>
                  <a:pt x="877072" y="0"/>
                </a:lnTo>
                <a:lnTo>
                  <a:pt x="877072" y="763057"/>
                </a:lnTo>
                <a:lnTo>
                  <a:pt x="0" y="76305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-56" r="0" b="-54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992238" y="2068716"/>
            <a:ext cx="16303523" cy="10042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Defesa em Profundidade (Advanced Security)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75759" y="5637009"/>
            <a:ext cx="3544043" cy="496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Honeytokens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75759" y="6145263"/>
            <a:ext cx="4678413" cy="10153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Credenciais falsas inseridas no código para atrair e detectar invasores.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804717" y="5637009"/>
            <a:ext cx="3544043" cy="496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Canary Endpoints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804717" y="6145263"/>
            <a:ext cx="4678413" cy="10153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Rotas monitoradas que disparam alertas ao serem acessadas.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333684" y="5637009"/>
            <a:ext cx="3544043" cy="496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SIEM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333684" y="6145263"/>
            <a:ext cx="4678413" cy="10153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Monitoramento de logs em tempo real para resposta a incidentes.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839430" y="219075"/>
            <a:ext cx="15419870" cy="2368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897"/>
              </a:lnSpc>
            </a:pPr>
            <a:r>
              <a:rPr lang="en-US" sz="555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Aplicativo  PWA e Capacitor (Aplicativo Nativo)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140238" y="3648837"/>
            <a:ext cx="8241982" cy="2472595"/>
            <a:chOff x="0" y="0"/>
            <a:chExt cx="10989310" cy="3296793"/>
          </a:xfrm>
        </p:grpSpPr>
        <p:sp>
          <p:nvSpPr>
            <p:cNvPr name="Freeform 10" id="10" descr="GitHub - ionic-team/capacitor: Build cross-platform Native Progressive Web  Apps for iOS, Android, and the Web ⚡️"/>
            <p:cNvSpPr/>
            <p:nvPr/>
          </p:nvSpPr>
          <p:spPr>
            <a:xfrm flipH="false" flipV="false" rot="0">
              <a:off x="0" y="0"/>
              <a:ext cx="10989310" cy="3296793"/>
            </a:xfrm>
            <a:custGeom>
              <a:avLst/>
              <a:gdLst/>
              <a:ahLst/>
              <a:cxnLst/>
              <a:rect r="r" b="b" t="t" l="l"/>
              <a:pathLst>
                <a:path h="3296793" w="10989310">
                  <a:moveTo>
                    <a:pt x="0" y="0"/>
                  </a:moveTo>
                  <a:lnTo>
                    <a:pt x="10989310" y="0"/>
                  </a:lnTo>
                  <a:lnTo>
                    <a:pt x="10989310" y="3296793"/>
                  </a:lnTo>
                  <a:lnTo>
                    <a:pt x="0" y="3296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73026" y="2794064"/>
            <a:ext cx="7468171" cy="4182142"/>
            <a:chOff x="0" y="0"/>
            <a:chExt cx="9957562" cy="5576189"/>
          </a:xfrm>
        </p:grpSpPr>
        <p:sp>
          <p:nvSpPr>
            <p:cNvPr name="Freeform 12" id="12" descr="5 Progressive Web App Alternatives to Popular Android Apps - DroidViews"/>
            <p:cNvSpPr/>
            <p:nvPr/>
          </p:nvSpPr>
          <p:spPr>
            <a:xfrm flipH="false" flipV="false" rot="0">
              <a:off x="0" y="0"/>
              <a:ext cx="9957562" cy="5576189"/>
            </a:xfrm>
            <a:custGeom>
              <a:avLst/>
              <a:gdLst/>
              <a:ahLst/>
              <a:cxnLst/>
              <a:rect r="r" b="b" t="t" l="l"/>
              <a:pathLst>
                <a:path h="5576189" w="9957562">
                  <a:moveTo>
                    <a:pt x="0" y="0"/>
                  </a:moveTo>
                  <a:lnTo>
                    <a:pt x="9957562" y="0"/>
                  </a:lnTo>
                  <a:lnTo>
                    <a:pt x="9957562" y="5576189"/>
                  </a:lnTo>
                  <a:lnTo>
                    <a:pt x="0" y="5576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451006" y="2591477"/>
            <a:ext cx="1242447" cy="1242447"/>
          </a:xfrm>
          <a:custGeom>
            <a:avLst/>
            <a:gdLst/>
            <a:ahLst/>
            <a:cxnLst/>
            <a:rect r="r" b="b" t="t" l="l"/>
            <a:pathLst>
              <a:path h="1242447" w="1242447">
                <a:moveTo>
                  <a:pt x="0" y="0"/>
                </a:moveTo>
                <a:lnTo>
                  <a:pt x="1242448" y="0"/>
                </a:lnTo>
                <a:lnTo>
                  <a:pt x="1242448" y="1242448"/>
                </a:lnTo>
                <a:lnTo>
                  <a:pt x="0" y="12424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878375" y="2401986"/>
            <a:ext cx="1786699" cy="1621429"/>
          </a:xfrm>
          <a:custGeom>
            <a:avLst/>
            <a:gdLst/>
            <a:ahLst/>
            <a:cxnLst/>
            <a:rect r="r" b="b" t="t" l="l"/>
            <a:pathLst>
              <a:path h="1621429" w="1786699">
                <a:moveTo>
                  <a:pt x="0" y="0"/>
                </a:moveTo>
                <a:lnTo>
                  <a:pt x="1786699" y="0"/>
                </a:lnTo>
                <a:lnTo>
                  <a:pt x="1786699" y="1621429"/>
                </a:lnTo>
                <a:lnTo>
                  <a:pt x="0" y="162142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3052327" y="2357620"/>
            <a:ext cx="1657466" cy="1665795"/>
          </a:xfrm>
          <a:custGeom>
            <a:avLst/>
            <a:gdLst/>
            <a:ahLst/>
            <a:cxnLst/>
            <a:rect r="r" b="b" t="t" l="l"/>
            <a:pathLst>
              <a:path h="1665795" w="1657466">
                <a:moveTo>
                  <a:pt x="0" y="0"/>
                </a:moveTo>
                <a:lnTo>
                  <a:pt x="1657466" y="0"/>
                </a:lnTo>
                <a:lnTo>
                  <a:pt x="1657466" y="1665795"/>
                </a:lnTo>
                <a:lnTo>
                  <a:pt x="0" y="166579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5328995" y="238125"/>
            <a:ext cx="7312104" cy="16409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899"/>
              </a:lnSpc>
            </a:pPr>
            <a:r>
              <a:rPr lang="en-US" sz="5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Resultados e Discussão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17193" y="4121899"/>
            <a:ext cx="4236720" cy="32674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Validação Técnica</a:t>
            </a:r>
          </a:p>
          <a:p>
            <a:pPr algn="l">
              <a:lnSpc>
                <a:spcPts val="3359"/>
              </a:lnSpc>
            </a:pPr>
          </a:p>
          <a:p>
            <a:pPr algn="l" marL="241300" indent="-120650" lvl="1">
              <a:lnSpc>
                <a:spcPts val="2400"/>
              </a:lnSpc>
              <a:buFont typeface="Arial"/>
              <a:buChar char="•"/>
            </a:pPr>
            <a:r>
              <a:rPr lang="en-US" b="true" sz="20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Arquitetura Moderna: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React + Supabase garantindo alta disponibilidade.</a:t>
            </a:r>
          </a:p>
          <a:p>
            <a:pPr algn="l" marL="241300" indent="-120650" lvl="1">
              <a:lnSpc>
                <a:spcPts val="2400"/>
              </a:lnSpc>
              <a:buFont typeface="Arial"/>
              <a:buChar char="•"/>
            </a:pPr>
            <a:r>
              <a:rPr lang="en-US" b="true" sz="20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Acessibilidade: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Interface focada em UI/UX para diferentes perfis (Gestor/Pai).</a:t>
            </a:r>
          </a:p>
          <a:p>
            <a:pPr algn="l" marL="241300" indent="-120650" lvl="1">
              <a:lnSpc>
                <a:spcPts val="2400"/>
              </a:lnSpc>
              <a:buFont typeface="Arial"/>
              <a:buChar char="•"/>
            </a:pPr>
            <a:r>
              <a:rPr lang="en-US" b="true" sz="20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PWA/Capacitor: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Experiência nativa em dispositivos móveis.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362748" y="4121899"/>
            <a:ext cx="4084320" cy="29721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Segurança de Dados</a:t>
            </a:r>
          </a:p>
          <a:p>
            <a:pPr algn="l">
              <a:lnSpc>
                <a:spcPts val="3359"/>
              </a:lnSpc>
            </a:pPr>
          </a:p>
          <a:p>
            <a:pPr algn="l" marL="241300" indent="-120650" lvl="1">
              <a:lnSpc>
                <a:spcPts val="2400"/>
              </a:lnSpc>
              <a:buFont typeface="Arial"/>
              <a:buChar char="•"/>
            </a:pPr>
            <a:r>
              <a:rPr lang="en-US" b="true" sz="20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RLS (Row Level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de dados garantido no nível do banco.</a:t>
            </a:r>
          </a:p>
          <a:p>
            <a:pPr algn="l" marL="241300" indent="-120650" lvl="1">
              <a:lnSpc>
                <a:spcPts val="2400"/>
              </a:lnSpc>
              <a:buFont typeface="Arial"/>
              <a:buChar char="•"/>
            </a:pPr>
            <a:r>
              <a:rPr lang="en-US" b="true" sz="20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Pentests: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Mitigação comprovada contra SQL Injection e XSS.</a:t>
            </a:r>
          </a:p>
          <a:p>
            <a:pPr algn="l" marL="241300" indent="-120650" lvl="1">
              <a:lnSpc>
                <a:spcPts val="2400"/>
              </a:lnSpc>
              <a:buFont typeface="Arial"/>
              <a:buChar char="•"/>
            </a:pPr>
            <a:r>
              <a:rPr lang="en-US" b="true" sz="20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Advanced Sec: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Uso de Honeytokens e monitoramento via SIEM.</a:t>
            </a:r>
          </a:p>
          <a:p>
            <a:pPr algn="l" marL="241300" indent="-120650" lvl="1">
              <a:lnSpc>
                <a:spcPts val="2400"/>
              </a:lnSpc>
              <a:buFont typeface="Arial"/>
              <a:buChar char="•"/>
            </a:pPr>
            <a:r>
              <a:rPr lang="en-US" b="true" sz="20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Security: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Isolamento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322527" y="4121899"/>
            <a:ext cx="3832098" cy="2676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7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Conformidade e Impacto</a:t>
            </a:r>
          </a:p>
          <a:p>
            <a:pPr algn="l">
              <a:lnSpc>
                <a:spcPts val="3359"/>
              </a:lnSpc>
            </a:pPr>
          </a:p>
          <a:p>
            <a:pPr algn="l" marL="241300" indent="-120650" lvl="1">
              <a:lnSpc>
                <a:spcPts val="2400"/>
              </a:lnSpc>
              <a:buFont typeface="Arial"/>
              <a:buChar char="•"/>
            </a:pPr>
            <a:r>
              <a:rPr lang="en-US" b="true" sz="20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100% LGPD: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Proteção rigorosa de dados sensíveis de menores.</a:t>
            </a:r>
          </a:p>
          <a:p>
            <a:pPr algn="l" marL="241300" indent="-120650" lvl="1">
              <a:lnSpc>
                <a:spcPts val="2400"/>
              </a:lnSpc>
              <a:buFont typeface="Arial"/>
              <a:buChar char="•"/>
            </a:pPr>
            <a:r>
              <a:rPr lang="en-US" b="true" sz="20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Cofre Digital: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Eliminação de planilhas e papéis vulneráveis.</a:t>
            </a:r>
          </a:p>
          <a:p>
            <a:pPr algn="l" marL="241300" indent="-120650" lvl="1">
              <a:lnSpc>
                <a:spcPts val="2400"/>
              </a:lnSpc>
              <a:buFont typeface="Arial"/>
              <a:buChar char="•"/>
            </a:pPr>
            <a:r>
              <a:rPr lang="en-US" b="true" sz="2000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Inclusão:</a:t>
            </a:r>
            <a:r>
              <a:rPr lang="en-US" sz="200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 Tecnologia como suporte direto à Lei 13.146 (LBI).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669798" y="1937614"/>
            <a:ext cx="6792782" cy="9987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6"/>
              </a:lnSpc>
            </a:pPr>
            <a:r>
              <a:rPr lang="en-US" sz="556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Considerações Finais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238" y="4394749"/>
            <a:ext cx="5198269" cy="968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11"/>
              </a:lnSpc>
            </a:pPr>
            <a:r>
              <a:rPr lang="en-US" sz="731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100%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819275" y="5484466"/>
            <a:ext cx="3544043" cy="496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Conformidade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92238" y="5992711"/>
            <a:ext cx="5198269" cy="10153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 100% adequado à LGPD (Proteção de dados de menores).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544866" y="4394749"/>
            <a:ext cx="5198269" cy="968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11"/>
              </a:lnSpc>
            </a:pPr>
            <a:r>
              <a:rPr lang="en-US" sz="731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Eficiência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371902" y="5484466"/>
            <a:ext cx="3544043" cy="496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Eficiência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544866" y="5992711"/>
            <a:ext cx="5198269" cy="10153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Eliminação de papéis e comunicação em tempo real entre escola e família.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097493" y="4394749"/>
            <a:ext cx="5198269" cy="968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11"/>
              </a:lnSpc>
            </a:pPr>
            <a:r>
              <a:rPr lang="en-US" sz="7312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Conclusão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658002" y="5484466"/>
            <a:ext cx="2077098" cy="4963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6"/>
              </a:lnSpc>
            </a:pPr>
            <a:r>
              <a:rPr lang="en-US" sz="2750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Produto Final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097493" y="5992711"/>
            <a:ext cx="5198269" cy="1476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1"/>
              </a:lnSpc>
            </a:pPr>
            <a:r>
              <a:rPr lang="en-US" sz="2187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 projeto prova que é possível criar software educacional acessível com segurança de nível empresarial.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39656" y="613924"/>
            <a:ext cx="18008698" cy="9097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REFERÊNCIAS BIBLIOGRÁFICAS</a:t>
            </a:r>
          </a:p>
          <a:p>
            <a:pPr algn="l">
              <a:lnSpc>
                <a:spcPts val="2599"/>
              </a:lnSpc>
            </a:pPr>
          </a:p>
          <a:p>
            <a:pPr algn="l">
              <a:lnSpc>
                <a:spcPts val="2599"/>
              </a:lnSpc>
            </a:p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BRASIL. [Portal da Legislação]. </a:t>
            </a:r>
            <a:r>
              <a:rPr lang="en-US" sz="25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Lei nº 13.146, de 6 de julho de 2015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Institui a Lei Brasileira de Inclusão da Pessoa com Deficiência (Estatuto da Pessoa com Deficiência). Brasília, DF: Presidência da República, [2015]. Disponível em: http://www.planalto.gov.br/ccivil_03/_ato2015 2018/2015/lei/l13146.htm. Acesso em: 15 dez. 2025. </a:t>
            </a:r>
          </a:p>
          <a:p>
            <a:pPr algn="l">
              <a:lnSpc>
                <a:spcPts val="2599"/>
              </a:lnSpc>
            </a:p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BRASIL. [Portal da Legislação]. </a:t>
            </a:r>
            <a:r>
              <a:rPr lang="en-US" sz="25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Lei nº 13.709, de 14 de agosto de 2018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Lei Geral de Proteção de Dados Pessoais (LGPD). Brasília, DF: Presidência da República, [2018]. Disponível em: http://www.planalto.gov.br/ccivil_03/_ato2017-2020/2018/lei/l13709.htm. Acesso em: 15 dez. 2025. </a:t>
            </a:r>
          </a:p>
          <a:p>
            <a:pPr algn="l">
              <a:lnSpc>
                <a:spcPts val="2599"/>
              </a:lnSpc>
            </a:p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BRASIL. </a:t>
            </a:r>
            <a:r>
              <a:rPr lang="en-US" sz="25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Decreto nº 10.502, de 30 de setembro de 2020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Institui a Política Nacional de Educação Especial: Equitativa, Inclusiva e com Aprendizado ao Longo da Vida. Brasília, DF: Presidência da República, 2020. LIMA, Marcos Guilherme Oliveira. Gestão Atípicos: Sistema Web para Gestão Especializada de Alunos Atípicos na Educação Inclusiva. 2025. Repositório de código (GitHub). Disponível em: https://github.com/z12guilherme/gestao_atipicos. Acesso em: 19 dez. 2025. </a:t>
            </a:r>
          </a:p>
          <a:p>
            <a:pPr algn="l">
              <a:lnSpc>
                <a:spcPts val="2599"/>
              </a:lnSpc>
            </a:p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MICROSOFT. </a:t>
            </a:r>
            <a:r>
              <a:rPr lang="en-US" sz="25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The STRIDE Threat Model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Azure Security Center, 2026. Disponível em: https://learn.microsoft.com/en-us/azure/security/develop/threat-modeling-tool-threats. Acesso em: 15 dez. 2025. </a:t>
            </a:r>
          </a:p>
          <a:p>
            <a:pPr algn="l">
              <a:lnSpc>
                <a:spcPts val="2599"/>
              </a:lnSpc>
            </a:p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OWASP FOUNDATION. </a:t>
            </a:r>
            <a:r>
              <a:rPr lang="en-US" sz="25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Application Security Verification Standard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(ASVS). Version 4.0.3. 2021. Disponível em: https://owasp.org/www-project-application-security-verification-standard/. Acesso em: 15 dez. 2025. </a:t>
            </a:r>
          </a:p>
          <a:p>
            <a:pPr algn="l">
              <a:lnSpc>
                <a:spcPts val="2599"/>
              </a:lnSpc>
            </a:p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OWASP FOUNDATION. </a:t>
            </a:r>
            <a:r>
              <a:rPr lang="en-US" sz="25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OWASP Top 10:2021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The Most Critical Web Application Security Risks. Disponível em: https://owasp.org/www-project-top-ten/. Acesso em: 15 dez. 2025. </a:t>
            </a:r>
          </a:p>
          <a:p>
            <a:pPr algn="l">
              <a:lnSpc>
                <a:spcPts val="2599"/>
              </a:lnSpc>
            </a:pPr>
          </a:p>
          <a:p>
            <a:pPr algn="l">
              <a:lnSpc>
                <a:spcPts val="2599"/>
              </a:lnSpc>
            </a:pP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SUPABASE INC. </a:t>
            </a:r>
            <a:r>
              <a:rPr lang="en-US" sz="259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Row Level Security</a:t>
            </a:r>
            <a:r>
              <a:rPr lang="en-US" sz="259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. Documentation. 2026. Disponível em: https://supabase.com/docs/guides/auth/row-level-security. Acesso em: 15 dez. 2025. 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9798" y="446884"/>
            <a:ext cx="18288000" cy="3544062"/>
            <a:chOff x="0" y="0"/>
            <a:chExt cx="24384000" cy="4725416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24384000" cy="4725416"/>
            </a:xfrm>
            <a:custGeom>
              <a:avLst/>
              <a:gdLst/>
              <a:ahLst/>
              <a:cxnLst/>
              <a:rect r="r" b="b" t="t" l="l"/>
              <a:pathLst>
                <a:path h="4725416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4725416"/>
                  </a:lnTo>
                  <a:lnTo>
                    <a:pt x="0" y="4725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56" r="0" b="-56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809358" y="7759598"/>
            <a:ext cx="14176619" cy="1981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37"/>
              </a:lnSpc>
            </a:pPr>
            <a:r>
              <a:rPr lang="en-US" sz="11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Obrigado!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-165678" y="0"/>
            <a:ext cx="6597301" cy="6597301"/>
            <a:chOff x="0" y="0"/>
            <a:chExt cx="8796401" cy="879640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796401" cy="8796401"/>
            </a:xfrm>
            <a:custGeom>
              <a:avLst/>
              <a:gdLst/>
              <a:ahLst/>
              <a:cxnLst/>
              <a:rect r="r" b="b" t="t" l="l"/>
              <a:pathLst>
                <a:path h="8796401" w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3857818" y="5491372"/>
            <a:ext cx="3758013" cy="7127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true">
                <a:solidFill>
                  <a:srgbClr val="000000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LEIA O QR CODE PARA ACESSAR O SISTEMA: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3717095" y="6380693"/>
            <a:ext cx="3924300" cy="3895725"/>
            <a:chOff x="0" y="0"/>
            <a:chExt cx="5232400" cy="51943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32400" cy="5194300"/>
            </a:xfrm>
            <a:custGeom>
              <a:avLst/>
              <a:gdLst/>
              <a:ahLst/>
              <a:cxnLst/>
              <a:rect r="r" b="b" t="t" l="l"/>
              <a:pathLst>
                <a:path h="5194300" w="5232400">
                  <a:moveTo>
                    <a:pt x="0" y="0"/>
                  </a:moveTo>
                  <a:lnTo>
                    <a:pt x="5232400" y="0"/>
                  </a:lnTo>
                  <a:lnTo>
                    <a:pt x="5232400" y="5194300"/>
                  </a:lnTo>
                  <a:lnTo>
                    <a:pt x="0" y="5194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DAHILYlQN3s</dc:identifier>
  <dcterms:modified xsi:type="dcterms:W3CDTF">2011-08-01T06:04:30Z</dcterms:modified>
  <cp:revision>1</cp:revision>
  <dc:title>TCC - Slides.pptx</dc:title>
</cp:coreProperties>
</file>