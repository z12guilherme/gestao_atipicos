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8288000" cy="10287000"/>
  <p:notesSz cx="6858000" cy="9144000"/>
  <p:embeddedFontLst>
    <p:embeddedFont>
      <p:font typeface="Arimo" panose="020B0604020202020204" charset="0"/>
      <p:regular r:id="rId19"/>
    </p:embeddedFont>
    <p:embeddedFont>
      <p:font typeface="Arimo Bold" panose="020B0604020202020204" charset="0"/>
      <p:regular r:id="rId20"/>
    </p:embeddedFont>
    <p:embeddedFont>
      <p:font typeface="Gill Sans Bold" panose="020B0604020202020204" charset="0"/>
      <p:regular r:id="rId21"/>
    </p:embeddedFont>
    <p:embeddedFont>
      <p:font typeface="Noto Sans" panose="020B0502040504020204" pitchFamily="34" charset="0"/>
      <p:regular r:id="rId22"/>
      <p:bold r:id="rId23"/>
      <p:italic r:id="rId24"/>
      <p:boldItalic r:id="rId25"/>
    </p:embeddedFont>
    <p:embeddedFont>
      <p:font typeface="Noto Sans Bold" panose="020B0802040504020204" charset="0"/>
      <p:regular r:id="rId2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46" d="100"/>
          <a:sy n="46" d="100"/>
        </p:scale>
        <p:origin x="756" y="5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21.04.2026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‹nº›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9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sv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svg"/><Relationship Id="rId4" Type="http://schemas.openxmlformats.org/officeDocument/2006/relationships/image" Target="../media/image14.png"/><Relationship Id="rId9" Type="http://schemas.openxmlformats.org/officeDocument/2006/relationships/image" Target="../media/image19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svg"/><Relationship Id="rId5" Type="http://schemas.openxmlformats.org/officeDocument/2006/relationships/image" Target="../media/image22.png"/><Relationship Id="rId4" Type="http://schemas.openxmlformats.org/officeDocument/2006/relationships/image" Target="../media/image21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sv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.svg"/><Relationship Id="rId5" Type="http://schemas.openxmlformats.org/officeDocument/2006/relationships/image" Target="../media/image38.png"/><Relationship Id="rId4" Type="http://schemas.openxmlformats.org/officeDocument/2006/relationships/image" Target="../media/image37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e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5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329298" y="4381500"/>
            <a:ext cx="6780162" cy="26216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Gestão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Atípicos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: Sistema Web Seguro para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Educação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Inclusiva</a:t>
            </a:r>
            <a:endParaRPr lang="en-US" sz="5562" dirty="0">
              <a:solidFill>
                <a:srgbClr val="000000"/>
              </a:solidFill>
              <a:latin typeface="+mj-lt"/>
              <a:ea typeface="Arimo"/>
              <a:cs typeface="Arimo"/>
              <a:sym typeface="Arimo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6858000" y="9601200"/>
            <a:ext cx="3158558" cy="4616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3200" b="1" dirty="0">
                <a:solidFill>
                  <a:srgbClr val="000000"/>
                </a:solidFill>
                <a:latin typeface="+mj-lt"/>
                <a:ea typeface="Noto Sans Bold"/>
                <a:cs typeface="Noto Sans Bold"/>
                <a:sym typeface="Noto Sans Bold"/>
              </a:rPr>
              <a:t>Belo Jardim, 2026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0" y="1319681"/>
            <a:ext cx="2788849" cy="2788849"/>
            <a:chOff x="0" y="0"/>
            <a:chExt cx="8796338" cy="8796338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96401" cy="8796401"/>
            </a:xfrm>
            <a:custGeom>
              <a:avLst/>
              <a:gdLst/>
              <a:ahLst/>
              <a:cxnLst/>
              <a:rect l="l" t="t" r="r" b="b"/>
              <a:pathLst>
                <a:path w="8796401" h="8796401">
                  <a:moveTo>
                    <a:pt x="0" y="0"/>
                  </a:moveTo>
                  <a:lnTo>
                    <a:pt x="8796401" y="0"/>
                  </a:lnTo>
                  <a:lnTo>
                    <a:pt x="8796401" y="8796401"/>
                  </a:lnTo>
                  <a:lnTo>
                    <a:pt x="0" y="87964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pic>
        <p:nvPicPr>
          <p:cNvPr id="15" name="Imagem 14">
            <a:extLst>
              <a:ext uri="{FF2B5EF4-FFF2-40B4-BE49-F238E27FC236}">
                <a16:creationId xmlns:a16="http://schemas.microsoft.com/office/drawing/2014/main" id="{F8363E1B-B5B1-5031-3134-6682C093293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7724"/>
          <a:stretch>
            <a:fillRect/>
          </a:stretch>
        </p:blipFill>
        <p:spPr>
          <a:xfrm>
            <a:off x="7658862" y="1319681"/>
            <a:ext cx="9959340" cy="759047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669798" y="1409169"/>
            <a:ext cx="155977" cy="3070774"/>
            <a:chOff x="0" y="0"/>
            <a:chExt cx="207969" cy="4094366"/>
          </a:xfrm>
        </p:grpSpPr>
        <p:sp>
          <p:nvSpPr>
            <p:cNvPr id="9" name="Freeform 9" descr="preencoded.png"/>
            <p:cNvSpPr/>
            <p:nvPr/>
          </p:nvSpPr>
          <p:spPr>
            <a:xfrm>
              <a:off x="0" y="0"/>
              <a:ext cx="207969" cy="4094353"/>
            </a:xfrm>
            <a:custGeom>
              <a:avLst/>
              <a:gdLst/>
              <a:ahLst/>
              <a:cxnLst/>
              <a:rect l="l" t="t" r="r" b="b"/>
              <a:pathLst>
                <a:path w="207969" h="4094353">
                  <a:moveTo>
                    <a:pt x="0" y="0"/>
                  </a:moveTo>
                  <a:lnTo>
                    <a:pt x="207969" y="0"/>
                  </a:lnTo>
                  <a:lnTo>
                    <a:pt x="207969" y="4094353"/>
                  </a:lnTo>
                  <a:lnTo>
                    <a:pt x="0" y="40943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" t="-1115" b="-1116"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6328519" y="1409169"/>
            <a:ext cx="155977" cy="3070774"/>
            <a:chOff x="0" y="0"/>
            <a:chExt cx="207969" cy="4094366"/>
          </a:xfrm>
        </p:grpSpPr>
        <p:sp>
          <p:nvSpPr>
            <p:cNvPr id="11" name="Freeform 11" descr="preencoded.png"/>
            <p:cNvSpPr/>
            <p:nvPr/>
          </p:nvSpPr>
          <p:spPr>
            <a:xfrm>
              <a:off x="0" y="0"/>
              <a:ext cx="207969" cy="4094353"/>
            </a:xfrm>
            <a:custGeom>
              <a:avLst/>
              <a:gdLst/>
              <a:ahLst/>
              <a:cxnLst/>
              <a:rect l="l" t="t" r="r" b="b"/>
              <a:pathLst>
                <a:path w="207969" h="4094353">
                  <a:moveTo>
                    <a:pt x="0" y="0"/>
                  </a:moveTo>
                  <a:lnTo>
                    <a:pt x="207969" y="0"/>
                  </a:lnTo>
                  <a:lnTo>
                    <a:pt x="207969" y="4094353"/>
                  </a:lnTo>
                  <a:lnTo>
                    <a:pt x="0" y="40943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" t="-1115" b="-1116"/>
              </a:stretch>
            </a:blipFill>
          </p:spPr>
        </p:sp>
      </p:grpSp>
      <p:grpSp>
        <p:nvGrpSpPr>
          <p:cNvPr id="12" name="Group 12"/>
          <p:cNvGrpSpPr/>
          <p:nvPr/>
        </p:nvGrpSpPr>
        <p:grpSpPr>
          <a:xfrm>
            <a:off x="11987230" y="1409169"/>
            <a:ext cx="155977" cy="3070774"/>
            <a:chOff x="0" y="0"/>
            <a:chExt cx="207969" cy="4094366"/>
          </a:xfrm>
        </p:grpSpPr>
        <p:sp>
          <p:nvSpPr>
            <p:cNvPr id="13" name="Freeform 13" descr="preencoded.png"/>
            <p:cNvSpPr/>
            <p:nvPr/>
          </p:nvSpPr>
          <p:spPr>
            <a:xfrm>
              <a:off x="0" y="0"/>
              <a:ext cx="207969" cy="4094353"/>
            </a:xfrm>
            <a:custGeom>
              <a:avLst/>
              <a:gdLst/>
              <a:ahLst/>
              <a:cxnLst/>
              <a:rect l="l" t="t" r="r" b="b"/>
              <a:pathLst>
                <a:path w="207969" h="4094353">
                  <a:moveTo>
                    <a:pt x="0" y="0"/>
                  </a:moveTo>
                  <a:lnTo>
                    <a:pt x="207969" y="0"/>
                  </a:lnTo>
                  <a:lnTo>
                    <a:pt x="207969" y="4094353"/>
                  </a:lnTo>
                  <a:lnTo>
                    <a:pt x="0" y="40943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" t="-1115" b="-1116"/>
              </a:stretch>
            </a:blipFill>
          </p:spPr>
        </p:sp>
      </p:grpSp>
      <p:sp>
        <p:nvSpPr>
          <p:cNvPr id="14" name="TextBox 14"/>
          <p:cNvSpPr txBox="1"/>
          <p:nvPr/>
        </p:nvSpPr>
        <p:spPr>
          <a:xfrm>
            <a:off x="628612" y="5975368"/>
            <a:ext cx="16948404" cy="10561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93"/>
              </a:lnSpc>
            </a:pP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Como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desenvolver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um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sistema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web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seguro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,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acessível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e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funcional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que centralize a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gestão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alunos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atípicos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,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facilitando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o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trabalho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gestores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,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cuidadores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e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responsáveis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?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50371" y="1692690"/>
            <a:ext cx="1330730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 b="1" dirty="0">
                <a:solidFill>
                  <a:srgbClr val="000000"/>
                </a:solidFill>
                <a:latin typeface="+mj-lt"/>
                <a:ea typeface="Arimo Bold"/>
                <a:cs typeface="Arimo Bold"/>
                <a:sym typeface="Arimo Bold"/>
              </a:rPr>
              <a:t>Cenário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150371" y="2258084"/>
            <a:ext cx="4593235" cy="1803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 Lei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Brasileira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Inclusão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, n° 13.146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obriga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o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atendimento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especializado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, mas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muitas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escolas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ainda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usam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planilhas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papel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6806197" y="1692690"/>
            <a:ext cx="1172178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 b="1" dirty="0" err="1">
                <a:solidFill>
                  <a:srgbClr val="000000"/>
                </a:solidFill>
                <a:latin typeface="+mj-lt"/>
                <a:ea typeface="Arimo Bold"/>
                <a:cs typeface="Arimo Bold"/>
                <a:sym typeface="Arimo Bold"/>
              </a:rPr>
              <a:t>Riscos</a:t>
            </a:r>
            <a:endParaRPr lang="en-US" sz="2800" b="1" dirty="0">
              <a:solidFill>
                <a:srgbClr val="000000"/>
              </a:solidFill>
              <a:latin typeface="+mj-lt"/>
              <a:ea typeface="Arimo Bold"/>
              <a:cs typeface="Arimo Bold"/>
              <a:sym typeface="Arimo Bold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6806197" y="2258084"/>
            <a:ext cx="4593235" cy="13436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Perda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histórico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pedagógico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e,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principalmente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,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vulnerabilidade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jurídica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perante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a LGPD.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2464908" y="1692690"/>
            <a:ext cx="2840922" cy="4217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 b="1" dirty="0">
                <a:solidFill>
                  <a:srgbClr val="000000"/>
                </a:solidFill>
                <a:latin typeface="+mj-lt"/>
                <a:ea typeface="Arimo Bold"/>
                <a:cs typeface="Arimo Bold"/>
                <a:sym typeface="Arimo Bold"/>
              </a:rPr>
              <a:t>Dados</a:t>
            </a:r>
            <a:r>
              <a:rPr lang="en-US" sz="2750" b="1" dirty="0">
                <a:solidFill>
                  <a:srgbClr val="000000"/>
                </a:solidFill>
                <a:latin typeface="+mj-lt"/>
                <a:ea typeface="Arimo Bold"/>
                <a:cs typeface="Arimo Bold"/>
                <a:sym typeface="Arimo Bold"/>
              </a:rPr>
              <a:t> </a:t>
            </a:r>
            <a:r>
              <a:rPr lang="en-US" sz="2800" b="1" dirty="0" err="1">
                <a:solidFill>
                  <a:srgbClr val="000000"/>
                </a:solidFill>
                <a:latin typeface="+mj-lt"/>
                <a:ea typeface="Arimo Bold"/>
                <a:cs typeface="Arimo Bold"/>
                <a:sym typeface="Arimo Bold"/>
              </a:rPr>
              <a:t>Sensíveis</a:t>
            </a:r>
            <a:endParaRPr lang="en-US" sz="2800" b="1" dirty="0">
              <a:solidFill>
                <a:srgbClr val="000000"/>
              </a:solidFill>
              <a:latin typeface="+mj-lt"/>
              <a:ea typeface="Arimo Bold"/>
              <a:cs typeface="Arimo Bold"/>
              <a:sym typeface="Arimo Bold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12464908" y="2258084"/>
            <a:ext cx="4593235" cy="13490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Laudos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médicos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diagnósticos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crianças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expostos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sem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controle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acesso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adequado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667854" y="1133440"/>
            <a:ext cx="2944767" cy="851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Objetivos</a:t>
            </a:r>
            <a:endParaRPr lang="en-US" sz="5562" dirty="0">
              <a:solidFill>
                <a:srgbClr val="000000"/>
              </a:solidFill>
              <a:latin typeface="+mj-lt"/>
              <a:ea typeface="Arimo"/>
              <a:cs typeface="Arimo"/>
              <a:sym typeface="Arimo"/>
            </a:endParaRPr>
          </a:p>
        </p:txBody>
      </p:sp>
      <p:grpSp>
        <p:nvGrpSpPr>
          <p:cNvPr id="3" name="Group 3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5" name="Group 5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7" name="Group 7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669798" y="2952013"/>
            <a:ext cx="15711243" cy="4039567"/>
          </a:xfrm>
          <a:prstGeom prst="rect">
            <a:avLst/>
          </a:prstGeom>
        </p:spPr>
        <p:txBody>
          <a:bodyPr lIns="0" tIns="0" rIns="0" bIns="0" numCol="2" rtlCol="0" anchor="t">
            <a:spAutoFit/>
          </a:bodyPr>
          <a:lstStyle/>
          <a:p>
            <a:pPr algn="l">
              <a:lnSpc>
                <a:spcPts val="4199"/>
              </a:lnSpc>
              <a:spcBef>
                <a:spcPct val="0"/>
              </a:spcBef>
            </a:pPr>
            <a:r>
              <a:rPr lang="en-US" sz="2999" b="1" dirty="0" err="1">
                <a:solidFill>
                  <a:srgbClr val="000000"/>
                </a:solidFill>
                <a:latin typeface="+mj-lt"/>
                <a:ea typeface="Noto Sans Bold"/>
                <a:cs typeface="Noto Sans Bold"/>
                <a:sym typeface="Noto Sans Bold"/>
              </a:rPr>
              <a:t>Objetivo</a:t>
            </a:r>
            <a:r>
              <a:rPr lang="en-US" sz="2999" b="1" dirty="0">
                <a:solidFill>
                  <a:srgbClr val="000000"/>
                </a:solidFill>
                <a:latin typeface="+mj-lt"/>
                <a:ea typeface="Noto Sans Bold"/>
                <a:cs typeface="Noto Sans Bold"/>
                <a:sym typeface="Noto Sans Bold"/>
              </a:rPr>
              <a:t> Geral:</a:t>
            </a:r>
          </a:p>
          <a:p>
            <a:pPr algn="l">
              <a:lnSpc>
                <a:spcPts val="4199"/>
              </a:lnSpc>
              <a:spcBef>
                <a:spcPct val="0"/>
              </a:spcBef>
            </a:pPr>
            <a:endParaRPr lang="en-US" sz="2999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Desenvolver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um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sistema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web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seguro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centralizado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para a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gestão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alunos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com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necessidades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especiais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  <a:p>
            <a:pPr algn="l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l">
              <a:lnSpc>
                <a:spcPts val="4199"/>
              </a:lnSpc>
              <a:spcBef>
                <a:spcPct val="0"/>
              </a:spcBef>
            </a:pPr>
            <a:endParaRPr lang="en-US" sz="2999" b="1" dirty="0">
              <a:solidFill>
                <a:srgbClr val="000000"/>
              </a:solidFill>
              <a:latin typeface="+mj-lt"/>
              <a:ea typeface="Noto Sans Bold"/>
              <a:cs typeface="Noto Sans Bold"/>
              <a:sym typeface="Noto Sans Bold"/>
            </a:endParaRPr>
          </a:p>
          <a:p>
            <a:pPr algn="l">
              <a:lnSpc>
                <a:spcPts val="4199"/>
              </a:lnSpc>
              <a:spcBef>
                <a:spcPct val="0"/>
              </a:spcBef>
            </a:pPr>
            <a:endParaRPr lang="en-US" sz="2999" b="1" dirty="0">
              <a:solidFill>
                <a:srgbClr val="000000"/>
              </a:solidFill>
              <a:latin typeface="+mj-lt"/>
              <a:ea typeface="Noto Sans Bold"/>
              <a:cs typeface="Noto Sans Bold"/>
              <a:sym typeface="Noto Sans Bold"/>
            </a:endParaRPr>
          </a:p>
          <a:p>
            <a:pPr algn="l">
              <a:lnSpc>
                <a:spcPts val="4199"/>
              </a:lnSpc>
              <a:spcBef>
                <a:spcPct val="0"/>
              </a:spcBef>
            </a:pPr>
            <a:endParaRPr lang="en-US" sz="2999" b="1" dirty="0">
              <a:solidFill>
                <a:srgbClr val="000000"/>
              </a:solidFill>
              <a:latin typeface="+mj-lt"/>
              <a:ea typeface="Noto Sans Bold"/>
              <a:cs typeface="Noto Sans Bold"/>
              <a:sym typeface="Noto Sans Bold"/>
            </a:endParaRPr>
          </a:p>
          <a:p>
            <a:pPr algn="just">
              <a:lnSpc>
                <a:spcPts val="4199"/>
              </a:lnSpc>
              <a:spcBef>
                <a:spcPct val="0"/>
              </a:spcBef>
            </a:pPr>
            <a:r>
              <a:rPr lang="en-US" sz="2999" b="1" dirty="0">
                <a:solidFill>
                  <a:srgbClr val="000000"/>
                </a:solidFill>
                <a:latin typeface="+mj-lt"/>
                <a:ea typeface="Noto Sans Bold"/>
                <a:cs typeface="Noto Sans Bold"/>
                <a:sym typeface="Noto Sans Bold"/>
              </a:rPr>
              <a:t>   </a:t>
            </a:r>
            <a:r>
              <a:rPr lang="en-US" sz="2999" b="1" dirty="0" err="1">
                <a:solidFill>
                  <a:srgbClr val="000000"/>
                </a:solidFill>
                <a:latin typeface="+mj-lt"/>
                <a:ea typeface="Noto Sans Bold"/>
                <a:cs typeface="Noto Sans Bold"/>
                <a:sym typeface="Noto Sans Bold"/>
              </a:rPr>
              <a:t>Objetivos</a:t>
            </a:r>
            <a:r>
              <a:rPr lang="en-US" sz="2999" b="1" dirty="0">
                <a:solidFill>
                  <a:srgbClr val="000000"/>
                </a:solidFill>
                <a:latin typeface="+mj-lt"/>
                <a:ea typeface="Noto Sans Bold"/>
                <a:cs typeface="Noto Sans Bold"/>
                <a:sym typeface="Noto Sans Bold"/>
              </a:rPr>
              <a:t> </a:t>
            </a:r>
            <a:r>
              <a:rPr lang="en-US" sz="2999" b="1" dirty="0" err="1">
                <a:solidFill>
                  <a:srgbClr val="000000"/>
                </a:solidFill>
                <a:latin typeface="+mj-lt"/>
                <a:ea typeface="Noto Sans Bold"/>
                <a:cs typeface="Noto Sans Bold"/>
                <a:sym typeface="Noto Sans Bold"/>
              </a:rPr>
              <a:t>Específicos</a:t>
            </a:r>
            <a:r>
              <a:rPr lang="en-US" sz="2999" b="1" dirty="0">
                <a:solidFill>
                  <a:srgbClr val="000000"/>
                </a:solidFill>
                <a:latin typeface="+mj-lt"/>
                <a:ea typeface="Noto Sans Bold"/>
                <a:cs typeface="Noto Sans Bold"/>
                <a:sym typeface="Noto Sans Bold"/>
              </a:rPr>
              <a:t>:  </a:t>
            </a:r>
          </a:p>
          <a:p>
            <a:pPr algn="l">
              <a:lnSpc>
                <a:spcPts val="4199"/>
              </a:lnSpc>
              <a:spcBef>
                <a:spcPct val="0"/>
              </a:spcBef>
            </a:pPr>
            <a:endParaRPr lang="en-US" sz="2999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Substituir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registros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manuais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por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um "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cofre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digital".</a:t>
            </a: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Implementar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segurança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em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nível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banco de dados (RLS).</a:t>
            </a: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Validar a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aplicação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contra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vulnerabilidades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críticas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através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pentests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14" name="Agrupar 13">
            <a:extLst>
              <a:ext uri="{FF2B5EF4-FFF2-40B4-BE49-F238E27FC236}">
                <a16:creationId xmlns:a16="http://schemas.microsoft.com/office/drawing/2014/main" id="{10D82C0B-D5AA-C1B8-106E-2D8393E01EF5}"/>
              </a:ext>
            </a:extLst>
          </p:cNvPr>
          <p:cNvGrpSpPr/>
          <p:nvPr/>
        </p:nvGrpSpPr>
        <p:grpSpPr>
          <a:xfrm>
            <a:off x="2587692" y="2372362"/>
            <a:ext cx="1719191" cy="7266353"/>
            <a:chOff x="1728097" y="2432563"/>
            <a:chExt cx="1719191" cy="7266353"/>
          </a:xfrm>
        </p:grpSpPr>
        <p:sp>
          <p:nvSpPr>
            <p:cNvPr id="8" name="Freeform 8"/>
            <p:cNvSpPr/>
            <p:nvPr/>
          </p:nvSpPr>
          <p:spPr>
            <a:xfrm>
              <a:off x="1885314" y="2432563"/>
              <a:ext cx="1561974" cy="1493637"/>
            </a:xfrm>
            <a:custGeom>
              <a:avLst/>
              <a:gdLst/>
              <a:ahLst/>
              <a:cxnLst/>
              <a:rect l="l" t="t" r="r" b="b"/>
              <a:pathLst>
                <a:path w="1561974" h="1493637">
                  <a:moveTo>
                    <a:pt x="0" y="0"/>
                  </a:moveTo>
                  <a:lnTo>
                    <a:pt x="1561974" y="0"/>
                  </a:lnTo>
                  <a:lnTo>
                    <a:pt x="1561974" y="1493637"/>
                  </a:lnTo>
                  <a:lnTo>
                    <a:pt x="0" y="14936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9" name="Freeform 9"/>
            <p:cNvSpPr/>
            <p:nvPr/>
          </p:nvSpPr>
          <p:spPr>
            <a:xfrm>
              <a:off x="1885314" y="4405675"/>
              <a:ext cx="1319260" cy="1618724"/>
            </a:xfrm>
            <a:custGeom>
              <a:avLst/>
              <a:gdLst/>
              <a:ahLst/>
              <a:cxnLst/>
              <a:rect l="l" t="t" r="r" b="b"/>
              <a:pathLst>
                <a:path w="1319260" h="1618724">
                  <a:moveTo>
                    <a:pt x="0" y="0"/>
                  </a:moveTo>
                  <a:lnTo>
                    <a:pt x="1319260" y="0"/>
                  </a:lnTo>
                  <a:lnTo>
                    <a:pt x="1319260" y="1618724"/>
                  </a:lnTo>
                  <a:lnTo>
                    <a:pt x="0" y="16187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0" name="Freeform 10"/>
            <p:cNvSpPr/>
            <p:nvPr/>
          </p:nvSpPr>
          <p:spPr>
            <a:xfrm>
              <a:off x="1838010" y="6171025"/>
              <a:ext cx="1413869" cy="1665825"/>
            </a:xfrm>
            <a:custGeom>
              <a:avLst/>
              <a:gdLst/>
              <a:ahLst/>
              <a:cxnLst/>
              <a:rect l="l" t="t" r="r" b="b"/>
              <a:pathLst>
                <a:path w="1413869" h="1665825">
                  <a:moveTo>
                    <a:pt x="0" y="0"/>
                  </a:moveTo>
                  <a:lnTo>
                    <a:pt x="1413869" y="0"/>
                  </a:lnTo>
                  <a:lnTo>
                    <a:pt x="1413869" y="1665825"/>
                  </a:lnTo>
                  <a:lnTo>
                    <a:pt x="0" y="16658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1" name="Freeform 11"/>
            <p:cNvSpPr/>
            <p:nvPr/>
          </p:nvSpPr>
          <p:spPr>
            <a:xfrm>
              <a:off x="1728097" y="7979725"/>
              <a:ext cx="1719191" cy="1719191"/>
            </a:xfrm>
            <a:custGeom>
              <a:avLst/>
              <a:gdLst/>
              <a:ahLst/>
              <a:cxnLst/>
              <a:rect l="l" t="t" r="r" b="b"/>
              <a:pathLst>
                <a:path w="1719191" h="1719191">
                  <a:moveTo>
                    <a:pt x="0" y="0"/>
                  </a:moveTo>
                  <a:lnTo>
                    <a:pt x="1719191" y="0"/>
                  </a:lnTo>
                  <a:lnTo>
                    <a:pt x="1719191" y="1719191"/>
                  </a:lnTo>
                  <a:lnTo>
                    <a:pt x="0" y="17191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12" name="TextBox 12"/>
          <p:cNvSpPr txBox="1"/>
          <p:nvPr/>
        </p:nvSpPr>
        <p:spPr>
          <a:xfrm>
            <a:off x="5311702" y="1067452"/>
            <a:ext cx="7657072" cy="851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Fundamentação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Teórica</a:t>
            </a:r>
            <a:endParaRPr lang="en-US" sz="5562" dirty="0">
              <a:solidFill>
                <a:srgbClr val="000000"/>
              </a:solidFill>
              <a:latin typeface="+mj-lt"/>
              <a:ea typeface="Arimo"/>
              <a:cs typeface="Arimo"/>
              <a:sym typeface="Arimo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4878758" y="3179381"/>
            <a:ext cx="11523928" cy="5652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93726" lvl="1" indent="-296863" algn="l">
              <a:lnSpc>
                <a:spcPts val="3437"/>
              </a:lnSpc>
              <a:buFont typeface="Arial"/>
              <a:buChar char="•"/>
            </a:pP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Educação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Inclusiva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Diretrizes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Lei nº 13.146/2015 (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Estatuto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Pessoa com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Deficiência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) e a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importância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gestão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do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Atendimento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Educacional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Especializado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(AEE).</a:t>
            </a:r>
          </a:p>
          <a:p>
            <a:pPr algn="l">
              <a:lnSpc>
                <a:spcPts val="3437"/>
              </a:lnSpc>
            </a:pPr>
            <a:endParaRPr lang="en-US" sz="2750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marL="593726" lvl="1" indent="-296863">
              <a:lnSpc>
                <a:spcPts val="3437"/>
              </a:lnSpc>
              <a:buFont typeface="Arial"/>
              <a:buChar char="•"/>
            </a:pP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Privacidade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e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Ética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Diretrizes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LGPD (Lei nº 13.709/2018) </a:t>
            </a:r>
            <a:r>
              <a:rPr lang="pt-BR" sz="2800" dirty="0"/>
              <a:t>voltadas para garantir o bem-estar das crianças e adolescentes e proteger informações pessoais delicadas, como dados de saúde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</a:t>
            </a:r>
          </a:p>
          <a:p>
            <a:pPr algn="l">
              <a:lnSpc>
                <a:spcPts val="3437"/>
              </a:lnSpc>
            </a:pPr>
            <a:endParaRPr lang="en-US" sz="2750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marL="593726" lvl="1" indent="-296863" algn="l">
              <a:lnSpc>
                <a:spcPts val="3437"/>
              </a:lnSpc>
              <a:buFont typeface="Arial"/>
              <a:buChar char="•"/>
            </a:pP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Segurança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Informação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Adoção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padrões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globais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OWASP (Top 10 e ASVS) e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aplicação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Modelagem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Ameaças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STRIDE.</a:t>
            </a:r>
          </a:p>
          <a:p>
            <a:pPr algn="l">
              <a:lnSpc>
                <a:spcPts val="3437"/>
              </a:lnSpc>
            </a:pPr>
            <a:endParaRPr lang="en-US" sz="2750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marL="593726" lvl="1" indent="-296863" algn="l">
              <a:lnSpc>
                <a:spcPts val="3437"/>
              </a:lnSpc>
              <a:buFont typeface="Arial"/>
              <a:buChar char="•"/>
            </a:pP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Arquitetura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Software: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Modelos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Serverless (Backend as a Service) e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segurança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isolada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no banco de dados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através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Row Level Security (RLS).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2610082" y="2483689"/>
            <a:ext cx="14649218" cy="76026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Tipo de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Pesquisa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: 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Pesquisa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aplicada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abordagem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qualitativa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,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baseada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no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desenvolvimento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ágil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software com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entregas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incrementais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(Sprints).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ea typeface="Noto Sans"/>
              <a:cs typeface="Noto Sans"/>
              <a:sym typeface="Noto Sans"/>
            </a:endParaRP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ea typeface="Noto Sans"/>
              <a:cs typeface="Noto Sans"/>
              <a:sym typeface="Noto Sans"/>
            </a:endParaRP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Coleta de Dados (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Requisitos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): 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Elicitação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através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entrevistas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não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estruturadas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com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profissionais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da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área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da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educação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ea typeface="Noto Sans"/>
              <a:cs typeface="Noto Sans"/>
              <a:sym typeface="Noto Sans"/>
            </a:endParaRP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ea typeface="Noto Sans"/>
              <a:cs typeface="Noto Sans"/>
              <a:sym typeface="Noto Sans"/>
            </a:endParaRP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Procedimentos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Desenvolvimento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:  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Modelagem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dados e design de interfaces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focadas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em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UI/UX.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Automação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via pipeline CI/CD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utilizando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GitHub Actions 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Vercel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Empacotamento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híbrido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(PWA 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nativo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Android via Capacitor).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ea typeface="Noto Sans"/>
              <a:cs typeface="Noto Sans"/>
              <a:sym typeface="Noto Sans"/>
            </a:endParaRP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ea typeface="Noto Sans"/>
              <a:cs typeface="Noto Sans"/>
              <a:sym typeface="Noto Sans"/>
            </a:endParaRP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Estratégia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Validação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: 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Execução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testes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automatizados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unitários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/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integração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(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Vitest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) e testes de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penetração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Black-Box.</a:t>
            </a:r>
          </a:p>
        </p:txBody>
      </p:sp>
      <p:sp>
        <p:nvSpPr>
          <p:cNvPr id="9" name="Freeform 9"/>
          <p:cNvSpPr/>
          <p:nvPr/>
        </p:nvSpPr>
        <p:spPr>
          <a:xfrm>
            <a:off x="395757" y="2531314"/>
            <a:ext cx="1909823" cy="1272420"/>
          </a:xfrm>
          <a:custGeom>
            <a:avLst/>
            <a:gdLst/>
            <a:ahLst/>
            <a:cxnLst/>
            <a:rect l="l" t="t" r="r" b="b"/>
            <a:pathLst>
              <a:path w="1909823" h="1272420">
                <a:moveTo>
                  <a:pt x="0" y="0"/>
                </a:moveTo>
                <a:lnTo>
                  <a:pt x="1909823" y="0"/>
                </a:lnTo>
                <a:lnTo>
                  <a:pt x="1909823" y="1272420"/>
                </a:lnTo>
                <a:lnTo>
                  <a:pt x="0" y="12724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453542" y="4333914"/>
            <a:ext cx="1713719" cy="1718015"/>
          </a:xfrm>
          <a:custGeom>
            <a:avLst/>
            <a:gdLst/>
            <a:ahLst/>
            <a:cxnLst/>
            <a:rect l="l" t="t" r="r" b="b"/>
            <a:pathLst>
              <a:path w="1713719" h="1718015">
                <a:moveTo>
                  <a:pt x="0" y="0"/>
                </a:moveTo>
                <a:lnTo>
                  <a:pt x="1713719" y="0"/>
                </a:lnTo>
                <a:lnTo>
                  <a:pt x="1713719" y="1718015"/>
                </a:lnTo>
                <a:lnTo>
                  <a:pt x="0" y="171801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395757" y="6385744"/>
            <a:ext cx="1582979" cy="1670690"/>
          </a:xfrm>
          <a:custGeom>
            <a:avLst/>
            <a:gdLst/>
            <a:ahLst/>
            <a:cxnLst/>
            <a:rect l="l" t="t" r="r" b="b"/>
            <a:pathLst>
              <a:path w="1582979" h="1670690">
                <a:moveTo>
                  <a:pt x="0" y="0"/>
                </a:moveTo>
                <a:lnTo>
                  <a:pt x="1582979" y="0"/>
                </a:lnTo>
                <a:lnTo>
                  <a:pt x="1582979" y="1670690"/>
                </a:lnTo>
                <a:lnTo>
                  <a:pt x="0" y="167069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453542" y="8390249"/>
            <a:ext cx="1525195" cy="1525195"/>
          </a:xfrm>
          <a:custGeom>
            <a:avLst/>
            <a:gdLst/>
            <a:ahLst/>
            <a:cxnLst/>
            <a:rect l="l" t="t" r="r" b="b"/>
            <a:pathLst>
              <a:path w="1525195" h="1525195">
                <a:moveTo>
                  <a:pt x="0" y="0"/>
                </a:moveTo>
                <a:lnTo>
                  <a:pt x="1525194" y="0"/>
                </a:lnTo>
                <a:lnTo>
                  <a:pt x="1525194" y="1525195"/>
                </a:lnTo>
                <a:lnTo>
                  <a:pt x="0" y="152519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6881115" y="1227385"/>
            <a:ext cx="3848695" cy="851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Metodologia</a:t>
            </a:r>
            <a:endParaRPr lang="en-US" sz="5562" dirty="0">
              <a:solidFill>
                <a:srgbClr val="000000"/>
              </a:solidFill>
              <a:latin typeface="+mj-lt"/>
              <a:ea typeface="Arimo"/>
              <a:cs typeface="Arimo"/>
              <a:sym typeface="Arim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Freeform 8"/>
          <p:cNvSpPr/>
          <p:nvPr/>
        </p:nvSpPr>
        <p:spPr>
          <a:xfrm>
            <a:off x="1275759" y="3947408"/>
            <a:ext cx="1204836" cy="1204836"/>
          </a:xfrm>
          <a:custGeom>
            <a:avLst/>
            <a:gdLst/>
            <a:ahLst/>
            <a:cxnLst/>
            <a:rect l="l" t="t" r="r" b="b"/>
            <a:pathLst>
              <a:path w="1204836" h="1204836">
                <a:moveTo>
                  <a:pt x="0" y="0"/>
                </a:moveTo>
                <a:lnTo>
                  <a:pt x="1204837" y="0"/>
                </a:lnTo>
                <a:lnTo>
                  <a:pt x="1204837" y="1204836"/>
                </a:lnTo>
                <a:lnTo>
                  <a:pt x="0" y="120483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6804717" y="3947408"/>
            <a:ext cx="1007333" cy="1219162"/>
          </a:xfrm>
          <a:custGeom>
            <a:avLst/>
            <a:gdLst/>
            <a:ahLst/>
            <a:cxnLst/>
            <a:rect l="l" t="t" r="r" b="b"/>
            <a:pathLst>
              <a:path w="1007333" h="1219162">
                <a:moveTo>
                  <a:pt x="0" y="0"/>
                </a:moveTo>
                <a:lnTo>
                  <a:pt x="1007333" y="0"/>
                </a:lnTo>
                <a:lnTo>
                  <a:pt x="1007333" y="1219162"/>
                </a:lnTo>
                <a:lnTo>
                  <a:pt x="0" y="121916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2333684" y="3947408"/>
            <a:ext cx="1219162" cy="1219162"/>
          </a:xfrm>
          <a:custGeom>
            <a:avLst/>
            <a:gdLst/>
            <a:ahLst/>
            <a:cxnLst/>
            <a:rect l="l" t="t" r="r" b="b"/>
            <a:pathLst>
              <a:path w="1219162" h="1219162">
                <a:moveTo>
                  <a:pt x="0" y="0"/>
                </a:moveTo>
                <a:lnTo>
                  <a:pt x="1219162" y="0"/>
                </a:lnTo>
                <a:lnTo>
                  <a:pt x="1219162" y="1219162"/>
                </a:lnTo>
                <a:lnTo>
                  <a:pt x="0" y="121916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992238" y="2522334"/>
            <a:ext cx="7107136" cy="851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A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Solução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Proposta</a:t>
            </a:r>
            <a:endParaRPr lang="en-US" sz="5562" dirty="0">
              <a:solidFill>
                <a:srgbClr val="000000"/>
              </a:solidFill>
              <a:latin typeface="+mj-lt"/>
              <a:ea typeface="Arimo"/>
              <a:cs typeface="Arimo"/>
              <a:sym typeface="Arimo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1275759" y="5411991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Objetivo</a:t>
            </a:r>
            <a:endParaRPr lang="en-US" sz="2750" dirty="0">
              <a:solidFill>
                <a:srgbClr val="000000"/>
              </a:solidFill>
              <a:latin typeface="+mj-lt"/>
              <a:ea typeface="Arimo"/>
              <a:cs typeface="Arimo"/>
              <a:sym typeface="Arimo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275759" y="5977385"/>
            <a:ext cx="4678413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Sistema Web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Centralizado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para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gestão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alunos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atípicos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804717" y="5411991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Público-Alvo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804717" y="5977385"/>
            <a:ext cx="4678413" cy="13508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Conecta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Gestores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,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Cuidadores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Responsáveis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em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uma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única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plataforma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333684" y="5411991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Foco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333684" y="5977385"/>
            <a:ext cx="4678413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Substituir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processos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manuais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por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um "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cofre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digital"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seguro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acessível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690858" y="1199269"/>
            <a:ext cx="6977805" cy="5928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12"/>
              </a:lnSpc>
            </a:pPr>
            <a:r>
              <a:rPr lang="en-US" sz="3875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Stack </a:t>
            </a:r>
            <a:r>
              <a:rPr lang="en-US" sz="3875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Tecnológica</a:t>
            </a:r>
            <a:r>
              <a:rPr lang="en-US" sz="3875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Moderna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90858" y="2099239"/>
            <a:ext cx="1375442" cy="3269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r>
              <a:rPr lang="en-US" sz="2499" b="1" dirty="0">
                <a:solidFill>
                  <a:srgbClr val="000000"/>
                </a:solidFill>
                <a:latin typeface="+mj-lt"/>
                <a:ea typeface="Arimo Bold"/>
                <a:cs typeface="Arimo Bold"/>
                <a:sym typeface="Arimo Bold"/>
              </a:rPr>
              <a:t>Frontend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90858" y="2604959"/>
            <a:ext cx="8212341" cy="6213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React com TypeScript e Tailwind CSS (Foco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em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</a:p>
          <a:p>
            <a:pPr algn="l">
              <a:lnSpc>
                <a:spcPts val="2437"/>
              </a:lnSpc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Usabilidade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Acessibilidade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).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90858" y="3625477"/>
            <a:ext cx="1323353" cy="6221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endParaRPr dirty="0"/>
          </a:p>
          <a:p>
            <a:pPr algn="l">
              <a:lnSpc>
                <a:spcPts val="2375"/>
              </a:lnSpc>
            </a:pPr>
            <a:r>
              <a:rPr lang="en-US" sz="2499" b="1" dirty="0">
                <a:solidFill>
                  <a:srgbClr val="000000"/>
                </a:solidFill>
                <a:latin typeface="+mj-lt"/>
                <a:ea typeface="Arimo Bold"/>
                <a:cs typeface="Arimo Bold"/>
                <a:sym typeface="Arimo Bold"/>
              </a:rPr>
              <a:t>Backend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69798" y="4131188"/>
            <a:ext cx="8212341" cy="6231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endParaRPr dirty="0"/>
          </a:p>
          <a:p>
            <a:pPr algn="l">
              <a:lnSpc>
                <a:spcPts val="2437"/>
              </a:lnSpc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Supabase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(Backend as a Service).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69798" y="4644195"/>
            <a:ext cx="2467270" cy="6231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endParaRPr dirty="0"/>
          </a:p>
          <a:p>
            <a:pPr algn="l">
              <a:lnSpc>
                <a:spcPts val="2375"/>
              </a:lnSpc>
            </a:pPr>
            <a:r>
              <a:rPr lang="en-US" sz="24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Infraestrutura</a:t>
            </a:r>
            <a:endParaRPr lang="en-US" sz="24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669798" y="5149915"/>
            <a:ext cx="8212341" cy="6231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endParaRPr dirty="0"/>
          </a:p>
          <a:p>
            <a:pPr algn="l">
              <a:lnSpc>
                <a:spcPts val="2437"/>
              </a:lnSpc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Vercel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(Serverless Edge).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9384802" y="851221"/>
            <a:ext cx="8212341" cy="8212341"/>
            <a:chOff x="0" y="0"/>
            <a:chExt cx="10949788" cy="10949788"/>
          </a:xfrm>
        </p:grpSpPr>
        <p:sp>
          <p:nvSpPr>
            <p:cNvPr id="16" name="Freeform 16" descr="preencoded.png"/>
            <p:cNvSpPr/>
            <p:nvPr/>
          </p:nvSpPr>
          <p:spPr>
            <a:xfrm>
              <a:off x="0" y="0"/>
              <a:ext cx="10949813" cy="10949813"/>
            </a:xfrm>
            <a:custGeom>
              <a:avLst/>
              <a:gdLst/>
              <a:ahLst/>
              <a:cxnLst/>
              <a:rect l="l" t="t" r="r" b="b"/>
              <a:pathLst>
                <a:path w="10949813" h="10949813">
                  <a:moveTo>
                    <a:pt x="0" y="0"/>
                  </a:moveTo>
                  <a:lnTo>
                    <a:pt x="10949813" y="0"/>
                  </a:lnTo>
                  <a:lnTo>
                    <a:pt x="10949813" y="10949813"/>
                  </a:lnTo>
                  <a:lnTo>
                    <a:pt x="0" y="109498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sp>
        <p:nvSpPr>
          <p:cNvPr id="17" name="TextBox 17"/>
          <p:cNvSpPr txBox="1"/>
          <p:nvPr/>
        </p:nvSpPr>
        <p:spPr>
          <a:xfrm>
            <a:off x="9394327" y="10560691"/>
            <a:ext cx="8212341" cy="3728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1500">
                <a:solidFill>
                  <a:srgbClr val="E0D6DE"/>
                </a:solidFill>
                <a:latin typeface="Noto Sans"/>
                <a:ea typeface="Noto Sans"/>
                <a:cs typeface="Noto Sans"/>
                <a:sym typeface="Noto Sans"/>
              </a:rPr>
              <a:t>Arquitetura Serverless para alta disponibilidade e baixo custo de manutenção.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669798" y="5143500"/>
            <a:ext cx="7746921" cy="4931931"/>
            <a:chOff x="0" y="0"/>
            <a:chExt cx="10329228" cy="657590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0329291" cy="6575933"/>
            </a:xfrm>
            <a:custGeom>
              <a:avLst/>
              <a:gdLst/>
              <a:ahLst/>
              <a:cxnLst/>
              <a:rect l="l" t="t" r="r" b="b"/>
              <a:pathLst>
                <a:path w="10329291" h="6575933">
                  <a:moveTo>
                    <a:pt x="0" y="0"/>
                  </a:moveTo>
                  <a:lnTo>
                    <a:pt x="10329291" y="0"/>
                  </a:lnTo>
                  <a:lnTo>
                    <a:pt x="10329291" y="6575933"/>
                  </a:lnTo>
                  <a:lnTo>
                    <a:pt x="0" y="65759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9692641" y="1028700"/>
            <a:ext cx="7010400" cy="3962400"/>
            <a:chOff x="0" y="0"/>
            <a:chExt cx="10329228" cy="6514579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0329291" cy="6514592"/>
            </a:xfrm>
            <a:custGeom>
              <a:avLst/>
              <a:gdLst/>
              <a:ahLst/>
              <a:cxnLst/>
              <a:rect l="l" t="t" r="r" b="b"/>
              <a:pathLst>
                <a:path w="10329291" h="6514592">
                  <a:moveTo>
                    <a:pt x="0" y="0"/>
                  </a:moveTo>
                  <a:lnTo>
                    <a:pt x="10329291" y="0"/>
                  </a:lnTo>
                  <a:lnTo>
                    <a:pt x="10329291" y="6514592"/>
                  </a:lnTo>
                  <a:lnTo>
                    <a:pt x="0" y="651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sp>
        <p:nvSpPr>
          <p:cNvPr id="14" name="TextBox 14"/>
          <p:cNvSpPr txBox="1"/>
          <p:nvPr/>
        </p:nvSpPr>
        <p:spPr>
          <a:xfrm>
            <a:off x="848439" y="857822"/>
            <a:ext cx="8961120" cy="1666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3500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Prints das </a:t>
            </a:r>
            <a:r>
              <a:rPr lang="en-US" sz="3500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Telas</a:t>
            </a:r>
            <a:r>
              <a:rPr lang="en-US" sz="3500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do Gestor, </a:t>
            </a:r>
            <a:r>
              <a:rPr lang="en-US" sz="3500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Cuidador</a:t>
            </a:r>
            <a:r>
              <a:rPr lang="en-US" sz="3500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e </a:t>
            </a:r>
            <a:r>
              <a:rPr lang="en-US" sz="3500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Responsável</a:t>
            </a:r>
            <a:endParaRPr lang="en-US" sz="3500" dirty="0">
              <a:solidFill>
                <a:srgbClr val="000000"/>
              </a:solidFill>
              <a:latin typeface="+mj-lt"/>
              <a:ea typeface="Arimo"/>
              <a:cs typeface="Arimo"/>
              <a:sym typeface="Arimo"/>
            </a:endParaRPr>
          </a:p>
        </p:txBody>
      </p:sp>
      <p:pic>
        <p:nvPicPr>
          <p:cNvPr id="16" name="Imagem 15">
            <a:extLst>
              <a:ext uri="{FF2B5EF4-FFF2-40B4-BE49-F238E27FC236}">
                <a16:creationId xmlns:a16="http://schemas.microsoft.com/office/drawing/2014/main" id="{A46474F6-77FB-9463-5450-1918E1D3BA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92640" y="5143500"/>
            <a:ext cx="7010400" cy="439597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992239" y="1975247"/>
            <a:ext cx="14704962" cy="8519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Engenharia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de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Segurança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- Row Level Security (RLS)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992238" y="4758480"/>
            <a:ext cx="5245446" cy="152400"/>
            <a:chOff x="0" y="0"/>
            <a:chExt cx="6993928" cy="203200"/>
          </a:xfrm>
        </p:grpSpPr>
        <p:sp>
          <p:nvSpPr>
            <p:cNvPr id="10" name="Freeform 10" descr="preencoded.png"/>
            <p:cNvSpPr/>
            <p:nvPr/>
          </p:nvSpPr>
          <p:spPr>
            <a:xfrm>
              <a:off x="0" y="0"/>
              <a:ext cx="6993890" cy="203200"/>
            </a:xfrm>
            <a:custGeom>
              <a:avLst/>
              <a:gdLst/>
              <a:ahLst/>
              <a:cxnLst/>
              <a:rect l="l" t="t" r="r" b="b"/>
              <a:pathLst>
                <a:path w="6993890" h="203200">
                  <a:moveTo>
                    <a:pt x="0" y="0"/>
                  </a:moveTo>
                  <a:lnTo>
                    <a:pt x="6993890" y="0"/>
                  </a:lnTo>
                  <a:lnTo>
                    <a:pt x="6993890" y="203200"/>
                  </a:lnTo>
                  <a:lnTo>
                    <a:pt x="0" y="20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6" r="-27"/>
              </a:stretch>
            </a:blipFill>
          </p:spPr>
        </p:sp>
      </p:grpSp>
      <p:sp>
        <p:nvSpPr>
          <p:cNvPr id="11" name="TextBox 11"/>
          <p:cNvSpPr txBox="1"/>
          <p:nvPr/>
        </p:nvSpPr>
        <p:spPr>
          <a:xfrm>
            <a:off x="1313859" y="5467198"/>
            <a:ext cx="3774872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O Grande Diferencial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313859" y="6032602"/>
            <a:ext cx="4602213" cy="13436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segurança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não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depende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apenas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da API, mas é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aplicada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diretamente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no Banco de Dados (PostgreSQL).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6521206" y="4758480"/>
            <a:ext cx="5245446" cy="152400"/>
            <a:chOff x="0" y="0"/>
            <a:chExt cx="6993928" cy="203200"/>
          </a:xfrm>
        </p:grpSpPr>
        <p:sp>
          <p:nvSpPr>
            <p:cNvPr id="14" name="Freeform 14" descr="preencoded.png"/>
            <p:cNvSpPr/>
            <p:nvPr/>
          </p:nvSpPr>
          <p:spPr>
            <a:xfrm>
              <a:off x="0" y="0"/>
              <a:ext cx="6993890" cy="203200"/>
            </a:xfrm>
            <a:custGeom>
              <a:avLst/>
              <a:gdLst/>
              <a:ahLst/>
              <a:cxnLst/>
              <a:rect l="l" t="t" r="r" b="b"/>
              <a:pathLst>
                <a:path w="6993890" h="203200">
                  <a:moveTo>
                    <a:pt x="0" y="0"/>
                  </a:moveTo>
                  <a:lnTo>
                    <a:pt x="6993890" y="0"/>
                  </a:lnTo>
                  <a:lnTo>
                    <a:pt x="6993890" y="203200"/>
                  </a:lnTo>
                  <a:lnTo>
                    <a:pt x="0" y="20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6" r="-27"/>
              </a:stretch>
            </a:blipFill>
          </p:spPr>
        </p:sp>
      </p:grpSp>
      <p:sp>
        <p:nvSpPr>
          <p:cNvPr id="15" name="TextBox 15"/>
          <p:cNvSpPr txBox="1"/>
          <p:nvPr/>
        </p:nvSpPr>
        <p:spPr>
          <a:xfrm>
            <a:off x="6842817" y="5467198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Política de Acesso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842817" y="6032602"/>
            <a:ext cx="4602213" cy="18053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Mesmo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com a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chave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pública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exposta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no frontend, o banco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recusa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a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leitura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dados se o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usuário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não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tiver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o token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correto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12050163" y="4758480"/>
            <a:ext cx="5245446" cy="152400"/>
            <a:chOff x="0" y="0"/>
            <a:chExt cx="6993928" cy="203200"/>
          </a:xfrm>
        </p:grpSpPr>
        <p:sp>
          <p:nvSpPr>
            <p:cNvPr id="18" name="Freeform 18" descr="preencoded.png"/>
            <p:cNvSpPr/>
            <p:nvPr/>
          </p:nvSpPr>
          <p:spPr>
            <a:xfrm>
              <a:off x="0" y="0"/>
              <a:ext cx="6993890" cy="203200"/>
            </a:xfrm>
            <a:custGeom>
              <a:avLst/>
              <a:gdLst/>
              <a:ahLst/>
              <a:cxnLst/>
              <a:rect l="l" t="t" r="r" b="b"/>
              <a:pathLst>
                <a:path w="6993890" h="203200">
                  <a:moveTo>
                    <a:pt x="0" y="0"/>
                  </a:moveTo>
                  <a:lnTo>
                    <a:pt x="6993890" y="0"/>
                  </a:lnTo>
                  <a:lnTo>
                    <a:pt x="6993890" y="203200"/>
                  </a:lnTo>
                  <a:lnTo>
                    <a:pt x="0" y="20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6" r="-27"/>
              </a:stretch>
            </a:blipFill>
          </p:spPr>
        </p:sp>
      </p:grpSp>
      <p:grpSp>
        <p:nvGrpSpPr>
          <p:cNvPr id="19" name="Group 19"/>
          <p:cNvGrpSpPr/>
          <p:nvPr/>
        </p:nvGrpSpPr>
        <p:grpSpPr>
          <a:xfrm>
            <a:off x="14247543" y="4371384"/>
            <a:ext cx="850554" cy="850554"/>
            <a:chOff x="0" y="0"/>
            <a:chExt cx="1134072" cy="1134072"/>
          </a:xfrm>
        </p:grpSpPr>
        <p:sp>
          <p:nvSpPr>
            <p:cNvPr id="20" name="Freeform 20" descr="preencoded.png"/>
            <p:cNvSpPr/>
            <p:nvPr/>
          </p:nvSpPr>
          <p:spPr>
            <a:xfrm>
              <a:off x="0" y="0"/>
              <a:ext cx="1134110" cy="1134110"/>
            </a:xfrm>
            <a:custGeom>
              <a:avLst/>
              <a:gdLst/>
              <a:ahLst/>
              <a:cxnLst/>
              <a:rect l="l" t="t" r="r" b="b"/>
              <a:pathLst>
                <a:path w="1134110" h="1134110">
                  <a:moveTo>
                    <a:pt x="0" y="0"/>
                  </a:moveTo>
                  <a:lnTo>
                    <a:pt x="1134110" y="0"/>
                  </a:lnTo>
                  <a:lnTo>
                    <a:pt x="1134110" y="1134110"/>
                  </a:lnTo>
                  <a:lnTo>
                    <a:pt x="0" y="11341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3" b="3"/>
              </a:stretch>
            </a:blipFill>
          </p:spPr>
        </p:sp>
      </p:grpSp>
      <p:sp>
        <p:nvSpPr>
          <p:cNvPr id="21" name="TextBox 21"/>
          <p:cNvSpPr txBox="1"/>
          <p:nvPr/>
        </p:nvSpPr>
        <p:spPr>
          <a:xfrm>
            <a:off x="12371784" y="5467198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Isolamento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2371784" y="6032602"/>
            <a:ext cx="4602213" cy="13508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Um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Cuidador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jamais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consegue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acessar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dados de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alunos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que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não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são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seus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669798" y="617791"/>
            <a:ext cx="8961120" cy="7804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4000" dirty="0" err="1">
                <a:latin typeface="Arimo"/>
                <a:ea typeface="Arimo"/>
                <a:cs typeface="Arimo"/>
                <a:sym typeface="Arimo"/>
              </a:rPr>
              <a:t>Diagrama</a:t>
            </a:r>
            <a:r>
              <a:rPr lang="en-US" sz="4000" dirty="0">
                <a:latin typeface="Arimo"/>
                <a:ea typeface="Arimo"/>
                <a:cs typeface="Arimo"/>
                <a:sym typeface="Arimo"/>
              </a:rPr>
              <a:t> do Banco de Dados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571500" y="1987201"/>
            <a:ext cx="15692438" cy="7682008"/>
            <a:chOff x="0" y="0"/>
            <a:chExt cx="20923250" cy="10242677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0923250" cy="10242677"/>
            </a:xfrm>
            <a:custGeom>
              <a:avLst/>
              <a:gdLst/>
              <a:ahLst/>
              <a:cxnLst/>
              <a:rect l="l" t="t" r="r" b="b"/>
              <a:pathLst>
                <a:path w="20923250" h="10242677">
                  <a:moveTo>
                    <a:pt x="0" y="0"/>
                  </a:moveTo>
                  <a:lnTo>
                    <a:pt x="20923250" y="0"/>
                  </a:lnTo>
                  <a:lnTo>
                    <a:pt x="20923250" y="10242677"/>
                  </a:lnTo>
                  <a:lnTo>
                    <a:pt x="0" y="102426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11430000" y="0"/>
            <a:ext cx="6858000" cy="10287000"/>
            <a:chOff x="0" y="0"/>
            <a:chExt cx="9144000" cy="13716000"/>
          </a:xfrm>
        </p:grpSpPr>
        <p:sp>
          <p:nvSpPr>
            <p:cNvPr id="9" name="Freeform 9" descr="preencoded.png"/>
            <p:cNvSpPr/>
            <p:nvPr/>
          </p:nvSpPr>
          <p:spPr>
            <a:xfrm>
              <a:off x="0" y="0"/>
              <a:ext cx="9144000" cy="13716000"/>
            </a:xfrm>
            <a:custGeom>
              <a:avLst/>
              <a:gdLst/>
              <a:ahLst/>
              <a:cxnLst/>
              <a:rect l="l" t="t" r="r" b="b"/>
              <a:pathLst>
                <a:path w="9144000" h="13716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12" name="Group 12"/>
          <p:cNvGrpSpPr/>
          <p:nvPr/>
        </p:nvGrpSpPr>
        <p:grpSpPr>
          <a:xfrm>
            <a:off x="11824855" y="680466"/>
            <a:ext cx="6477000" cy="9464040"/>
            <a:chOff x="0" y="0"/>
            <a:chExt cx="9144000" cy="13716000"/>
          </a:xfrm>
        </p:grpSpPr>
        <p:sp>
          <p:nvSpPr>
            <p:cNvPr id="13" name="Freeform 13" descr="preencoded.png"/>
            <p:cNvSpPr/>
            <p:nvPr/>
          </p:nvSpPr>
          <p:spPr>
            <a:xfrm>
              <a:off x="0" y="0"/>
              <a:ext cx="9144000" cy="13716000"/>
            </a:xfrm>
            <a:custGeom>
              <a:avLst/>
              <a:gdLst/>
              <a:ahLst/>
              <a:cxnLst/>
              <a:rect l="l" t="t" r="r" b="b"/>
              <a:pathLst>
                <a:path w="9144000" h="13716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4" name="TextBox 14"/>
          <p:cNvSpPr txBox="1"/>
          <p:nvPr/>
        </p:nvSpPr>
        <p:spPr>
          <a:xfrm>
            <a:off x="992238" y="1163393"/>
            <a:ext cx="9445523" cy="17367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Validação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de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Segurança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(Pentest)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92238" y="3663105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 b="1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Metodologia</a:t>
            </a:r>
            <a:endParaRPr lang="en-US" sz="2800" b="1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992238" y="4341914"/>
            <a:ext cx="4376890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Testes de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Penetração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Black-Box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baseados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no OWASP ASVS.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92238" y="5580307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 b="1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Ferramenta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92238" y="6128274"/>
            <a:ext cx="4376890" cy="4274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Burp Suite.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224778" y="3687347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 b="1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Resultados</a:t>
            </a:r>
            <a:endParaRPr lang="en-US" sz="2800" b="1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6070397" y="4341914"/>
            <a:ext cx="4376890" cy="4274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SQL Injection: Mitigado.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070397" y="4894659"/>
            <a:ext cx="4376890" cy="8891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XSS (Cross-Site Scripting):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Mitigado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6070397" y="5901033"/>
            <a:ext cx="4376890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Escalação de Privilégios: Bloqueada.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224778" y="7144789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 b="1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Status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6224778" y="7847370"/>
            <a:ext cx="4376890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Aplicação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aprovada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sem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vulnerabilidades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críticas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  <p:grpSp>
        <p:nvGrpSpPr>
          <p:cNvPr id="25" name="Group 25"/>
          <p:cNvGrpSpPr/>
          <p:nvPr/>
        </p:nvGrpSpPr>
        <p:grpSpPr>
          <a:xfrm>
            <a:off x="11811000" y="3223260"/>
            <a:ext cx="6477000" cy="3840480"/>
            <a:chOff x="0" y="0"/>
            <a:chExt cx="9144000" cy="5120640"/>
          </a:xfrm>
        </p:grpSpPr>
        <p:sp>
          <p:nvSpPr>
            <p:cNvPr id="26" name="Freeform 26" descr="All about the xz-utils backdoor | Kali Linux Blog"/>
            <p:cNvSpPr/>
            <p:nvPr/>
          </p:nvSpPr>
          <p:spPr>
            <a:xfrm>
              <a:off x="0" y="0"/>
              <a:ext cx="9144000" cy="5120640"/>
            </a:xfrm>
            <a:custGeom>
              <a:avLst/>
              <a:gdLst/>
              <a:ahLst/>
              <a:cxnLst/>
              <a:rect l="l" t="t" r="r" b="b"/>
              <a:pathLst>
                <a:path w="9144000" h="5120640">
                  <a:moveTo>
                    <a:pt x="0" y="0"/>
                  </a:moveTo>
                  <a:lnTo>
                    <a:pt x="9144000" y="0"/>
                  </a:lnTo>
                  <a:lnTo>
                    <a:pt x="9144000" y="5120640"/>
                  </a:lnTo>
                  <a:lnTo>
                    <a:pt x="0" y="512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992238" y="4617244"/>
            <a:ext cx="5245446" cy="850554"/>
            <a:chOff x="0" y="0"/>
            <a:chExt cx="6993928" cy="113407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993890" cy="1134110"/>
            </a:xfrm>
            <a:custGeom>
              <a:avLst/>
              <a:gdLst/>
              <a:ahLst/>
              <a:cxnLst/>
              <a:rect l="l" t="t" r="r" b="b"/>
              <a:pathLst>
                <a:path w="6993890" h="1134110">
                  <a:moveTo>
                    <a:pt x="0" y="567055"/>
                  </a:moveTo>
                  <a:cubicBezTo>
                    <a:pt x="0" y="253873"/>
                    <a:pt x="253873" y="0"/>
                    <a:pt x="567055" y="0"/>
                  </a:cubicBezTo>
                  <a:lnTo>
                    <a:pt x="6426835" y="0"/>
                  </a:lnTo>
                  <a:cubicBezTo>
                    <a:pt x="6740017" y="0"/>
                    <a:pt x="6993890" y="253873"/>
                    <a:pt x="6993890" y="567055"/>
                  </a:cubicBezTo>
                  <a:cubicBezTo>
                    <a:pt x="6993890" y="880237"/>
                    <a:pt x="6740017" y="1134110"/>
                    <a:pt x="6426835" y="1134110"/>
                  </a:cubicBezTo>
                  <a:lnTo>
                    <a:pt x="567055" y="1134110"/>
                  </a:lnTo>
                  <a:cubicBezTo>
                    <a:pt x="253873" y="1134110"/>
                    <a:pt x="0" y="880237"/>
                    <a:pt x="0" y="567055"/>
                  </a:cubicBezTo>
                  <a:close/>
                </a:path>
              </a:pathLst>
            </a:custGeom>
            <a:solidFill>
              <a:srgbClr val="26262B"/>
            </a:solidFill>
          </p:spPr>
        </p:sp>
      </p:grpSp>
      <p:grpSp>
        <p:nvGrpSpPr>
          <p:cNvPr id="10" name="Group 10"/>
          <p:cNvGrpSpPr/>
          <p:nvPr/>
        </p:nvGrpSpPr>
        <p:grpSpPr>
          <a:xfrm>
            <a:off x="6521277" y="4617244"/>
            <a:ext cx="5245418" cy="850583"/>
            <a:chOff x="0" y="0"/>
            <a:chExt cx="6993891" cy="1134111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993891" cy="1134111"/>
            </a:xfrm>
            <a:custGeom>
              <a:avLst/>
              <a:gdLst/>
              <a:ahLst/>
              <a:cxnLst/>
              <a:rect l="l" t="t" r="r" b="b"/>
              <a:pathLst>
                <a:path w="6993890" h="1134110">
                  <a:moveTo>
                    <a:pt x="0" y="567055"/>
                  </a:moveTo>
                  <a:cubicBezTo>
                    <a:pt x="0" y="253873"/>
                    <a:pt x="253873" y="0"/>
                    <a:pt x="567055" y="0"/>
                  </a:cubicBezTo>
                  <a:lnTo>
                    <a:pt x="6426835" y="0"/>
                  </a:lnTo>
                  <a:cubicBezTo>
                    <a:pt x="6740017" y="0"/>
                    <a:pt x="6993890" y="253873"/>
                    <a:pt x="6993890" y="567055"/>
                  </a:cubicBezTo>
                  <a:cubicBezTo>
                    <a:pt x="6993890" y="880237"/>
                    <a:pt x="6740017" y="1134110"/>
                    <a:pt x="6426835" y="1134110"/>
                  </a:cubicBezTo>
                  <a:lnTo>
                    <a:pt x="567055" y="1134110"/>
                  </a:lnTo>
                  <a:cubicBezTo>
                    <a:pt x="253873" y="1134110"/>
                    <a:pt x="0" y="880237"/>
                    <a:pt x="0" y="567055"/>
                  </a:cubicBezTo>
                  <a:close/>
                </a:path>
              </a:pathLst>
            </a:custGeom>
            <a:solidFill>
              <a:srgbClr val="26262B"/>
            </a:solidFill>
          </p:spPr>
        </p:sp>
      </p:grpSp>
      <p:sp>
        <p:nvSpPr>
          <p:cNvPr id="12" name="Freeform 12" descr="preencoded.png"/>
          <p:cNvSpPr/>
          <p:nvPr/>
        </p:nvSpPr>
        <p:spPr>
          <a:xfrm>
            <a:off x="8931326" y="4829766"/>
            <a:ext cx="425206" cy="425206"/>
          </a:xfrm>
          <a:custGeom>
            <a:avLst/>
            <a:gdLst/>
            <a:ahLst/>
            <a:cxnLst/>
            <a:rect l="l" t="t" r="r" b="b"/>
            <a:pathLst>
              <a:path w="425206" h="425206">
                <a:moveTo>
                  <a:pt x="0" y="0"/>
                </a:moveTo>
                <a:lnTo>
                  <a:pt x="425205" y="0"/>
                </a:lnTo>
                <a:lnTo>
                  <a:pt x="425205" y="425205"/>
                </a:lnTo>
                <a:lnTo>
                  <a:pt x="0" y="42520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1111" r="-1111"/>
            </a:stretch>
          </a:blipFill>
        </p:spPr>
      </p:sp>
      <p:grpSp>
        <p:nvGrpSpPr>
          <p:cNvPr id="13" name="Group 13"/>
          <p:cNvGrpSpPr/>
          <p:nvPr/>
        </p:nvGrpSpPr>
        <p:grpSpPr>
          <a:xfrm>
            <a:off x="12050163" y="4617244"/>
            <a:ext cx="5245446" cy="850554"/>
            <a:chOff x="0" y="0"/>
            <a:chExt cx="6993928" cy="113407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993890" cy="1134110"/>
            </a:xfrm>
            <a:custGeom>
              <a:avLst/>
              <a:gdLst/>
              <a:ahLst/>
              <a:cxnLst/>
              <a:rect l="l" t="t" r="r" b="b"/>
              <a:pathLst>
                <a:path w="6993890" h="1134110">
                  <a:moveTo>
                    <a:pt x="0" y="567055"/>
                  </a:moveTo>
                  <a:cubicBezTo>
                    <a:pt x="0" y="253873"/>
                    <a:pt x="253873" y="0"/>
                    <a:pt x="567055" y="0"/>
                  </a:cubicBezTo>
                  <a:lnTo>
                    <a:pt x="6426835" y="0"/>
                  </a:lnTo>
                  <a:cubicBezTo>
                    <a:pt x="6740017" y="0"/>
                    <a:pt x="6993890" y="253873"/>
                    <a:pt x="6993890" y="567055"/>
                  </a:cubicBezTo>
                  <a:cubicBezTo>
                    <a:pt x="6993890" y="880237"/>
                    <a:pt x="6740017" y="1134110"/>
                    <a:pt x="6426835" y="1134110"/>
                  </a:cubicBezTo>
                  <a:lnTo>
                    <a:pt x="567055" y="1134110"/>
                  </a:lnTo>
                  <a:cubicBezTo>
                    <a:pt x="253873" y="1134110"/>
                    <a:pt x="0" y="880237"/>
                    <a:pt x="0" y="567055"/>
                  </a:cubicBezTo>
                  <a:close/>
                </a:path>
              </a:pathLst>
            </a:custGeom>
            <a:solidFill>
              <a:srgbClr val="26262B"/>
            </a:solidFill>
          </p:spPr>
        </p:sp>
      </p:grpSp>
      <p:sp>
        <p:nvSpPr>
          <p:cNvPr id="15" name="Freeform 15"/>
          <p:cNvSpPr/>
          <p:nvPr/>
        </p:nvSpPr>
        <p:spPr>
          <a:xfrm>
            <a:off x="14116815" y="4762311"/>
            <a:ext cx="723897" cy="560115"/>
          </a:xfrm>
          <a:custGeom>
            <a:avLst/>
            <a:gdLst/>
            <a:ahLst/>
            <a:cxnLst/>
            <a:rect l="l" t="t" r="r" b="b"/>
            <a:pathLst>
              <a:path w="723897" h="560115">
                <a:moveTo>
                  <a:pt x="0" y="0"/>
                </a:moveTo>
                <a:lnTo>
                  <a:pt x="723897" y="0"/>
                </a:lnTo>
                <a:lnTo>
                  <a:pt x="723897" y="560115"/>
                </a:lnTo>
                <a:lnTo>
                  <a:pt x="0" y="56011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6" name="Freeform 16"/>
          <p:cNvSpPr/>
          <p:nvPr/>
        </p:nvSpPr>
        <p:spPr>
          <a:xfrm>
            <a:off x="3008751" y="4617244"/>
            <a:ext cx="877075" cy="763055"/>
          </a:xfrm>
          <a:custGeom>
            <a:avLst/>
            <a:gdLst/>
            <a:ahLst/>
            <a:cxnLst/>
            <a:rect l="l" t="t" r="r" b="b"/>
            <a:pathLst>
              <a:path w="877075" h="763055">
                <a:moveTo>
                  <a:pt x="0" y="0"/>
                </a:moveTo>
                <a:lnTo>
                  <a:pt x="877074" y="0"/>
                </a:lnTo>
                <a:lnTo>
                  <a:pt x="877074" y="763055"/>
                </a:lnTo>
                <a:lnTo>
                  <a:pt x="0" y="763055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7" name="TextBox 17"/>
          <p:cNvSpPr txBox="1"/>
          <p:nvPr/>
        </p:nvSpPr>
        <p:spPr>
          <a:xfrm>
            <a:off x="992238" y="2221116"/>
            <a:ext cx="16303523" cy="851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Defesa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em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Profundidade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(Advanced Security)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275759" y="5713209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Honeytokens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275759" y="6278613"/>
            <a:ext cx="4678413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Credenciais</a:t>
            </a:r>
            <a:r>
              <a:rPr lang="en-US" sz="2187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falsas </a:t>
            </a:r>
            <a:r>
              <a:rPr lang="en-US" sz="2187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inseridas</a:t>
            </a:r>
            <a:r>
              <a:rPr lang="en-US" sz="2187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no </a:t>
            </a:r>
            <a:r>
              <a:rPr lang="en-US" sz="2187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código</a:t>
            </a:r>
            <a:r>
              <a:rPr lang="en-US" sz="2187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para </a:t>
            </a:r>
            <a:r>
              <a:rPr lang="en-US" sz="2187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atrair</a:t>
            </a:r>
            <a:r>
              <a:rPr lang="en-US" sz="2187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e </a:t>
            </a:r>
            <a:r>
              <a:rPr lang="en-US" sz="2187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detectar</a:t>
            </a:r>
            <a:r>
              <a:rPr lang="en-US" sz="2187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187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invasores</a:t>
            </a:r>
            <a:r>
              <a:rPr lang="en-US" sz="2187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804717" y="5713209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Canary Endpoints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804717" y="6278613"/>
            <a:ext cx="4678413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Rotas monitoradas que disparam alertas ao serem acessadas.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2333684" y="5713209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SIEM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2333684" y="6278613"/>
            <a:ext cx="4678413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Monitoramento de logs em tempo real para resposta a incidentes.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1681306" y="314325"/>
            <a:ext cx="15419869" cy="15585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899"/>
              </a:lnSpc>
            </a:pPr>
            <a:r>
              <a:rPr lang="en-US" sz="5559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Aplicativo</a:t>
            </a:r>
            <a:r>
              <a:rPr lang="en-US" sz="5559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 </a:t>
            </a:r>
            <a:r>
              <a:rPr lang="en-US" sz="5559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PWA</a:t>
            </a:r>
            <a:r>
              <a:rPr lang="en-US" sz="5559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e Capacitor (</a:t>
            </a:r>
            <a:r>
              <a:rPr lang="en-US" sz="5559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Aplicativo</a:t>
            </a:r>
            <a:r>
              <a:rPr lang="en-US" sz="5559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Nativo)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9140238" y="3648837"/>
            <a:ext cx="8241992" cy="2472595"/>
            <a:chOff x="0" y="0"/>
            <a:chExt cx="10989323" cy="3296793"/>
          </a:xfrm>
        </p:grpSpPr>
        <p:sp>
          <p:nvSpPr>
            <p:cNvPr id="10" name="Freeform 10" descr="GitHub - ionic-team/capacitor: Build cross-platform Native Progressive Web  Apps for iOS, Android, and the Web ⚡️"/>
            <p:cNvSpPr/>
            <p:nvPr/>
          </p:nvSpPr>
          <p:spPr>
            <a:xfrm>
              <a:off x="0" y="0"/>
              <a:ext cx="10989310" cy="3296793"/>
            </a:xfrm>
            <a:custGeom>
              <a:avLst/>
              <a:gdLst/>
              <a:ahLst/>
              <a:cxnLst/>
              <a:rect l="l" t="t" r="r" b="b"/>
              <a:pathLst>
                <a:path w="10989310" h="3296793">
                  <a:moveTo>
                    <a:pt x="0" y="0"/>
                  </a:moveTo>
                  <a:lnTo>
                    <a:pt x="10989310" y="0"/>
                  </a:lnTo>
                  <a:lnTo>
                    <a:pt x="10989310" y="3296793"/>
                  </a:lnTo>
                  <a:lnTo>
                    <a:pt x="0" y="32967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grpSp>
        <p:nvGrpSpPr>
          <p:cNvPr id="11" name="Group 11"/>
          <p:cNvGrpSpPr/>
          <p:nvPr/>
        </p:nvGrpSpPr>
        <p:grpSpPr>
          <a:xfrm>
            <a:off x="973026" y="2794064"/>
            <a:ext cx="7468162" cy="4182170"/>
            <a:chOff x="0" y="0"/>
            <a:chExt cx="9957549" cy="5576227"/>
          </a:xfrm>
        </p:grpSpPr>
        <p:sp>
          <p:nvSpPr>
            <p:cNvPr id="12" name="Freeform 12" descr="5 Progressive Web App Alternatives to Popular Android Apps - DroidViews"/>
            <p:cNvSpPr/>
            <p:nvPr/>
          </p:nvSpPr>
          <p:spPr>
            <a:xfrm>
              <a:off x="0" y="0"/>
              <a:ext cx="9957562" cy="5576189"/>
            </a:xfrm>
            <a:custGeom>
              <a:avLst/>
              <a:gdLst/>
              <a:ahLst/>
              <a:cxnLst/>
              <a:rect l="l" t="t" r="r" b="b"/>
              <a:pathLst>
                <a:path w="9957562" h="5576189">
                  <a:moveTo>
                    <a:pt x="0" y="0"/>
                  </a:moveTo>
                  <a:lnTo>
                    <a:pt x="9957562" y="0"/>
                  </a:lnTo>
                  <a:lnTo>
                    <a:pt x="9957562" y="5576189"/>
                  </a:lnTo>
                  <a:lnTo>
                    <a:pt x="0" y="55761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669798" y="2090014"/>
            <a:ext cx="6792786" cy="8463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Considerações</a:t>
            </a:r>
            <a:r>
              <a:rPr lang="en-US" sz="55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Finais</a:t>
            </a:r>
            <a:endParaRPr lang="en-US" sz="5562" dirty="0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992238" y="4413799"/>
            <a:ext cx="5198269" cy="9496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312"/>
              </a:lnSpc>
            </a:pPr>
            <a:r>
              <a:rPr lang="en-US" sz="731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100%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819275" y="5560666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Conformidade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92238" y="6126061"/>
            <a:ext cx="5198269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+mj-lt"/>
                <a:ea typeface="Noto Sans"/>
                <a:cs typeface="Noto Sans"/>
                <a:sym typeface="Noto Sans"/>
              </a:rPr>
              <a:t>Sistema 100% adequado à LGPD (Proteção de dados de menores).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544866" y="4413799"/>
            <a:ext cx="5198269" cy="9496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312"/>
              </a:lnSpc>
            </a:pPr>
            <a:r>
              <a:rPr lang="en-US" sz="7312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Eficiência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371902" y="5560666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Eficiência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544866" y="6126061"/>
            <a:ext cx="5198269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+mj-lt"/>
                <a:ea typeface="Noto Sans"/>
                <a:cs typeface="Noto Sans"/>
                <a:sym typeface="Noto Sans"/>
              </a:rPr>
              <a:t>Eliminação de papéis e comunicação em tempo real entre escola e família.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2097493" y="4413799"/>
            <a:ext cx="5198269" cy="9496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312"/>
              </a:lnSpc>
            </a:pPr>
            <a:r>
              <a:rPr lang="en-US" sz="7312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Conclusão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3658001" y="5560666"/>
            <a:ext cx="2077099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Produto Final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097493" y="6126061"/>
            <a:ext cx="5198269" cy="13436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+mj-lt"/>
                <a:ea typeface="Noto Sans"/>
                <a:cs typeface="Noto Sans"/>
                <a:sym typeface="Noto Sans"/>
              </a:rPr>
              <a:t>O projeto prova que é possível criar software educacional acessível com segurança de nível empresarial.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39652" y="613923"/>
            <a:ext cx="18008697" cy="90972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99"/>
              </a:lnSpc>
              <a:spcBef>
                <a:spcPct val="0"/>
              </a:spcBef>
            </a:pP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REFERÊNCIAS BIBLIOGRÁFICAS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BRASIL. [Portal da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Legislação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]. 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Lei nº 13.146, de 6 de </a:t>
            </a:r>
            <a:r>
              <a:rPr lang="en-US" sz="2599" b="1" dirty="0" err="1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julho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 de 2015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Institui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a Lei Brasileira de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Inclusão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Pessoa com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Deficiência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(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Estatuto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Pessoa com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Deficiência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). Brasília, DF: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Presidência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República, [2015].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Disponível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http://www.planalto.gov.br/ccivil_03/_ato2015 2018/2015/lei/l13146.htm.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Acesso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15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dez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BRASIL. [Portal da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Legislação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]. 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Lei nº 13.709, de 14 de </a:t>
            </a:r>
            <a:r>
              <a:rPr lang="en-US" sz="2599" b="1" dirty="0" err="1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agosto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 de 2018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Lei Geral de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Proteção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Dados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Pessoais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(LGPD). Brasília, DF: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Presidência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República, [2018].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Disponível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http://www.planalto.gov.br/ccivil_03/_ato2017-2020/2018/lei/l13709.htm.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Acesso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15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dez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BRASIL. </a:t>
            </a:r>
            <a:r>
              <a:rPr lang="en-US" sz="2599" b="1" dirty="0" err="1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Decreto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 nº 10.502, de 30 de </a:t>
            </a:r>
            <a:r>
              <a:rPr lang="en-US" sz="2599" b="1" dirty="0" err="1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setembro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 de 2020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Institui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a Política Nacional de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Educação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Especial: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Equitativa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,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Inclusiva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e com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Aprendizado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Longo da Vida. Brasília, DF: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Presidência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República, 2020. LIMA, Marcos Guilherme Oliveira.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Gestão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Atípicos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Sistema Web para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Gestão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Especializada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Alunos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Atípicos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na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Educação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Inclusiva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2025.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Repositório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código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(GitHub).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Disponível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https://github.com/z12guilherme/gestao_atipicos.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Acesso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19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dez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MICROSOFT. 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The STRIDE Threat Model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Azure Security Center, 2026.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Disponível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https://learn.microsoft.com/en-us/azure/security/develop/threat-modeling-tool-threats.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Acesso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15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dez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OWASP FOUNDATION. 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Application Security Verification Standard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(ASVS). Version 4.0.3. 2021.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Disponível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https://owasp.org/www-project-application-security-verification-standard/.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Acesso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15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dez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OWASP FOUNDATION. 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OWASP Top 10:2021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The Most Critical Web Application Security Risks.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Disponível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https://owasp.org/www-project-top-ten/.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Acesso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15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dez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SUPABASE INC. 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Row Level Security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Documentation. 2026.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Disponível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https://supabase.com/docs/guides/auth/row-level-security.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Acesso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15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dez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2025. 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669798" y="446885"/>
            <a:ext cx="18288000" cy="3544043"/>
            <a:chOff x="0" y="0"/>
            <a:chExt cx="24384000" cy="4725391"/>
          </a:xfrm>
        </p:grpSpPr>
        <p:sp>
          <p:nvSpPr>
            <p:cNvPr id="9" name="Freeform 9" descr="preencoded.png"/>
            <p:cNvSpPr/>
            <p:nvPr/>
          </p:nvSpPr>
          <p:spPr>
            <a:xfrm>
              <a:off x="0" y="0"/>
              <a:ext cx="24384000" cy="4725416"/>
            </a:xfrm>
            <a:custGeom>
              <a:avLst/>
              <a:gdLst/>
              <a:ahLst/>
              <a:cxnLst/>
              <a:rect l="l" t="t" r="r" b="b"/>
              <a:pathLst>
                <a:path w="24384000" h="4725416">
                  <a:moveTo>
                    <a:pt x="0" y="0"/>
                  </a:moveTo>
                  <a:lnTo>
                    <a:pt x="24384000" y="0"/>
                  </a:lnTo>
                  <a:lnTo>
                    <a:pt x="24384000" y="4725416"/>
                  </a:lnTo>
                  <a:lnTo>
                    <a:pt x="0" y="47254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0" r="-10"/>
              </a:stretch>
            </a:blipFill>
          </p:spPr>
        </p:sp>
      </p:grpSp>
      <p:sp>
        <p:nvSpPr>
          <p:cNvPr id="10" name="TextBox 10"/>
          <p:cNvSpPr txBox="1"/>
          <p:nvPr/>
        </p:nvSpPr>
        <p:spPr>
          <a:xfrm>
            <a:off x="809358" y="7864373"/>
            <a:ext cx="14176619" cy="18768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937"/>
              </a:lnSpc>
            </a:pPr>
            <a:r>
              <a:rPr lang="en-US" sz="11124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Obrigado!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-165678" y="0"/>
            <a:ext cx="6597253" cy="6597253"/>
            <a:chOff x="0" y="0"/>
            <a:chExt cx="8796338" cy="8796338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96401" cy="8796401"/>
            </a:xfrm>
            <a:custGeom>
              <a:avLst/>
              <a:gdLst/>
              <a:ahLst/>
              <a:cxnLst/>
              <a:rect l="l" t="t" r="r" b="b"/>
              <a:pathLst>
                <a:path w="8796401" h="8796401">
                  <a:moveTo>
                    <a:pt x="0" y="0"/>
                  </a:moveTo>
                  <a:lnTo>
                    <a:pt x="8796401" y="0"/>
                  </a:lnTo>
                  <a:lnTo>
                    <a:pt x="8796401" y="8796401"/>
                  </a:lnTo>
                  <a:lnTo>
                    <a:pt x="0" y="87964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5" name="TextBox 15"/>
          <p:cNvSpPr txBox="1"/>
          <p:nvPr/>
        </p:nvSpPr>
        <p:spPr>
          <a:xfrm>
            <a:off x="13857818" y="5529475"/>
            <a:ext cx="3758013" cy="6746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99"/>
              </a:lnSpc>
            </a:pPr>
            <a:r>
              <a:rPr lang="en-US" sz="2249" b="1" dirty="0">
                <a:solidFill>
                  <a:srgbClr val="000000"/>
                </a:solidFill>
                <a:latin typeface="Gill Sans Bold"/>
                <a:ea typeface="Gill Sans Bold"/>
                <a:cs typeface="Gill Sans Bold"/>
                <a:sym typeface="Gill Sans Bold"/>
              </a:rPr>
              <a:t>LEIA O QR CODE PARA ACESSAR O SISTEMA:</a:t>
            </a:r>
          </a:p>
        </p:txBody>
      </p:sp>
      <p:pic>
        <p:nvPicPr>
          <p:cNvPr id="19" name="Imagem 18">
            <a:extLst>
              <a:ext uri="{FF2B5EF4-FFF2-40B4-BE49-F238E27FC236}">
                <a16:creationId xmlns:a16="http://schemas.microsoft.com/office/drawing/2014/main" id="{B16EC33E-986D-D9F4-42E9-F5ADB4D1BB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717093" y="6380693"/>
            <a:ext cx="3924300" cy="389572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</TotalTime>
  <Words>1112</Words>
  <Application>Microsoft Office PowerPoint</Application>
  <PresentationFormat>Personalizar</PresentationFormat>
  <Paragraphs>150</Paragraphs>
  <Slides>16</Slides>
  <Notes>9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16</vt:i4>
      </vt:variant>
    </vt:vector>
  </HeadingPairs>
  <TitlesOfParts>
    <vt:vector size="24" baseType="lpstr">
      <vt:lpstr>Arimo</vt:lpstr>
      <vt:lpstr>Arimo Bold</vt:lpstr>
      <vt:lpstr>Gill Sans Bold</vt:lpstr>
      <vt:lpstr>Noto Sans</vt:lpstr>
      <vt:lpstr>Arial</vt:lpstr>
      <vt:lpstr>Calibri</vt:lpstr>
      <vt:lpstr>Noto Sans Bold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TCC - Slides.pptx</dc:title>
  <dc:creator>Marcos Guilherme</dc:creator>
  <cp:lastModifiedBy>Marcos Guilherme</cp:lastModifiedBy>
  <cp:revision>25</cp:revision>
  <dcterms:created xsi:type="dcterms:W3CDTF">2006-08-16T00:00:00Z</dcterms:created>
  <dcterms:modified xsi:type="dcterms:W3CDTF">2026-04-22T00:41:51Z</dcterms:modified>
  <dc:identifier>DAHHZutQxXU</dc:identifier>
</cp:coreProperties>
</file>