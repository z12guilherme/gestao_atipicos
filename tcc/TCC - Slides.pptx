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21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8288000" cy="10287000"/>
  <p:notesSz cx="6858000" cy="9144000"/>
  <p:embeddedFontLst>
    <p:embeddedFont>
      <p:font typeface="Arimo" charset="1" panose="020B0604020202020204"/>
      <p:regular r:id="rId24"/>
    </p:embeddedFont>
    <p:embeddedFont>
      <p:font typeface="Noto Sans Bold" charset="1" panose="020B0802040504020204"/>
      <p:regular r:id="rId25"/>
    </p:embeddedFont>
    <p:embeddedFont>
      <p:font typeface="Noto Sans" charset="1" panose="020B0502040504020204"/>
      <p:regular r:id="rId27"/>
    </p:embeddedFont>
    <p:embeddedFont>
      <p:font typeface="Gill Sans Bold" charset="1" panose="020B0802020104020203"/>
      <p:regular r:id="rId3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notesMasters/notesMaster1.xml" Type="http://schemas.openxmlformats.org/officeDocument/2006/relationships/notesMaster"/><Relationship Id="rId22" Target="theme/theme2.xml" Type="http://schemas.openxmlformats.org/officeDocument/2006/relationships/theme"/><Relationship Id="rId23" Target="notesSlides/notesSlide1.xml" Type="http://schemas.openxmlformats.org/officeDocument/2006/relationships/notesSlide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notesSlides/notesSlide2.xml" Type="http://schemas.openxmlformats.org/officeDocument/2006/relationships/notesSlide"/><Relationship Id="rId27" Target="fonts/font27.fntdata" Type="http://schemas.openxmlformats.org/officeDocument/2006/relationships/font"/><Relationship Id="rId28" Target="notesSlides/notesSlide3.xml" Type="http://schemas.openxmlformats.org/officeDocument/2006/relationships/notesSlide"/><Relationship Id="rId29" Target="notesSlides/notesSlide4.xml" Type="http://schemas.openxmlformats.org/officeDocument/2006/relationships/notesSlide"/><Relationship Id="rId3" Target="viewProps.xml" Type="http://schemas.openxmlformats.org/officeDocument/2006/relationships/viewProps"/><Relationship Id="rId30" Target="notesSlides/notesSlide5.xml" Type="http://schemas.openxmlformats.org/officeDocument/2006/relationships/notesSlide"/><Relationship Id="rId31" Target="notesSlides/notesSlide6.xml" Type="http://schemas.openxmlformats.org/officeDocument/2006/relationships/notesSlide"/><Relationship Id="rId32" Target="notesSlides/notesSlide7.xml" Type="http://schemas.openxmlformats.org/officeDocument/2006/relationships/notesSlide"/><Relationship Id="rId33" Target="notesSlides/notesSlide8.xml" Type="http://schemas.openxmlformats.org/officeDocument/2006/relationships/notesSlide"/><Relationship Id="rId34" Target="notesSlides/notesSlide9.xml" Type="http://schemas.openxmlformats.org/officeDocument/2006/relationships/notesSlide"/><Relationship Id="rId35" Target="fonts/font35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3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8.png" Type="http://schemas.openxmlformats.org/officeDocument/2006/relationships/image"/><Relationship Id="rId7" Target="../media/image9.svg" Type="http://schemas.openxmlformats.org/officeDocument/2006/relationships/image"/><Relationship Id="rId8" Target="../media/image10.png" Type="http://schemas.openxmlformats.org/officeDocument/2006/relationships/image"/><Relationship Id="rId9" Target="../media/image11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9.png" Type="http://schemas.openxmlformats.org/officeDocument/2006/relationships/image"/><Relationship Id="rId11" Target="../media/image20.svg" Type="http://schemas.openxmlformats.org/officeDocument/2006/relationships/image"/><Relationship Id="rId2" Target="../notesSlides/notesSlide3.xml" Type="http://schemas.openxmlformats.org/officeDocument/2006/relationships/notesSlide"/><Relationship Id="rId3" Target="../media/image12.png" Type="http://schemas.openxmlformats.org/officeDocument/2006/relationships/image"/><Relationship Id="rId4" Target="../media/image13.png" Type="http://schemas.openxmlformats.org/officeDocument/2006/relationships/image"/><Relationship Id="rId5" Target="../media/image14.svg" Type="http://schemas.openxmlformats.org/officeDocument/2006/relationships/image"/><Relationship Id="rId6" Target="../media/image15.png" Type="http://schemas.openxmlformats.org/officeDocument/2006/relationships/image"/><Relationship Id="rId7" Target="../media/image16.png" Type="http://schemas.openxmlformats.org/officeDocument/2006/relationships/image"/><Relationship Id="rId8" Target="../media/image17.svg" Type="http://schemas.openxmlformats.org/officeDocument/2006/relationships/image"/><Relationship Id="rId9" Target="../media/image18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2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jpeg" Type="http://schemas.openxmlformats.org/officeDocument/2006/relationships/image"/><Relationship Id="rId3" Target="../media/image23.jpeg" Type="http://schemas.openxmlformats.org/officeDocument/2006/relationships/image"/><Relationship Id="rId4" Target="../media/image24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25.png" Type="http://schemas.openxmlformats.org/officeDocument/2006/relationships/image"/><Relationship Id="rId4" Target="../media/image26.png" Type="http://schemas.openxmlformats.org/officeDocument/2006/relationships/image"/><Relationship Id="rId5" Target="../media/image27.png" Type="http://schemas.openxmlformats.org/officeDocument/2006/relationships/image"/><Relationship Id="rId6" Target="../media/image28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30.png" Type="http://schemas.openxmlformats.org/officeDocument/2006/relationships/image"/><Relationship Id="rId4" Target="../media/image31.png" Type="http://schemas.openxmlformats.org/officeDocument/2006/relationships/image"/><Relationship Id="rId5" Target="../media/image32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33.png" Type="http://schemas.openxmlformats.org/officeDocument/2006/relationships/image"/><Relationship Id="rId4" Target="../media/image34.svg" Type="http://schemas.openxmlformats.org/officeDocument/2006/relationships/image"/><Relationship Id="rId5" Target="../media/image35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6.png" Type="http://schemas.openxmlformats.org/officeDocument/2006/relationships/image"/><Relationship Id="rId3" Target="../media/image37.jpe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38.png" Type="http://schemas.openxmlformats.org/officeDocument/2006/relationships/image"/><Relationship Id="rId4" Target="../media/image39.jpeg" Type="http://schemas.openxmlformats.org/officeDocument/2006/relationships/image"/><Relationship Id="rId5" Target="../media/image2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4437875" y="771144"/>
            <a:ext cx="13180327" cy="900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Defesa de TCC - Sistemas de Informação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329298" y="3392995"/>
            <a:ext cx="6780162" cy="34438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Gestão Atípicos: Sistema Web Seguro para Educação Inclusiva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357042" y="9030942"/>
            <a:ext cx="2455050" cy="414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Belo Jardim, 2026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7109460" y="2478167"/>
            <a:ext cx="10654897" cy="6638500"/>
            <a:chOff x="0" y="0"/>
            <a:chExt cx="13401040" cy="8349475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3401039" cy="8349488"/>
            </a:xfrm>
            <a:custGeom>
              <a:avLst/>
              <a:gdLst/>
              <a:ahLst/>
              <a:cxnLst/>
              <a:rect r="r" b="b" t="t" l="l"/>
              <a:pathLst>
                <a:path h="8349488" w="13401039">
                  <a:moveTo>
                    <a:pt x="0" y="0"/>
                  </a:moveTo>
                  <a:lnTo>
                    <a:pt x="13401039" y="0"/>
                  </a:lnTo>
                  <a:lnTo>
                    <a:pt x="13401039" y="8349488"/>
                  </a:lnTo>
                  <a:lnTo>
                    <a:pt x="0" y="83494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329298" y="276859"/>
            <a:ext cx="2788849" cy="2788849"/>
            <a:chOff x="0" y="0"/>
            <a:chExt cx="8796338" cy="879633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796401" cy="8796401"/>
            </a:xfrm>
            <a:custGeom>
              <a:avLst/>
              <a:gdLst/>
              <a:ahLst/>
              <a:cxnLst/>
              <a:rect r="r" b="b" t="t" l="l"/>
              <a:pathLst>
                <a:path h="8796401" w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992238" y="2824458"/>
            <a:ext cx="10827096" cy="943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 Problema da Gestão Manual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54138" y="4334618"/>
            <a:ext cx="152400" cy="3070774"/>
            <a:chOff x="0" y="0"/>
            <a:chExt cx="203200" cy="4094366"/>
          </a:xfrm>
        </p:grpSpPr>
        <p:sp>
          <p:nvSpPr>
            <p:cNvPr name="Freeform 10" id="10" descr="preencoded.png"/>
            <p:cNvSpPr/>
            <p:nvPr/>
          </p:nvSpPr>
          <p:spPr>
            <a:xfrm flipH="false" flipV="false" rot="0">
              <a:off x="0" y="0"/>
              <a:ext cx="203200" cy="4094353"/>
            </a:xfrm>
            <a:custGeom>
              <a:avLst/>
              <a:gdLst/>
              <a:ahLst/>
              <a:cxnLst/>
              <a:rect r="r" b="b" t="t" l="l"/>
              <a:pathLst>
                <a:path h="4094353" w="203200">
                  <a:moveTo>
                    <a:pt x="0" y="0"/>
                  </a:moveTo>
                  <a:lnTo>
                    <a:pt x="203200" y="0"/>
                  </a:lnTo>
                  <a:lnTo>
                    <a:pt x="203200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2" t="0" r="-56" b="0"/>
              </a:stretch>
            </a:blip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428159" y="4618139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Cenário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428159" y="5183534"/>
            <a:ext cx="4487913" cy="19002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 Lei Brasileira de Inclusão obriga o atendimento especializado, mas muitas escolas ainda usam planilhas e papel.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6483106" y="4334618"/>
            <a:ext cx="152400" cy="3070774"/>
            <a:chOff x="0" y="0"/>
            <a:chExt cx="203200" cy="4094366"/>
          </a:xfrm>
        </p:grpSpPr>
        <p:sp>
          <p:nvSpPr>
            <p:cNvPr name="Freeform 14" id="14" descr="preencoded.png"/>
            <p:cNvSpPr/>
            <p:nvPr/>
          </p:nvSpPr>
          <p:spPr>
            <a:xfrm flipH="false" flipV="false" rot="0">
              <a:off x="0" y="0"/>
              <a:ext cx="203200" cy="4094353"/>
            </a:xfrm>
            <a:custGeom>
              <a:avLst/>
              <a:gdLst/>
              <a:ahLst/>
              <a:cxnLst/>
              <a:rect r="r" b="b" t="t" l="l"/>
              <a:pathLst>
                <a:path h="4094353" w="203200">
                  <a:moveTo>
                    <a:pt x="0" y="0"/>
                  </a:moveTo>
                  <a:lnTo>
                    <a:pt x="203200" y="0"/>
                  </a:lnTo>
                  <a:lnTo>
                    <a:pt x="203200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2" t="0" r="-56" b="0"/>
              </a:stretch>
            </a:blip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6957117" y="4618139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Riscos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957117" y="5183534"/>
            <a:ext cx="4487913" cy="1446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Perda de histórico pedagógico e, principalmente, vulnerabilidade jurídica perante a LGPD.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2012063" y="4334618"/>
            <a:ext cx="152400" cy="3070774"/>
            <a:chOff x="0" y="0"/>
            <a:chExt cx="203200" cy="4094366"/>
          </a:xfrm>
        </p:grpSpPr>
        <p:sp>
          <p:nvSpPr>
            <p:cNvPr name="Freeform 18" id="18" descr="preencoded.png"/>
            <p:cNvSpPr/>
            <p:nvPr/>
          </p:nvSpPr>
          <p:spPr>
            <a:xfrm flipH="false" flipV="false" rot="0">
              <a:off x="0" y="0"/>
              <a:ext cx="203200" cy="4094353"/>
            </a:xfrm>
            <a:custGeom>
              <a:avLst/>
              <a:gdLst/>
              <a:ahLst/>
              <a:cxnLst/>
              <a:rect r="r" b="b" t="t" l="l"/>
              <a:pathLst>
                <a:path h="4094353" w="203200">
                  <a:moveTo>
                    <a:pt x="0" y="0"/>
                  </a:moveTo>
                  <a:lnTo>
                    <a:pt x="203200" y="0"/>
                  </a:lnTo>
                  <a:lnTo>
                    <a:pt x="203200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2" t="0" r="-56" b="0"/>
              </a:stretch>
            </a:blip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12486084" y="4618139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Dados Sensíveis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486084" y="5183534"/>
            <a:ext cx="4487913" cy="1446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Laudos médicos e diagnósticos de crianças expostos sem controle de acesso adequado.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667854" y="1133440"/>
            <a:ext cx="2944767" cy="900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Objetivos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669798" y="2952013"/>
            <a:ext cx="15711243" cy="4263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b="true" sz="2999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Objetivo Geral: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Desenvolver um sistema web seguro e centralizado para a gestão de alunos com necessidades especiais.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</a:p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b="true" sz="2999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Objetivos Específicos:  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Substituir registros manuais por um "cofre digital".</a:t>
            </a: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Implementar segurança em nível de banco de dados (RLS).</a:t>
            </a: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Validar a aplicação contra vulnerabilidades críticas através de pentests.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1885314" y="2432563"/>
            <a:ext cx="1561974" cy="1493637"/>
          </a:xfrm>
          <a:custGeom>
            <a:avLst/>
            <a:gdLst/>
            <a:ahLst/>
            <a:cxnLst/>
            <a:rect r="r" b="b" t="t" l="l"/>
            <a:pathLst>
              <a:path h="1493637" w="1561974">
                <a:moveTo>
                  <a:pt x="0" y="0"/>
                </a:moveTo>
                <a:lnTo>
                  <a:pt x="1561974" y="0"/>
                </a:lnTo>
                <a:lnTo>
                  <a:pt x="1561974" y="1493637"/>
                </a:lnTo>
                <a:lnTo>
                  <a:pt x="0" y="14936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885314" y="4405675"/>
            <a:ext cx="1319260" cy="1618724"/>
          </a:xfrm>
          <a:custGeom>
            <a:avLst/>
            <a:gdLst/>
            <a:ahLst/>
            <a:cxnLst/>
            <a:rect r="r" b="b" t="t" l="l"/>
            <a:pathLst>
              <a:path h="1618724" w="1319260">
                <a:moveTo>
                  <a:pt x="0" y="0"/>
                </a:moveTo>
                <a:lnTo>
                  <a:pt x="1319260" y="0"/>
                </a:lnTo>
                <a:lnTo>
                  <a:pt x="1319260" y="1618724"/>
                </a:lnTo>
                <a:lnTo>
                  <a:pt x="0" y="161872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838010" y="6171025"/>
            <a:ext cx="1413869" cy="1665825"/>
          </a:xfrm>
          <a:custGeom>
            <a:avLst/>
            <a:gdLst/>
            <a:ahLst/>
            <a:cxnLst/>
            <a:rect r="r" b="b" t="t" l="l"/>
            <a:pathLst>
              <a:path h="1665825" w="1413869">
                <a:moveTo>
                  <a:pt x="0" y="0"/>
                </a:moveTo>
                <a:lnTo>
                  <a:pt x="1413869" y="0"/>
                </a:lnTo>
                <a:lnTo>
                  <a:pt x="1413869" y="1665825"/>
                </a:lnTo>
                <a:lnTo>
                  <a:pt x="0" y="166582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728097" y="7979725"/>
            <a:ext cx="1719191" cy="1719191"/>
          </a:xfrm>
          <a:custGeom>
            <a:avLst/>
            <a:gdLst/>
            <a:ahLst/>
            <a:cxnLst/>
            <a:rect r="r" b="b" t="t" l="l"/>
            <a:pathLst>
              <a:path h="1719191" w="1719191">
                <a:moveTo>
                  <a:pt x="0" y="0"/>
                </a:moveTo>
                <a:lnTo>
                  <a:pt x="1719191" y="0"/>
                </a:lnTo>
                <a:lnTo>
                  <a:pt x="1719191" y="1719191"/>
                </a:lnTo>
                <a:lnTo>
                  <a:pt x="0" y="171919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4696884" y="1156926"/>
            <a:ext cx="7657072" cy="900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Fundamentação Teórica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735372" y="3141281"/>
            <a:ext cx="11523928" cy="6021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93726" indent="-296863" lvl="1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Educação Inclusiva: Diretrizes da Lei nº 13.146/2015 (Estatuto da Pessoa com Deficiência) e a importância da gestão do Atendimento Educacional Especializado (AEE).</a:t>
            </a:r>
          </a:p>
          <a:p>
            <a:pPr algn="l">
              <a:lnSpc>
                <a:spcPts val="3437"/>
              </a:lnSpc>
            </a:pPr>
          </a:p>
          <a:p>
            <a:pPr algn="l" marL="593726" indent="-296863" lvl="1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Privacidade e Ética: Diretrizes da LGPD (Lei nº 13.709/2018) focadas no "melhor interesse" e proteção de dados sensíveis de menores de idade.</a:t>
            </a:r>
          </a:p>
          <a:p>
            <a:pPr algn="l">
              <a:lnSpc>
                <a:spcPts val="3437"/>
              </a:lnSpc>
            </a:pPr>
          </a:p>
          <a:p>
            <a:pPr algn="l" marL="593726" indent="-296863" lvl="1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Segurança da Informação: Adoção de padrões globais OWASP (Top 10 e ASVS) e aplicação da Modelagem de Ameaças STRIDE.</a:t>
            </a:r>
          </a:p>
          <a:p>
            <a:pPr algn="l">
              <a:lnSpc>
                <a:spcPts val="3437"/>
              </a:lnSpc>
            </a:pPr>
          </a:p>
          <a:p>
            <a:pPr algn="l" marL="593726" indent="-296863" lvl="1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Arquitetura de Software: Modelos Serverless (Backend as a Service) e segurança isolada no banco de dados através de Row Level Security (RLS).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881115" y="1227385"/>
            <a:ext cx="3848695" cy="900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Metodologia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510588" y="3156194"/>
            <a:ext cx="14649218" cy="6117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Tipo de Pesquisa: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Pesquisa aplicada de abordagem qualitativa, baseada no desenvolvimento ágil de software com entregas incrementais (Sprints).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Coleta de Dados (Requisitos):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Elicitação através de entrevistas não estruturadas com profissionais da área da educação.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Procedimentos de Desenvolvimento: 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Modelagem de dados e design de interfaces focadas em UI/UX.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Automação via pipeline CI/CD utilizando GitHub Actions e Vercel.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Empacotamento híbrido (PWA e nativo Android via Capacitor).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Estratégia de Validação: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Execução de testes automatizados unitários/integração (Vitest) e testes de penetração Black-Box.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992238" y="2522334"/>
            <a:ext cx="7107136" cy="943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 Solução Proposta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275759" y="4316016"/>
            <a:ext cx="850554" cy="850554"/>
            <a:chOff x="0" y="0"/>
            <a:chExt cx="1134072" cy="1134072"/>
          </a:xfrm>
        </p:grpSpPr>
        <p:sp>
          <p:nvSpPr>
            <p:cNvPr name="Freeform 10" id="10" descr="preencoded.png"/>
            <p:cNvSpPr/>
            <p:nvPr/>
          </p:nvSpPr>
          <p:spPr>
            <a:xfrm flipH="false" flipV="false" rot="0">
              <a:off x="0" y="0"/>
              <a:ext cx="1134110" cy="1134110"/>
            </a:xfrm>
            <a:custGeom>
              <a:avLst/>
              <a:gdLst/>
              <a:ahLst/>
              <a:cxnLst/>
              <a:rect r="r" b="b" t="t" l="l"/>
              <a:pathLst>
                <a:path h="1134110" w="1134110">
                  <a:moveTo>
                    <a:pt x="0" y="0"/>
                  </a:moveTo>
                  <a:lnTo>
                    <a:pt x="1134110" y="0"/>
                  </a:lnTo>
                  <a:lnTo>
                    <a:pt x="1134110" y="1134110"/>
                  </a:lnTo>
                  <a:lnTo>
                    <a:pt x="0" y="1134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3" b="3"/>
              </a:stretch>
            </a:blipFill>
          </p:spPr>
        </p:sp>
      </p:grpSp>
      <p:sp>
        <p:nvSpPr>
          <p:cNvPr name="Freeform 11" id="11" descr="preencoded.png"/>
          <p:cNvSpPr/>
          <p:nvPr/>
        </p:nvSpPr>
        <p:spPr>
          <a:xfrm flipH="false" flipV="false" rot="0">
            <a:off x="1509712" y="4549826"/>
            <a:ext cx="382638" cy="382638"/>
          </a:xfrm>
          <a:custGeom>
            <a:avLst/>
            <a:gdLst/>
            <a:ahLst/>
            <a:cxnLst/>
            <a:rect r="r" b="b" t="t" l="l"/>
            <a:pathLst>
              <a:path h="382638" w="382638">
                <a:moveTo>
                  <a:pt x="0" y="0"/>
                </a:moveTo>
                <a:lnTo>
                  <a:pt x="382639" y="0"/>
                </a:lnTo>
                <a:lnTo>
                  <a:pt x="382639" y="382638"/>
                </a:lnTo>
                <a:lnTo>
                  <a:pt x="0" y="3826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275759" y="5411991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Objetivo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75759" y="5977385"/>
            <a:ext cx="4678413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Sistema Web Centralizado para gestão de alunos atípicos.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6804717" y="4316016"/>
            <a:ext cx="850554" cy="850554"/>
            <a:chOff x="0" y="0"/>
            <a:chExt cx="1134072" cy="113407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134110" cy="1134110"/>
            </a:xfrm>
            <a:custGeom>
              <a:avLst/>
              <a:gdLst/>
              <a:ahLst/>
              <a:cxnLst/>
              <a:rect r="r" b="b" t="t" l="l"/>
              <a:pathLst>
                <a:path h="1134110" w="1134110">
                  <a:moveTo>
                    <a:pt x="0" y="0"/>
                  </a:moveTo>
                  <a:lnTo>
                    <a:pt x="1134110" y="0"/>
                  </a:lnTo>
                  <a:lnTo>
                    <a:pt x="1134110" y="1134110"/>
                  </a:lnTo>
                  <a:lnTo>
                    <a:pt x="0" y="1134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3" b="3"/>
              </a:stretch>
            </a:blipFill>
          </p:spPr>
        </p:sp>
      </p:grpSp>
      <p:sp>
        <p:nvSpPr>
          <p:cNvPr name="Freeform 16" id="16" descr="preencoded.png"/>
          <p:cNvSpPr/>
          <p:nvPr/>
        </p:nvSpPr>
        <p:spPr>
          <a:xfrm flipH="false" flipV="false" rot="0">
            <a:off x="7038680" y="4549826"/>
            <a:ext cx="382638" cy="382638"/>
          </a:xfrm>
          <a:custGeom>
            <a:avLst/>
            <a:gdLst/>
            <a:ahLst/>
            <a:cxnLst/>
            <a:rect r="r" b="b" t="t" l="l"/>
            <a:pathLst>
              <a:path h="382638" w="382638">
                <a:moveTo>
                  <a:pt x="0" y="0"/>
                </a:moveTo>
                <a:lnTo>
                  <a:pt x="382638" y="0"/>
                </a:lnTo>
                <a:lnTo>
                  <a:pt x="382638" y="382638"/>
                </a:lnTo>
                <a:lnTo>
                  <a:pt x="0" y="382638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-20730" t="0" r="-20733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6804717" y="5411991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Público-Alvo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804717" y="5977385"/>
            <a:ext cx="4678413" cy="1446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Conecta Gestores, Cuidadores e Responsáveis em uma única plataforma.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2333684" y="4316016"/>
            <a:ext cx="850554" cy="850554"/>
            <a:chOff x="0" y="0"/>
            <a:chExt cx="1134072" cy="1134072"/>
          </a:xfrm>
        </p:grpSpPr>
        <p:sp>
          <p:nvSpPr>
            <p:cNvPr name="Freeform 20" id="20" descr="preencoded.png"/>
            <p:cNvSpPr/>
            <p:nvPr/>
          </p:nvSpPr>
          <p:spPr>
            <a:xfrm flipH="false" flipV="false" rot="0">
              <a:off x="0" y="0"/>
              <a:ext cx="1134110" cy="1134110"/>
            </a:xfrm>
            <a:custGeom>
              <a:avLst/>
              <a:gdLst/>
              <a:ahLst/>
              <a:cxnLst/>
              <a:rect r="r" b="b" t="t" l="l"/>
              <a:pathLst>
                <a:path h="1134110" w="1134110">
                  <a:moveTo>
                    <a:pt x="0" y="0"/>
                  </a:moveTo>
                  <a:lnTo>
                    <a:pt x="1134110" y="0"/>
                  </a:lnTo>
                  <a:lnTo>
                    <a:pt x="1134110" y="1134110"/>
                  </a:lnTo>
                  <a:lnTo>
                    <a:pt x="0" y="1134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3" b="3"/>
              </a:stretch>
            </a:blipFill>
          </p:spPr>
        </p:sp>
      </p:grpSp>
      <p:sp>
        <p:nvSpPr>
          <p:cNvPr name="Freeform 21" id="21" descr="preencoded.png"/>
          <p:cNvSpPr/>
          <p:nvPr/>
        </p:nvSpPr>
        <p:spPr>
          <a:xfrm flipH="false" flipV="false" rot="0">
            <a:off x="12567647" y="4549826"/>
            <a:ext cx="382638" cy="382638"/>
          </a:xfrm>
          <a:custGeom>
            <a:avLst/>
            <a:gdLst/>
            <a:ahLst/>
            <a:cxnLst/>
            <a:rect r="r" b="b" t="t" l="l"/>
            <a:pathLst>
              <a:path h="382638" w="382638">
                <a:moveTo>
                  <a:pt x="0" y="0"/>
                </a:moveTo>
                <a:lnTo>
                  <a:pt x="382638" y="0"/>
                </a:lnTo>
                <a:lnTo>
                  <a:pt x="382638" y="382638"/>
                </a:lnTo>
                <a:lnTo>
                  <a:pt x="0" y="3826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12333684" y="5411991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Foco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333684" y="5977385"/>
            <a:ext cx="4678413" cy="1446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Substituir processos manuais por um "cofre digital" seguro e acessível.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690858" y="800691"/>
            <a:ext cx="6977805" cy="6549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12"/>
              </a:lnSpc>
            </a:pPr>
            <a:r>
              <a:rPr lang="en-US" sz="3875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Stack Tecnológica Moderna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90858" y="1700660"/>
            <a:ext cx="2467270" cy="260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24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Frontend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90858" y="2206381"/>
            <a:ext cx="8212341" cy="2680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React com TypeScript e Tailwind CSS (Foco em </a:t>
            </a:r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Usabilidade e Acessibilidade).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90858" y="2719387"/>
            <a:ext cx="2467270" cy="260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5"/>
              </a:lnSpc>
            </a:pPr>
          </a:p>
          <a:p>
            <a:pPr algn="l">
              <a:lnSpc>
                <a:spcPts val="2375"/>
              </a:lnSpc>
            </a:pPr>
            <a:r>
              <a:rPr lang="en-US" sz="24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Backend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90858" y="3225108"/>
            <a:ext cx="8212341" cy="2680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Supabase (Backend as a Service).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90858" y="3738115"/>
            <a:ext cx="2467270" cy="260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5"/>
              </a:lnSpc>
            </a:pPr>
          </a:p>
          <a:p>
            <a:pPr algn="l">
              <a:lnSpc>
                <a:spcPts val="2375"/>
              </a:lnSpc>
            </a:pPr>
            <a:r>
              <a:rPr lang="en-US" sz="24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Infraestrutura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90858" y="4243835"/>
            <a:ext cx="8212341" cy="2680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Vercel (Serverless Edge).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9384802" y="851221"/>
            <a:ext cx="8212341" cy="8212341"/>
            <a:chOff x="0" y="0"/>
            <a:chExt cx="10949788" cy="10949788"/>
          </a:xfrm>
        </p:grpSpPr>
        <p:sp>
          <p:nvSpPr>
            <p:cNvPr name="Freeform 16" id="16" descr="preencoded.png"/>
            <p:cNvSpPr/>
            <p:nvPr/>
          </p:nvSpPr>
          <p:spPr>
            <a:xfrm flipH="false" flipV="false" rot="0">
              <a:off x="0" y="0"/>
              <a:ext cx="10949813" cy="10949813"/>
            </a:xfrm>
            <a:custGeom>
              <a:avLst/>
              <a:gdLst/>
              <a:ahLst/>
              <a:cxnLst/>
              <a:rect r="r" b="b" t="t" l="l"/>
              <a:pathLst>
                <a:path h="10949813" w="10949813">
                  <a:moveTo>
                    <a:pt x="0" y="0"/>
                  </a:moveTo>
                  <a:lnTo>
                    <a:pt x="10949813" y="0"/>
                  </a:lnTo>
                  <a:lnTo>
                    <a:pt x="10949813" y="10949813"/>
                  </a:lnTo>
                  <a:lnTo>
                    <a:pt x="0" y="109498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9394327" y="10560691"/>
            <a:ext cx="8212341" cy="3728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500">
                <a:solidFill>
                  <a:srgbClr val="E0D6DE"/>
                </a:solidFill>
                <a:latin typeface="Noto Sans"/>
                <a:ea typeface="Noto Sans"/>
                <a:cs typeface="Noto Sans"/>
                <a:sym typeface="Noto Sans"/>
              </a:rPr>
              <a:t>Arquitetura Serverless para alta disponibilidade e baixo custo de manutenção.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756999" y="5143500"/>
            <a:ext cx="7746921" cy="4931931"/>
            <a:chOff x="0" y="0"/>
            <a:chExt cx="10329228" cy="657590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329291" cy="6575933"/>
            </a:xfrm>
            <a:custGeom>
              <a:avLst/>
              <a:gdLst/>
              <a:ahLst/>
              <a:cxnLst/>
              <a:rect r="r" b="b" t="t" l="l"/>
              <a:pathLst>
                <a:path h="6575933" w="10329291">
                  <a:moveTo>
                    <a:pt x="0" y="0"/>
                  </a:moveTo>
                  <a:lnTo>
                    <a:pt x="10329291" y="0"/>
                  </a:lnTo>
                  <a:lnTo>
                    <a:pt x="10329291" y="6575933"/>
                  </a:lnTo>
                  <a:lnTo>
                    <a:pt x="0" y="65759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373973" y="128683"/>
            <a:ext cx="7746921" cy="4885934"/>
            <a:chOff x="0" y="0"/>
            <a:chExt cx="10329228" cy="651457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329291" cy="6514592"/>
            </a:xfrm>
            <a:custGeom>
              <a:avLst/>
              <a:gdLst/>
              <a:ahLst/>
              <a:cxnLst/>
              <a:rect r="r" b="b" t="t" l="l"/>
              <a:pathLst>
                <a:path h="6514592" w="10329291">
                  <a:moveTo>
                    <a:pt x="0" y="0"/>
                  </a:moveTo>
                  <a:lnTo>
                    <a:pt x="10329291" y="0"/>
                  </a:lnTo>
                  <a:lnTo>
                    <a:pt x="10329291" y="6514592"/>
                  </a:lnTo>
                  <a:lnTo>
                    <a:pt x="0" y="651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0373973" y="5272392"/>
            <a:ext cx="7746921" cy="4849387"/>
            <a:chOff x="0" y="0"/>
            <a:chExt cx="10329228" cy="646584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329291" cy="6465824"/>
            </a:xfrm>
            <a:custGeom>
              <a:avLst/>
              <a:gdLst/>
              <a:ahLst/>
              <a:cxnLst/>
              <a:rect r="r" b="b" t="t" l="l"/>
              <a:pathLst>
                <a:path h="6465824" w="10329291">
                  <a:moveTo>
                    <a:pt x="0" y="0"/>
                  </a:moveTo>
                  <a:lnTo>
                    <a:pt x="10329291" y="0"/>
                  </a:lnTo>
                  <a:lnTo>
                    <a:pt x="10329291" y="6465824"/>
                  </a:lnTo>
                  <a:lnTo>
                    <a:pt x="0" y="64658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848439" y="857822"/>
            <a:ext cx="8961120" cy="1985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35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Prints das Telas do Gestor, Cuidador e Responsável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992238" y="1975247"/>
            <a:ext cx="16303523" cy="1829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Engenharia de Segurança - Row Level Security (RLS)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92238" y="4758480"/>
            <a:ext cx="5245446" cy="152400"/>
            <a:chOff x="0" y="0"/>
            <a:chExt cx="6993928" cy="203200"/>
          </a:xfrm>
        </p:grpSpPr>
        <p:sp>
          <p:nvSpPr>
            <p:cNvPr name="Freeform 10" id="10" descr="preencoded.png"/>
            <p:cNvSpPr/>
            <p:nvPr/>
          </p:nvSpPr>
          <p:spPr>
            <a:xfrm flipH="false" flipV="false" rot="0">
              <a:off x="0" y="0"/>
              <a:ext cx="6993890" cy="203200"/>
            </a:xfrm>
            <a:custGeom>
              <a:avLst/>
              <a:gdLst/>
              <a:ahLst/>
              <a:cxnLst/>
              <a:rect r="r" b="b" t="t" l="l"/>
              <a:pathLst>
                <a:path h="203200" w="699389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t="0" r="-27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3189608" y="4371384"/>
            <a:ext cx="850554" cy="850554"/>
            <a:chOff x="0" y="0"/>
            <a:chExt cx="1134072" cy="1134072"/>
          </a:xfrm>
        </p:grpSpPr>
        <p:sp>
          <p:nvSpPr>
            <p:cNvPr name="Freeform 12" id="12" descr="preencoded.png"/>
            <p:cNvSpPr/>
            <p:nvPr/>
          </p:nvSpPr>
          <p:spPr>
            <a:xfrm flipH="false" flipV="false" rot="0">
              <a:off x="0" y="0"/>
              <a:ext cx="1134110" cy="1134110"/>
            </a:xfrm>
            <a:custGeom>
              <a:avLst/>
              <a:gdLst/>
              <a:ahLst/>
              <a:cxnLst/>
              <a:rect r="r" b="b" t="t" l="l"/>
              <a:pathLst>
                <a:path h="1134110" w="1134110">
                  <a:moveTo>
                    <a:pt x="0" y="0"/>
                  </a:moveTo>
                  <a:lnTo>
                    <a:pt x="1134110" y="0"/>
                  </a:lnTo>
                  <a:lnTo>
                    <a:pt x="1134110" y="1134110"/>
                  </a:lnTo>
                  <a:lnTo>
                    <a:pt x="0" y="1134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3" b="3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3444697" y="4626473"/>
            <a:ext cx="340223" cy="340223"/>
            <a:chOff x="0" y="0"/>
            <a:chExt cx="453631" cy="453631"/>
          </a:xfrm>
        </p:grpSpPr>
        <p:sp>
          <p:nvSpPr>
            <p:cNvPr name="Freeform 14" id="14" descr="preencoded.png"/>
            <p:cNvSpPr/>
            <p:nvPr/>
          </p:nvSpPr>
          <p:spPr>
            <a:xfrm flipH="false" flipV="false" rot="0">
              <a:off x="0" y="0"/>
              <a:ext cx="453644" cy="453644"/>
            </a:xfrm>
            <a:custGeom>
              <a:avLst/>
              <a:gdLst/>
              <a:ahLst/>
              <a:cxnLst/>
              <a:rect r="r" b="b" t="t" l="l"/>
              <a:pathLst>
                <a:path h="453644" w="453644">
                  <a:moveTo>
                    <a:pt x="0" y="0"/>
                  </a:moveTo>
                  <a:lnTo>
                    <a:pt x="453644" y="0"/>
                  </a:lnTo>
                  <a:lnTo>
                    <a:pt x="453644" y="453644"/>
                  </a:lnTo>
                  <a:lnTo>
                    <a:pt x="0" y="4536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2" b="2"/>
              </a:stretch>
            </a:blip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313859" y="5467198"/>
            <a:ext cx="3774872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 Grande Diferencial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13859" y="6032602"/>
            <a:ext cx="4602213" cy="19002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 segurança não depende apenas da API, mas é aplicada diretamente no Banco de Dados (PostgreSQL).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6521206" y="4758480"/>
            <a:ext cx="5245446" cy="152400"/>
            <a:chOff x="0" y="0"/>
            <a:chExt cx="6993928" cy="203200"/>
          </a:xfrm>
        </p:grpSpPr>
        <p:sp>
          <p:nvSpPr>
            <p:cNvPr name="Freeform 18" id="18" descr="preencoded.png"/>
            <p:cNvSpPr/>
            <p:nvPr/>
          </p:nvSpPr>
          <p:spPr>
            <a:xfrm flipH="false" flipV="false" rot="0">
              <a:off x="0" y="0"/>
              <a:ext cx="6993890" cy="203200"/>
            </a:xfrm>
            <a:custGeom>
              <a:avLst/>
              <a:gdLst/>
              <a:ahLst/>
              <a:cxnLst/>
              <a:rect r="r" b="b" t="t" l="l"/>
              <a:pathLst>
                <a:path h="203200" w="699389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t="0" r="-27" b="0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8718575" y="4371384"/>
            <a:ext cx="850554" cy="850554"/>
            <a:chOff x="0" y="0"/>
            <a:chExt cx="1134072" cy="1134072"/>
          </a:xfrm>
        </p:grpSpPr>
        <p:sp>
          <p:nvSpPr>
            <p:cNvPr name="Freeform 20" id="20" descr="preencoded.png"/>
            <p:cNvSpPr/>
            <p:nvPr/>
          </p:nvSpPr>
          <p:spPr>
            <a:xfrm flipH="false" flipV="false" rot="0">
              <a:off x="0" y="0"/>
              <a:ext cx="1134110" cy="1134110"/>
            </a:xfrm>
            <a:custGeom>
              <a:avLst/>
              <a:gdLst/>
              <a:ahLst/>
              <a:cxnLst/>
              <a:rect r="r" b="b" t="t" l="l"/>
              <a:pathLst>
                <a:path h="1134110" w="1134110">
                  <a:moveTo>
                    <a:pt x="0" y="0"/>
                  </a:moveTo>
                  <a:lnTo>
                    <a:pt x="1134110" y="0"/>
                  </a:lnTo>
                  <a:lnTo>
                    <a:pt x="1134110" y="1134110"/>
                  </a:lnTo>
                  <a:lnTo>
                    <a:pt x="0" y="1134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3" b="3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8973664" y="4626473"/>
            <a:ext cx="340223" cy="340223"/>
            <a:chOff x="0" y="0"/>
            <a:chExt cx="453631" cy="453631"/>
          </a:xfrm>
        </p:grpSpPr>
        <p:sp>
          <p:nvSpPr>
            <p:cNvPr name="Freeform 22" id="22" descr="preencoded.png"/>
            <p:cNvSpPr/>
            <p:nvPr/>
          </p:nvSpPr>
          <p:spPr>
            <a:xfrm flipH="false" flipV="false" rot="0">
              <a:off x="0" y="0"/>
              <a:ext cx="453644" cy="453644"/>
            </a:xfrm>
            <a:custGeom>
              <a:avLst/>
              <a:gdLst/>
              <a:ahLst/>
              <a:cxnLst/>
              <a:rect r="r" b="b" t="t" l="l"/>
              <a:pathLst>
                <a:path h="453644" w="453644">
                  <a:moveTo>
                    <a:pt x="0" y="0"/>
                  </a:moveTo>
                  <a:lnTo>
                    <a:pt x="453644" y="0"/>
                  </a:lnTo>
                  <a:lnTo>
                    <a:pt x="453644" y="453644"/>
                  </a:lnTo>
                  <a:lnTo>
                    <a:pt x="0" y="4536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2" b="2"/>
              </a:stretch>
            </a:blip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6842817" y="5467198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Política de Acesso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842817" y="6032602"/>
            <a:ext cx="4602213" cy="19002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Mesmo com a chave pública exposta no frontend, o banco recusa a leitura de dados se o usuário não tiver o token correto.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2050163" y="4758480"/>
            <a:ext cx="5245446" cy="152400"/>
            <a:chOff x="0" y="0"/>
            <a:chExt cx="6993928" cy="203200"/>
          </a:xfrm>
        </p:grpSpPr>
        <p:sp>
          <p:nvSpPr>
            <p:cNvPr name="Freeform 26" id="26" descr="preencoded.png"/>
            <p:cNvSpPr/>
            <p:nvPr/>
          </p:nvSpPr>
          <p:spPr>
            <a:xfrm flipH="false" flipV="false" rot="0">
              <a:off x="0" y="0"/>
              <a:ext cx="6993890" cy="203200"/>
            </a:xfrm>
            <a:custGeom>
              <a:avLst/>
              <a:gdLst/>
              <a:ahLst/>
              <a:cxnLst/>
              <a:rect r="r" b="b" t="t" l="l"/>
              <a:pathLst>
                <a:path h="203200" w="699389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t="0" r="-27" b="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4247543" y="4371384"/>
            <a:ext cx="850554" cy="850554"/>
            <a:chOff x="0" y="0"/>
            <a:chExt cx="1134072" cy="1134072"/>
          </a:xfrm>
        </p:grpSpPr>
        <p:sp>
          <p:nvSpPr>
            <p:cNvPr name="Freeform 28" id="28" descr="preencoded.png"/>
            <p:cNvSpPr/>
            <p:nvPr/>
          </p:nvSpPr>
          <p:spPr>
            <a:xfrm flipH="false" flipV="false" rot="0">
              <a:off x="0" y="0"/>
              <a:ext cx="1134110" cy="1134110"/>
            </a:xfrm>
            <a:custGeom>
              <a:avLst/>
              <a:gdLst/>
              <a:ahLst/>
              <a:cxnLst/>
              <a:rect r="r" b="b" t="t" l="l"/>
              <a:pathLst>
                <a:path h="1134110" w="1134110">
                  <a:moveTo>
                    <a:pt x="0" y="0"/>
                  </a:moveTo>
                  <a:lnTo>
                    <a:pt x="1134110" y="0"/>
                  </a:lnTo>
                  <a:lnTo>
                    <a:pt x="1134110" y="1134110"/>
                  </a:lnTo>
                  <a:lnTo>
                    <a:pt x="0" y="1134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3" b="3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14502632" y="4626473"/>
            <a:ext cx="340223" cy="340223"/>
            <a:chOff x="0" y="0"/>
            <a:chExt cx="453631" cy="453631"/>
          </a:xfrm>
        </p:grpSpPr>
        <p:sp>
          <p:nvSpPr>
            <p:cNvPr name="Freeform 30" id="30" descr="preencoded.png"/>
            <p:cNvSpPr/>
            <p:nvPr/>
          </p:nvSpPr>
          <p:spPr>
            <a:xfrm flipH="false" flipV="false" rot="0">
              <a:off x="0" y="0"/>
              <a:ext cx="453644" cy="453644"/>
            </a:xfrm>
            <a:custGeom>
              <a:avLst/>
              <a:gdLst/>
              <a:ahLst/>
              <a:cxnLst/>
              <a:rect r="r" b="b" t="t" l="l"/>
              <a:pathLst>
                <a:path h="453644" w="453644">
                  <a:moveTo>
                    <a:pt x="0" y="0"/>
                  </a:moveTo>
                  <a:lnTo>
                    <a:pt x="453644" y="0"/>
                  </a:lnTo>
                  <a:lnTo>
                    <a:pt x="453644" y="453644"/>
                  </a:lnTo>
                  <a:lnTo>
                    <a:pt x="0" y="4536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2" b="2"/>
              </a:stretch>
            </a:blipFill>
          </p:spPr>
        </p:sp>
      </p:grpSp>
      <p:sp>
        <p:nvSpPr>
          <p:cNvPr name="TextBox 31" id="31"/>
          <p:cNvSpPr txBox="true"/>
          <p:nvPr/>
        </p:nvSpPr>
        <p:spPr>
          <a:xfrm rot="0">
            <a:off x="12371784" y="5467198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Isolamento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2371784" y="6032602"/>
            <a:ext cx="4602213" cy="1446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Um Cuidador jamais consegue acessar dados de alunos que não são seus.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662940" y="444437"/>
            <a:ext cx="8961120" cy="1056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4000">
                <a:solidFill>
                  <a:srgbClr val="97B8FF"/>
                </a:solidFill>
                <a:latin typeface="Arimo"/>
                <a:ea typeface="Arimo"/>
                <a:cs typeface="Arimo"/>
                <a:sym typeface="Arimo"/>
              </a:rPr>
              <a:t>Diagrama do Banco de Dados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571500" y="1987201"/>
            <a:ext cx="15692438" cy="7682008"/>
            <a:chOff x="0" y="0"/>
            <a:chExt cx="20923250" cy="1024267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0923250" cy="10242677"/>
            </a:xfrm>
            <a:custGeom>
              <a:avLst/>
              <a:gdLst/>
              <a:ahLst/>
              <a:cxnLst/>
              <a:rect r="r" b="b" t="t" l="l"/>
              <a:pathLst>
                <a:path h="10242677" w="20923250">
                  <a:moveTo>
                    <a:pt x="0" y="0"/>
                  </a:moveTo>
                  <a:lnTo>
                    <a:pt x="20923250" y="0"/>
                  </a:lnTo>
                  <a:lnTo>
                    <a:pt x="20923250" y="10242677"/>
                  </a:lnTo>
                  <a:lnTo>
                    <a:pt x="0" y="102426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1430000" y="0"/>
            <a:ext cx="6858000" cy="10287000"/>
            <a:chOff x="0" y="0"/>
            <a:chExt cx="9144000" cy="13716000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914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1430000" y="0"/>
            <a:ext cx="6858000" cy="10287000"/>
            <a:chOff x="0" y="0"/>
            <a:chExt cx="9144000" cy="13716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14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FDFE0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1430000" y="0"/>
            <a:ext cx="6858000" cy="10287000"/>
            <a:chOff x="0" y="0"/>
            <a:chExt cx="9144000" cy="13716000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914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992238" y="1163393"/>
            <a:ext cx="9445523" cy="1829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Validação de Segurança (Pentest)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92238" y="3663105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Metodologia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92238" y="4341914"/>
            <a:ext cx="4376890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Testes de Penetração Black-Box baseados no OWASP ASVS.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92238" y="5580307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Ferramenta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92238" y="6259116"/>
            <a:ext cx="4376890" cy="539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Burp Suite.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070397" y="3663105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Resultados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070397" y="4341914"/>
            <a:ext cx="4376890" cy="539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29902" indent="-164951" lvl="1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SQL Injection: Mitigado.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070397" y="4894659"/>
            <a:ext cx="4376890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29902" indent="-164951" lvl="1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XSS (Cross-Site Scripting): Mitigado.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070397" y="5901033"/>
            <a:ext cx="4376890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29902" indent="-164951" lvl="1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Escalação de Privilégios: Bloqueada.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070397" y="7139435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Status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070397" y="7818234"/>
            <a:ext cx="4376890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Aplicação aprovada sem vulnerabilidades críticas.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1430000" y="3223260"/>
            <a:ext cx="6858000" cy="3840480"/>
            <a:chOff x="0" y="0"/>
            <a:chExt cx="9144000" cy="5120640"/>
          </a:xfrm>
        </p:grpSpPr>
        <p:sp>
          <p:nvSpPr>
            <p:cNvPr name="Freeform 26" id="26" descr="All about the xz-utils backdoor | Kali Linux Blog"/>
            <p:cNvSpPr/>
            <p:nvPr/>
          </p:nvSpPr>
          <p:spPr>
            <a:xfrm flipH="false" flipV="false" rot="0">
              <a:off x="0" y="0"/>
              <a:ext cx="9144000" cy="5120640"/>
            </a:xfrm>
            <a:custGeom>
              <a:avLst/>
              <a:gdLst/>
              <a:ahLst/>
              <a:cxnLst/>
              <a:rect r="r" b="b" t="t" l="l"/>
              <a:pathLst>
                <a:path h="512064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5120640"/>
                  </a:lnTo>
                  <a:lnTo>
                    <a:pt x="0" y="512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992238" y="2221116"/>
            <a:ext cx="16303523" cy="1829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Defesa em Profundidade (Advanced Security)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92238" y="4617244"/>
            <a:ext cx="5245446" cy="850554"/>
            <a:chOff x="0" y="0"/>
            <a:chExt cx="6993928" cy="113407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993890" cy="1134110"/>
            </a:xfrm>
            <a:custGeom>
              <a:avLst/>
              <a:gdLst/>
              <a:ahLst/>
              <a:cxnLst/>
              <a:rect r="r" b="b" t="t" l="l"/>
              <a:pathLst>
                <a:path h="1134110" w="699389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3402359" y="4814735"/>
            <a:ext cx="425206" cy="4935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3312">
                <a:solidFill>
                  <a:srgbClr val="E0D6DE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75759" y="5713209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Honeytokens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75759" y="6278613"/>
            <a:ext cx="4678413" cy="1446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Credenciais falsas inseridas no código para atrair e detectar invasores.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6521206" y="4617244"/>
            <a:ext cx="5245446" cy="850554"/>
            <a:chOff x="0" y="0"/>
            <a:chExt cx="6993928" cy="1134072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993890" cy="1134110"/>
            </a:xfrm>
            <a:custGeom>
              <a:avLst/>
              <a:gdLst/>
              <a:ahLst/>
              <a:cxnLst/>
              <a:rect r="r" b="b" t="t" l="l"/>
              <a:pathLst>
                <a:path h="1134110" w="699389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name="Freeform 16" id="16" descr="preencoded.png"/>
          <p:cNvSpPr/>
          <p:nvPr/>
        </p:nvSpPr>
        <p:spPr>
          <a:xfrm flipH="false" flipV="false" rot="0">
            <a:off x="8931326" y="4829766"/>
            <a:ext cx="425206" cy="425206"/>
          </a:xfrm>
          <a:custGeom>
            <a:avLst/>
            <a:gdLst/>
            <a:ahLst/>
            <a:cxnLst/>
            <a:rect r="r" b="b" t="t" l="l"/>
            <a:pathLst>
              <a:path h="425206" w="425206">
                <a:moveTo>
                  <a:pt x="0" y="0"/>
                </a:moveTo>
                <a:lnTo>
                  <a:pt x="425205" y="0"/>
                </a:lnTo>
                <a:lnTo>
                  <a:pt x="425205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111" t="0" r="-1111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6804717" y="5713209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E0D6DE"/>
                </a:solidFill>
                <a:latin typeface="Arimo"/>
                <a:ea typeface="Arimo"/>
                <a:cs typeface="Arimo"/>
                <a:sym typeface="Arimo"/>
              </a:rPr>
              <a:t>Canary Endpoints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804717" y="6278613"/>
            <a:ext cx="4678413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E0D6DE"/>
                </a:solidFill>
                <a:latin typeface="Noto Sans"/>
                <a:ea typeface="Noto Sans"/>
                <a:cs typeface="Noto Sans"/>
                <a:sym typeface="Noto Sans"/>
              </a:rPr>
              <a:t>Rotas monitoradas que disparam alertas ao serem acessadas.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2050163" y="4617244"/>
            <a:ext cx="5245446" cy="850554"/>
            <a:chOff x="0" y="0"/>
            <a:chExt cx="6993928" cy="1134072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993890" cy="1134110"/>
            </a:xfrm>
            <a:custGeom>
              <a:avLst/>
              <a:gdLst/>
              <a:ahLst/>
              <a:cxnLst/>
              <a:rect r="r" b="b" t="t" l="l"/>
              <a:pathLst>
                <a:path h="1134110" w="699389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14460293" y="4829766"/>
            <a:ext cx="425206" cy="425206"/>
            <a:chOff x="0" y="0"/>
            <a:chExt cx="566941" cy="566941"/>
          </a:xfrm>
        </p:grpSpPr>
        <p:sp>
          <p:nvSpPr>
            <p:cNvPr name="Freeform 22" id="22" descr="preencoded.png"/>
            <p:cNvSpPr/>
            <p:nvPr/>
          </p:nvSpPr>
          <p:spPr>
            <a:xfrm flipH="false" flipV="false" rot="0">
              <a:off x="0" y="0"/>
              <a:ext cx="566928" cy="566928"/>
            </a:xfrm>
            <a:custGeom>
              <a:avLst/>
              <a:gdLst/>
              <a:ahLst/>
              <a:cxnLst/>
              <a:rect r="r" b="b" t="t" l="l"/>
              <a:pathLst>
                <a:path h="566928" w="566928">
                  <a:moveTo>
                    <a:pt x="0" y="0"/>
                  </a:moveTo>
                  <a:lnTo>
                    <a:pt x="566928" y="0"/>
                  </a:lnTo>
                  <a:lnTo>
                    <a:pt x="566928" y="566928"/>
                  </a:lnTo>
                  <a:lnTo>
                    <a:pt x="0" y="5669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2" b="-2"/>
              </a:stretch>
            </a:blip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2333684" y="5713209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E0D6DE"/>
                </a:solidFill>
                <a:latin typeface="Arimo"/>
                <a:ea typeface="Arimo"/>
                <a:cs typeface="Arimo"/>
                <a:sym typeface="Arimo"/>
              </a:rPr>
              <a:t>SIEM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2333684" y="6278613"/>
            <a:ext cx="4678413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E0D6DE"/>
                </a:solidFill>
                <a:latin typeface="Noto Sans"/>
                <a:ea typeface="Noto Sans"/>
                <a:cs typeface="Noto Sans"/>
                <a:sym typeface="Noto Sans"/>
              </a:rPr>
              <a:t>Monitoramento de logs em tempo real para resposta a incidentes.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681306" y="314325"/>
            <a:ext cx="15419869" cy="1558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899"/>
              </a:lnSpc>
            </a:pPr>
            <a:r>
              <a:rPr lang="en-US" sz="555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Aplicativo  PWA e Capacitor (Aplicativo Nativo)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391240" y="3577419"/>
            <a:ext cx="8241992" cy="2472595"/>
            <a:chOff x="0" y="0"/>
            <a:chExt cx="10989323" cy="3296793"/>
          </a:xfrm>
        </p:grpSpPr>
        <p:sp>
          <p:nvSpPr>
            <p:cNvPr name="Freeform 10" id="10" descr="GitHub - ionic-team/capacitor: Build cross-platform Native Progressive Web  Apps for iOS, Android, and the Web ⚡️"/>
            <p:cNvSpPr/>
            <p:nvPr/>
          </p:nvSpPr>
          <p:spPr>
            <a:xfrm flipH="false" flipV="false" rot="0">
              <a:off x="0" y="0"/>
              <a:ext cx="10989310" cy="3296793"/>
            </a:xfrm>
            <a:custGeom>
              <a:avLst/>
              <a:gdLst/>
              <a:ahLst/>
              <a:cxnLst/>
              <a:rect r="r" b="b" t="t" l="l"/>
              <a:pathLst>
                <a:path h="3296793" w="10989310">
                  <a:moveTo>
                    <a:pt x="0" y="0"/>
                  </a:moveTo>
                  <a:lnTo>
                    <a:pt x="10989310" y="0"/>
                  </a:lnTo>
                  <a:lnTo>
                    <a:pt x="10989310" y="3296793"/>
                  </a:lnTo>
                  <a:lnTo>
                    <a:pt x="0" y="3296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73026" y="2794064"/>
            <a:ext cx="7468162" cy="4182170"/>
            <a:chOff x="0" y="0"/>
            <a:chExt cx="9957549" cy="5576227"/>
          </a:xfrm>
        </p:grpSpPr>
        <p:sp>
          <p:nvSpPr>
            <p:cNvPr name="Freeform 12" id="12" descr="5 Progressive Web App Alternatives to Popular Android Apps - DroidViews"/>
            <p:cNvSpPr/>
            <p:nvPr/>
          </p:nvSpPr>
          <p:spPr>
            <a:xfrm flipH="false" flipV="false" rot="0">
              <a:off x="0" y="0"/>
              <a:ext cx="9957562" cy="5576189"/>
            </a:xfrm>
            <a:custGeom>
              <a:avLst/>
              <a:gdLst/>
              <a:ahLst/>
              <a:cxnLst/>
              <a:rect r="r" b="b" t="t" l="l"/>
              <a:pathLst>
                <a:path h="5576189" w="9957562">
                  <a:moveTo>
                    <a:pt x="0" y="0"/>
                  </a:moveTo>
                  <a:lnTo>
                    <a:pt x="9957562" y="0"/>
                  </a:lnTo>
                  <a:lnTo>
                    <a:pt x="9957562" y="5576189"/>
                  </a:lnTo>
                  <a:lnTo>
                    <a:pt x="0" y="55761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992238" y="2657180"/>
            <a:ext cx="7832827" cy="943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Resultados e Impacto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2238" y="4413799"/>
            <a:ext cx="5198269" cy="8307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100%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819275" y="5560666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E0D6DE"/>
                </a:solidFill>
                <a:latin typeface="Arimo"/>
                <a:ea typeface="Arimo"/>
                <a:cs typeface="Arimo"/>
                <a:sym typeface="Arimo"/>
              </a:rPr>
              <a:t>Conformidade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92238" y="6126061"/>
            <a:ext cx="5198269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Sistema 100% adequado à LGPD (Proteção de dados de menores).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544866" y="4413799"/>
            <a:ext cx="5198269" cy="8307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371902" y="5560666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E0D6DE"/>
                </a:solidFill>
                <a:latin typeface="Arimo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544866" y="6126061"/>
            <a:ext cx="5198269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Eliminação de papéis e comunicação em tempo real entre escola e família.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097493" y="4413799"/>
            <a:ext cx="5198269" cy="8307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Conclusão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924530" y="5560666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E0D6DE"/>
                </a:solidFill>
                <a:latin typeface="Arimo"/>
                <a:ea typeface="Arimo"/>
                <a:cs typeface="Arimo"/>
                <a:sym typeface="Arimo"/>
              </a:rPr>
              <a:t>Conclusão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097493" y="6126061"/>
            <a:ext cx="5198269" cy="1446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O projeto prova que é possível criar software educacional acessível com segurança de nível empresarial.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0" y="0"/>
            <a:ext cx="18288000" cy="3544043"/>
            <a:chOff x="0" y="0"/>
            <a:chExt cx="24384000" cy="472539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24384000" cy="4725416"/>
            </a:xfrm>
            <a:custGeom>
              <a:avLst/>
              <a:gdLst/>
              <a:ahLst/>
              <a:cxnLst/>
              <a:rect r="r" b="b" t="t" l="l"/>
              <a:pathLst>
                <a:path h="4725416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4725416"/>
                  </a:lnTo>
                  <a:lnTo>
                    <a:pt x="0" y="4725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0" t="0" r="-10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809358" y="7864373"/>
            <a:ext cx="14176619" cy="1876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37"/>
              </a:lnSpc>
            </a:pPr>
            <a:r>
              <a:rPr lang="en-US" sz="1112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Obrigado!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3892508" y="6294672"/>
            <a:ext cx="3723294" cy="3723294"/>
            <a:chOff x="0" y="0"/>
            <a:chExt cx="4964392" cy="4964392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964430" cy="4964430"/>
            </a:xfrm>
            <a:custGeom>
              <a:avLst/>
              <a:gdLst/>
              <a:ahLst/>
              <a:cxnLst/>
              <a:rect r="r" b="b" t="t" l="l"/>
              <a:pathLst>
                <a:path h="4964430" w="4964430">
                  <a:moveTo>
                    <a:pt x="0" y="0"/>
                  </a:moveTo>
                  <a:lnTo>
                    <a:pt x="4964430" y="0"/>
                  </a:lnTo>
                  <a:lnTo>
                    <a:pt x="4964430" y="4964430"/>
                  </a:lnTo>
                  <a:lnTo>
                    <a:pt x="0" y="49644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-165678" y="0"/>
            <a:ext cx="6597253" cy="6597253"/>
            <a:chOff x="0" y="0"/>
            <a:chExt cx="8796338" cy="879633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796401" cy="8796401"/>
            </a:xfrm>
            <a:custGeom>
              <a:avLst/>
              <a:gdLst/>
              <a:ahLst/>
              <a:cxnLst/>
              <a:rect r="r" b="b" t="t" l="l"/>
              <a:pathLst>
                <a:path h="8796401" w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3875144" y="5234930"/>
            <a:ext cx="3758013" cy="11008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99"/>
              </a:lnSpc>
            </a:pPr>
            <a:r>
              <a:rPr lang="en-US" sz="2249" b="true">
                <a:solidFill>
                  <a:srgbClr val="000000"/>
                </a:solidFill>
                <a:latin typeface="Gill Sans Bold"/>
                <a:ea typeface="Gill Sans Bold"/>
                <a:cs typeface="Gill Sans Bold"/>
                <a:sym typeface="Gill Sans Bold"/>
              </a:rPr>
              <a:t>LEIA O QR CODE PARA ACESSAR O REPOSITÓRIO: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DAHHZutQxXU</dc:identifier>
  <dcterms:modified xsi:type="dcterms:W3CDTF">2011-08-01T06:04:30Z</dcterms:modified>
  <cp:revision>1</cp:revision>
  <dc:title>TCC - Slides.pptx</dc:title>
</cp:coreProperties>
</file>