
<file path=[Content_Types].xml><?xml version="1.0" encoding="utf-8"?>
<Types xmlns="http://schemas.openxmlformats.org/package/2006/content-types">
  <Default ContentType="application/x-fontdata" Extension="fntdata"/>
  <Default ContentType="image/jpeg" Extension="jpeg"/>
  <Default ContentType="image/png" Extension="png"/>
  <Default ContentType="application/vnd.openxmlformats-package.relationships+xml" Extension="rels"/>
  <Default ContentType="image/svg+xml" Extension="svg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notesMaster+xml" PartName="/ppt/notesMasters/notesMaster1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9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slide+xml" PartName="/ppt/slides/slide5.xml"/>
  <Override ContentType="application/vnd.openxmlformats-officedocument.presentationml.slide+xml" PartName="/ppt/slides/slide6.xml"/>
  <Override ContentType="application/vnd.openxmlformats-officedocument.presentationml.slide+xml" PartName="/ppt/slides/slide7.xml"/>
  <Override ContentType="application/vnd.openxmlformats-officedocument.presentationml.slide+xml" PartName="/ppt/slides/slide8.xml"/>
  <Override ContentType="application/vnd.openxmlformats-officedocument.presentationml.slide+xml" PartName="/ppt/slides/slide9.xml"/>
  <Override ContentType="application/vnd.openxmlformats-officedocument.presentationml.slide+xml" PartName="/ppt/slides/slide10.xml"/>
  <Override ContentType="application/vnd.openxmlformats-officedocument.presentationml.slide+xml" PartName="/ppt/slides/slide11.xml"/>
  <Override ContentType="application/vnd.openxmlformats-officedocument.presentationml.slide+xml" PartName="/ppt/slides/slide12.xml"/>
  <Override ContentType="application/vnd.openxmlformats-officedocument.presentationml.slide+xml" PartName="/ppt/slides/slide13.xml"/>
  <Override ContentType="application/vnd.openxmlformats-officedocument.presentationml.slide+xml" PartName="/ppt/slides/slide14.xml"/>
  <Override ContentType="application/vnd.openxmlformats-officedocument.presentationml.slide+xml" PartName="/ppt/slides/slide15.xml"/>
  <Override ContentType="application/vnd.openxmlformats-officedocument.presentationml.slide+xml" PartName="/ppt/slides/slide16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notesMasterIdLst>
    <p:notesMasterId r:id="rId22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</p:sldIdLst>
  <p:sldSz cx="18288000" cy="10287000"/>
  <p:notesSz cx="6858000" cy="9144000"/>
  <p:embeddedFontLst>
    <p:embeddedFont>
      <p:font typeface="Arimo" charset="1" panose="020B0604020202020204"/>
      <p:regular r:id="rId25"/>
    </p:embeddedFont>
    <p:embeddedFont>
      <p:font typeface="Noto Sans Bold" charset="1" panose="020B0802040504020204"/>
      <p:regular r:id="rId26"/>
    </p:embeddedFont>
    <p:embeddedFont>
      <p:font typeface="Arimo Bold" charset="1" panose="020B0704020202020204"/>
      <p:regular r:id="rId28"/>
    </p:embeddedFont>
    <p:embeddedFont>
      <p:font typeface="Noto Sans" charset="1" panose="020B0502040504020204"/>
      <p:regular r:id="rId29"/>
    </p:embeddedFont>
    <p:embeddedFont>
      <p:font typeface="Gill Sans Bold" charset="1" panose="020B0802020104020203"/>
      <p:regular r:id="rId37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10" Target="slides/slide5.xml" Type="http://schemas.openxmlformats.org/officeDocument/2006/relationships/slide"/><Relationship Id="rId11" Target="slides/slide6.xml" Type="http://schemas.openxmlformats.org/officeDocument/2006/relationships/slide"/><Relationship Id="rId12" Target="slides/slide7.xml" Type="http://schemas.openxmlformats.org/officeDocument/2006/relationships/slide"/><Relationship Id="rId13" Target="slides/slide8.xml" Type="http://schemas.openxmlformats.org/officeDocument/2006/relationships/slide"/><Relationship Id="rId14" Target="slides/slide9.xml" Type="http://schemas.openxmlformats.org/officeDocument/2006/relationships/slide"/><Relationship Id="rId15" Target="slides/slide10.xml" Type="http://schemas.openxmlformats.org/officeDocument/2006/relationships/slide"/><Relationship Id="rId16" Target="slides/slide11.xml" Type="http://schemas.openxmlformats.org/officeDocument/2006/relationships/slide"/><Relationship Id="rId17" Target="slides/slide12.xml" Type="http://schemas.openxmlformats.org/officeDocument/2006/relationships/slide"/><Relationship Id="rId18" Target="slides/slide13.xml" Type="http://schemas.openxmlformats.org/officeDocument/2006/relationships/slide"/><Relationship Id="rId19" Target="slides/slide14.xml" Type="http://schemas.openxmlformats.org/officeDocument/2006/relationships/slide"/><Relationship Id="rId2" Target="presProps.xml" Type="http://schemas.openxmlformats.org/officeDocument/2006/relationships/presProps"/><Relationship Id="rId20" Target="slides/slide15.xml" Type="http://schemas.openxmlformats.org/officeDocument/2006/relationships/slide"/><Relationship Id="rId21" Target="slides/slide16.xml" Type="http://schemas.openxmlformats.org/officeDocument/2006/relationships/slide"/><Relationship Id="rId22" Target="notesMasters/notesMaster1.xml" Type="http://schemas.openxmlformats.org/officeDocument/2006/relationships/notesMaster"/><Relationship Id="rId23" Target="theme/theme2.xml" Type="http://schemas.openxmlformats.org/officeDocument/2006/relationships/theme"/><Relationship Id="rId24" Target="notesSlides/notesSlide1.xml" Type="http://schemas.openxmlformats.org/officeDocument/2006/relationships/notesSlide"/><Relationship Id="rId25" Target="fonts/font25.fntdata" Type="http://schemas.openxmlformats.org/officeDocument/2006/relationships/font"/><Relationship Id="rId26" Target="fonts/font26.fntdata" Type="http://schemas.openxmlformats.org/officeDocument/2006/relationships/font"/><Relationship Id="rId27" Target="notesSlides/notesSlide2.xml" Type="http://schemas.openxmlformats.org/officeDocument/2006/relationships/notesSlide"/><Relationship Id="rId28" Target="fonts/font28.fntdata" Type="http://schemas.openxmlformats.org/officeDocument/2006/relationships/font"/><Relationship Id="rId29" Target="fonts/font29.fntdata" Type="http://schemas.openxmlformats.org/officeDocument/2006/relationships/font"/><Relationship Id="rId3" Target="viewProps.xml" Type="http://schemas.openxmlformats.org/officeDocument/2006/relationships/viewProps"/><Relationship Id="rId30" Target="notesSlides/notesSlide3.xml" Type="http://schemas.openxmlformats.org/officeDocument/2006/relationships/notesSlide"/><Relationship Id="rId31" Target="notesSlides/notesSlide4.xml" Type="http://schemas.openxmlformats.org/officeDocument/2006/relationships/notesSlide"/><Relationship Id="rId32" Target="notesSlides/notesSlide5.xml" Type="http://schemas.openxmlformats.org/officeDocument/2006/relationships/notesSlide"/><Relationship Id="rId33" Target="notesSlides/notesSlide6.xml" Type="http://schemas.openxmlformats.org/officeDocument/2006/relationships/notesSlide"/><Relationship Id="rId34" Target="notesSlides/notesSlide7.xml" Type="http://schemas.openxmlformats.org/officeDocument/2006/relationships/notesSlide"/><Relationship Id="rId35" Target="notesSlides/notesSlide8.xml" Type="http://schemas.openxmlformats.org/officeDocument/2006/relationships/notesSlide"/><Relationship Id="rId36" Target="notesSlides/notesSlide9.xml" Type="http://schemas.openxmlformats.org/officeDocument/2006/relationships/notesSlide"/><Relationship Id="rId37" Target="fonts/font37.fntdata" Type="http://schemas.openxmlformats.org/officeDocument/2006/relationships/font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6" Target="slides/slide1.xml" Type="http://schemas.openxmlformats.org/officeDocument/2006/relationships/slide"/><Relationship Id="rId7" Target="slides/slide2.xml" Type="http://schemas.openxmlformats.org/officeDocument/2006/relationships/slide"/><Relationship Id="rId8" Target="slides/slide3.xml" Type="http://schemas.openxmlformats.org/officeDocument/2006/relationships/slide"/><Relationship Id="rId9" Target="slides/slide4.xml" Type="http://schemas.openxmlformats.org/officeDocument/2006/relationships/slide"/></Relationships>
</file>

<file path=ppt/notesMasters/_rels/notesMaster1.xml.rels><?xml version="1.0" encoding="UTF-8" standalone="yes"?><Relationships xmlns="http://schemas.openxmlformats.org/package/2006/relationships"><Relationship Id="rId1" Target="../theme/theme2.xml" Type="http://schemas.openxmlformats.org/officeDocument/2006/relationships/theme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7268E1E-0E44-426D-905E-8AD9B19D2182}" type="datetimeFigureOut">
              <a:rPr lang="cs-CZ" smtClean="0"/>
              <a:t>1.7.2013</a:t>
            </a:fld>
            <a:endParaRPr lang="cs-CZ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cs-CZ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cs-CZ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1B2431-D351-4C6E-A3CF-9DFAC0E3E050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7988891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1.xml" Type="http://schemas.openxmlformats.org/officeDocument/2006/relationships/slide"/></Relationships>
</file>

<file path=ppt/notesSlides/_rels/notesSlide2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2.xml" Type="http://schemas.openxmlformats.org/officeDocument/2006/relationships/slide"/></Relationships>
</file>

<file path=ppt/notesSlides/_rels/notesSlide3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6.xml" Type="http://schemas.openxmlformats.org/officeDocument/2006/relationships/slide"/></Relationships>
</file>

<file path=ppt/notesSlides/_rels/notesSlide4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7.xml" Type="http://schemas.openxmlformats.org/officeDocument/2006/relationships/slide"/></Relationships>
</file>

<file path=ppt/notesSlides/_rels/notesSlide5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9.xml" Type="http://schemas.openxmlformats.org/officeDocument/2006/relationships/slide"/></Relationships>
</file>

<file path=ppt/notesSlides/_rels/notesSlide6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11.xml" Type="http://schemas.openxmlformats.org/officeDocument/2006/relationships/slide"/></Relationships>
</file>

<file path=ppt/notesSlides/_rels/notesSlide7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12.xml" Type="http://schemas.openxmlformats.org/officeDocument/2006/relationships/slide"/></Relationships>
</file>

<file path=ppt/notesSlides/_rels/notesSlide8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14.xml" Type="http://schemas.openxmlformats.org/officeDocument/2006/relationships/slide"/></Relationships>
</file>

<file path=ppt/notesSlides/_rels/notesSlide9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16.xml" Type="http://schemas.openxmlformats.org/officeDocument/2006/relationships/slide"/></Relationships>
</file>

<file path=ppt/notesSlides/notesSlide1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1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2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3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4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6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8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9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11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12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1.xml" Type="http://schemas.openxmlformats.org/officeDocument/2006/relationships/notesSlide"/><Relationship Id="rId3" Target="../media/image1.jpeg" Type="http://schemas.openxmlformats.org/officeDocument/2006/relationships/image"/><Relationship Id="rId4" Target="../media/image2.png" Type="http://schemas.openxmlformats.org/officeDocument/2006/relationships/image"/></Relationships>
</file>

<file path=ppt/slides/_rels/slide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2.xml" Type="http://schemas.openxmlformats.org/officeDocument/2006/relationships/notesSlide"/><Relationship Id="rId3" Target="../media/image3.png" Type="http://schemas.openxmlformats.org/officeDocument/2006/relationships/image"/></Relationships>
</file>

<file path=ppt/slides/_rels/slide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4.png" Type="http://schemas.openxmlformats.org/officeDocument/2006/relationships/image"/><Relationship Id="rId3" Target="../media/image5.svg" Type="http://schemas.openxmlformats.org/officeDocument/2006/relationships/image"/><Relationship Id="rId4" Target="../media/image6.png" Type="http://schemas.openxmlformats.org/officeDocument/2006/relationships/image"/><Relationship Id="rId5" Target="../media/image7.svg" Type="http://schemas.openxmlformats.org/officeDocument/2006/relationships/image"/><Relationship Id="rId6" Target="../media/image8.png" Type="http://schemas.openxmlformats.org/officeDocument/2006/relationships/image"/><Relationship Id="rId7" Target="../media/image9.svg" Type="http://schemas.openxmlformats.org/officeDocument/2006/relationships/image"/><Relationship Id="rId8" Target="../media/image10.png" Type="http://schemas.openxmlformats.org/officeDocument/2006/relationships/image"/><Relationship Id="rId9" Target="../media/image11.svg" Type="http://schemas.openxmlformats.org/officeDocument/2006/relationships/image"/></Relationships>
</file>

<file path=ppt/slides/_rels/slide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2.png" Type="http://schemas.openxmlformats.org/officeDocument/2006/relationships/image"/><Relationship Id="rId3" Target="../media/image13.svg" Type="http://schemas.openxmlformats.org/officeDocument/2006/relationships/image"/><Relationship Id="rId4" Target="../media/image14.png" Type="http://schemas.openxmlformats.org/officeDocument/2006/relationships/image"/><Relationship Id="rId5" Target="../media/image15.svg" Type="http://schemas.openxmlformats.org/officeDocument/2006/relationships/image"/><Relationship Id="rId6" Target="../media/image16.png" Type="http://schemas.openxmlformats.org/officeDocument/2006/relationships/image"/><Relationship Id="rId7" Target="../media/image17.svg" Type="http://schemas.openxmlformats.org/officeDocument/2006/relationships/image"/><Relationship Id="rId8" Target="../media/image18.png" Type="http://schemas.openxmlformats.org/officeDocument/2006/relationships/image"/><Relationship Id="rId9" Target="../media/image19.svg" Type="http://schemas.openxmlformats.org/officeDocument/2006/relationships/image"/></Relationships>
</file>

<file path=ppt/slides/_rels/slide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3.xml" Type="http://schemas.openxmlformats.org/officeDocument/2006/relationships/notesSlide"/><Relationship Id="rId3" Target="../media/image20.png" Type="http://schemas.openxmlformats.org/officeDocument/2006/relationships/image"/><Relationship Id="rId4" Target="../media/image21.svg" Type="http://schemas.openxmlformats.org/officeDocument/2006/relationships/image"/><Relationship Id="rId5" Target="../media/image22.png" Type="http://schemas.openxmlformats.org/officeDocument/2006/relationships/image"/><Relationship Id="rId6" Target="../media/image23.svg" Type="http://schemas.openxmlformats.org/officeDocument/2006/relationships/image"/><Relationship Id="rId7" Target="../media/image24.png" Type="http://schemas.openxmlformats.org/officeDocument/2006/relationships/image"/><Relationship Id="rId8" Target="../media/image25.svg" Type="http://schemas.openxmlformats.org/officeDocument/2006/relationships/image"/></Relationships>
</file>

<file path=ppt/slides/_rels/slide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4.xml" Type="http://schemas.openxmlformats.org/officeDocument/2006/relationships/notesSlide"/><Relationship Id="rId3" Target="../media/image26.png" Type="http://schemas.openxmlformats.org/officeDocument/2006/relationships/image"/></Relationships>
</file>

<file path=ppt/slides/_rels/slide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7.jpeg" Type="http://schemas.openxmlformats.org/officeDocument/2006/relationships/image"/><Relationship Id="rId3" Target="../media/image28.jpeg" Type="http://schemas.openxmlformats.org/officeDocument/2006/relationships/image"/><Relationship Id="rId4" Target="../media/image29.jpeg" Type="http://schemas.openxmlformats.org/officeDocument/2006/relationships/image"/></Relationships>
</file>

<file path=ppt/slides/_rels/slide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5.xml" Type="http://schemas.openxmlformats.org/officeDocument/2006/relationships/notesSlide"/><Relationship Id="rId3" Target="../media/image30.png" Type="http://schemas.openxmlformats.org/officeDocument/2006/relationships/image"/><Relationship Id="rId4" Target="../media/image31.png" Type="http://schemas.openxmlformats.org/officeDocument/2006/relationships/image"/></Relationships>
</file>

<file path=ppt/slides/_rels/slide1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32.png" Type="http://schemas.openxmlformats.org/officeDocument/2006/relationships/image"/></Relationships>
</file>

<file path=ppt/slides/_rels/slide1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6.xml" Type="http://schemas.openxmlformats.org/officeDocument/2006/relationships/notesSlide"/><Relationship Id="rId3" Target="../media/image33.png" Type="http://schemas.openxmlformats.org/officeDocument/2006/relationships/image"/><Relationship Id="rId4" Target="../media/image34.png" Type="http://schemas.openxmlformats.org/officeDocument/2006/relationships/image"/><Relationship Id="rId5" Target="../media/image35.png" Type="http://schemas.openxmlformats.org/officeDocument/2006/relationships/image"/></Relationships>
</file>

<file path=ppt/slides/_rels/slide1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7.xml" Type="http://schemas.openxmlformats.org/officeDocument/2006/relationships/notesSlide"/><Relationship Id="rId3" Target="../media/image36.png" Type="http://schemas.openxmlformats.org/officeDocument/2006/relationships/image"/><Relationship Id="rId4" Target="../media/image37.svg" Type="http://schemas.openxmlformats.org/officeDocument/2006/relationships/image"/><Relationship Id="rId5" Target="../media/image38.png" Type="http://schemas.openxmlformats.org/officeDocument/2006/relationships/image"/><Relationship Id="rId6" Target="../media/image39.svg" Type="http://schemas.openxmlformats.org/officeDocument/2006/relationships/image"/><Relationship Id="rId7" Target="../media/image40.png" Type="http://schemas.openxmlformats.org/officeDocument/2006/relationships/image"/><Relationship Id="rId8" Target="../media/image41.svg" Type="http://schemas.openxmlformats.org/officeDocument/2006/relationships/image"/></Relationships>
</file>

<file path=ppt/slides/_rels/slide1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42.png" Type="http://schemas.openxmlformats.org/officeDocument/2006/relationships/image"/><Relationship Id="rId3" Target="../media/image43.jpeg" Type="http://schemas.openxmlformats.org/officeDocument/2006/relationships/image"/></Relationships>
</file>

<file path=ppt/slides/_rels/slide1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8.xml" Type="http://schemas.openxmlformats.org/officeDocument/2006/relationships/notesSlide"/></Relationships>
</file>

<file path=ppt/slides/_rels/slide1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1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9.xml" Type="http://schemas.openxmlformats.org/officeDocument/2006/relationships/notesSlide"/><Relationship Id="rId3" Target="../media/image44.png" Type="http://schemas.openxmlformats.org/officeDocument/2006/relationships/image"/><Relationship Id="rId4" Target="../media/image45.jpeg" Type="http://schemas.openxmlformats.org/officeDocument/2006/relationships/image"/><Relationship Id="rId5" Target="../media/image2.png" Type="http://schemas.openxmlformats.org/officeDocument/2006/relationships/image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669798" y="685800"/>
            <a:ext cx="5554980" cy="142494"/>
            <a:chOff x="0" y="0"/>
            <a:chExt cx="7406640" cy="189992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7406640" cy="189992"/>
            </a:xfrm>
            <a:custGeom>
              <a:avLst/>
              <a:gdLst/>
              <a:ahLst/>
              <a:cxnLst/>
              <a:rect r="r" b="b" t="t" l="l"/>
              <a:pathLst>
                <a:path h="189992" w="7406640">
                  <a:moveTo>
                    <a:pt x="0" y="0"/>
                  </a:moveTo>
                  <a:lnTo>
                    <a:pt x="7406640" y="0"/>
                  </a:lnTo>
                  <a:lnTo>
                    <a:pt x="7406640" y="189992"/>
                  </a:lnTo>
                  <a:lnTo>
                    <a:pt x="0" y="189992"/>
                  </a:lnTo>
                  <a:close/>
                </a:path>
              </a:pathLst>
            </a:custGeom>
            <a:solidFill>
              <a:srgbClr val="4D1434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12063222" y="680466"/>
            <a:ext cx="5554980" cy="147828"/>
            <a:chOff x="0" y="0"/>
            <a:chExt cx="7406640" cy="197104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7406640" cy="197104"/>
            </a:xfrm>
            <a:custGeom>
              <a:avLst/>
              <a:gdLst/>
              <a:ahLst/>
              <a:cxnLst/>
              <a:rect r="r" b="b" t="t" l="l"/>
              <a:pathLst>
                <a:path h="197104" w="7406640">
                  <a:moveTo>
                    <a:pt x="0" y="0"/>
                  </a:moveTo>
                  <a:lnTo>
                    <a:pt x="7406640" y="0"/>
                  </a:lnTo>
                  <a:lnTo>
                    <a:pt x="7406640" y="197104"/>
                  </a:lnTo>
                  <a:lnTo>
                    <a:pt x="0" y="197104"/>
                  </a:lnTo>
                  <a:close/>
                </a:path>
              </a:pathLst>
            </a:custGeom>
            <a:solidFill>
              <a:srgbClr val="969FA7"/>
            </a:solidFill>
          </p:spPr>
        </p:sp>
      </p:grpSp>
      <p:grpSp>
        <p:nvGrpSpPr>
          <p:cNvPr name="Group 6" id="6"/>
          <p:cNvGrpSpPr/>
          <p:nvPr/>
        </p:nvGrpSpPr>
        <p:grpSpPr>
          <a:xfrm rot="0">
            <a:off x="6362748" y="685800"/>
            <a:ext cx="5554980" cy="137160"/>
            <a:chOff x="0" y="0"/>
            <a:chExt cx="7406640" cy="182880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7406640" cy="182880"/>
            </a:xfrm>
            <a:custGeom>
              <a:avLst/>
              <a:gdLst/>
              <a:ahLst/>
              <a:cxnLst/>
              <a:rect r="r" b="b" t="t" l="l"/>
              <a:pathLst>
                <a:path h="182880" w="7406640">
                  <a:moveTo>
                    <a:pt x="0" y="0"/>
                  </a:moveTo>
                  <a:lnTo>
                    <a:pt x="7406640" y="0"/>
                  </a:lnTo>
                  <a:lnTo>
                    <a:pt x="7406640" y="182880"/>
                  </a:lnTo>
                  <a:lnTo>
                    <a:pt x="0" y="182880"/>
                  </a:lnTo>
                  <a:close/>
                </a:path>
              </a:pathLst>
            </a:custGeom>
            <a:solidFill>
              <a:srgbClr val="903163"/>
            </a:solidFill>
          </p:spPr>
        </p:sp>
      </p:grpSp>
      <p:sp>
        <p:nvSpPr>
          <p:cNvPr name="TextBox 8" id="8"/>
          <p:cNvSpPr txBox="true"/>
          <p:nvPr/>
        </p:nvSpPr>
        <p:spPr>
          <a:xfrm rot="0">
            <a:off x="4437875" y="771144"/>
            <a:ext cx="13180327" cy="9001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937"/>
              </a:lnSpc>
            </a:pPr>
            <a:r>
              <a:rPr lang="en-US" sz="5562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Defesa de TCC - Sistemas de Informação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329298" y="3392995"/>
            <a:ext cx="6780162" cy="344384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937"/>
              </a:lnSpc>
            </a:pPr>
            <a:r>
              <a:rPr lang="en-US" sz="5562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Gestão Atípicos: Sistema Web Seguro para Educação Inclusiva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7357042" y="9030942"/>
            <a:ext cx="2455050" cy="4143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562"/>
              </a:lnSpc>
            </a:pPr>
            <a:r>
              <a:rPr lang="en-US" sz="2187" b="true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Belo Jardim, 2026</a:t>
            </a:r>
          </a:p>
        </p:txBody>
      </p:sp>
      <p:grpSp>
        <p:nvGrpSpPr>
          <p:cNvPr name="Group 11" id="11"/>
          <p:cNvGrpSpPr/>
          <p:nvPr/>
        </p:nvGrpSpPr>
        <p:grpSpPr>
          <a:xfrm rot="0">
            <a:off x="7109460" y="1824250"/>
            <a:ext cx="10654897" cy="6638500"/>
            <a:chOff x="0" y="0"/>
            <a:chExt cx="13401040" cy="8349475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13401039" cy="8349488"/>
            </a:xfrm>
            <a:custGeom>
              <a:avLst/>
              <a:gdLst/>
              <a:ahLst/>
              <a:cxnLst/>
              <a:rect r="r" b="b" t="t" l="l"/>
              <a:pathLst>
                <a:path h="8349488" w="13401039">
                  <a:moveTo>
                    <a:pt x="0" y="0"/>
                  </a:moveTo>
                  <a:lnTo>
                    <a:pt x="13401039" y="0"/>
                  </a:lnTo>
                  <a:lnTo>
                    <a:pt x="13401039" y="8349488"/>
                  </a:lnTo>
                  <a:lnTo>
                    <a:pt x="0" y="834948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0" r="0" b="0"/>
              </a:stretch>
            </a:blipFill>
          </p:spPr>
        </p:sp>
      </p:grpSp>
      <p:grpSp>
        <p:nvGrpSpPr>
          <p:cNvPr name="Group 13" id="13"/>
          <p:cNvGrpSpPr/>
          <p:nvPr/>
        </p:nvGrpSpPr>
        <p:grpSpPr>
          <a:xfrm rot="0">
            <a:off x="329298" y="276859"/>
            <a:ext cx="2788849" cy="2788849"/>
            <a:chOff x="0" y="0"/>
            <a:chExt cx="8796338" cy="8796338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8796401" cy="8796401"/>
            </a:xfrm>
            <a:custGeom>
              <a:avLst/>
              <a:gdLst/>
              <a:ahLst/>
              <a:cxnLst/>
              <a:rect r="r" b="b" t="t" l="l"/>
              <a:pathLst>
                <a:path h="8796401" w="8796401">
                  <a:moveTo>
                    <a:pt x="0" y="0"/>
                  </a:moveTo>
                  <a:lnTo>
                    <a:pt x="8796401" y="0"/>
                  </a:lnTo>
                  <a:lnTo>
                    <a:pt x="8796401" y="8796401"/>
                  </a:lnTo>
                  <a:lnTo>
                    <a:pt x="0" y="879640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0" t="0" r="0" b="0"/>
              </a:stretch>
            </a:blipFill>
          </p:spPr>
        </p:sp>
      </p:grp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669798" y="685800"/>
            <a:ext cx="5554980" cy="142494"/>
            <a:chOff x="0" y="0"/>
            <a:chExt cx="7406640" cy="189992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7406640" cy="189992"/>
            </a:xfrm>
            <a:custGeom>
              <a:avLst/>
              <a:gdLst/>
              <a:ahLst/>
              <a:cxnLst/>
              <a:rect r="r" b="b" t="t" l="l"/>
              <a:pathLst>
                <a:path h="189992" w="7406640">
                  <a:moveTo>
                    <a:pt x="0" y="0"/>
                  </a:moveTo>
                  <a:lnTo>
                    <a:pt x="7406640" y="0"/>
                  </a:lnTo>
                  <a:lnTo>
                    <a:pt x="7406640" y="189992"/>
                  </a:lnTo>
                  <a:lnTo>
                    <a:pt x="0" y="189992"/>
                  </a:lnTo>
                  <a:close/>
                </a:path>
              </a:pathLst>
            </a:custGeom>
            <a:solidFill>
              <a:srgbClr val="4D1434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12063222" y="680466"/>
            <a:ext cx="5554980" cy="147828"/>
            <a:chOff x="0" y="0"/>
            <a:chExt cx="7406640" cy="197104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7406640" cy="197104"/>
            </a:xfrm>
            <a:custGeom>
              <a:avLst/>
              <a:gdLst/>
              <a:ahLst/>
              <a:cxnLst/>
              <a:rect r="r" b="b" t="t" l="l"/>
              <a:pathLst>
                <a:path h="197104" w="7406640">
                  <a:moveTo>
                    <a:pt x="0" y="0"/>
                  </a:moveTo>
                  <a:lnTo>
                    <a:pt x="7406640" y="0"/>
                  </a:lnTo>
                  <a:lnTo>
                    <a:pt x="7406640" y="197104"/>
                  </a:lnTo>
                  <a:lnTo>
                    <a:pt x="0" y="197104"/>
                  </a:lnTo>
                  <a:close/>
                </a:path>
              </a:pathLst>
            </a:custGeom>
            <a:solidFill>
              <a:srgbClr val="969FA7"/>
            </a:solidFill>
          </p:spPr>
        </p:sp>
      </p:grpSp>
      <p:grpSp>
        <p:nvGrpSpPr>
          <p:cNvPr name="Group 6" id="6"/>
          <p:cNvGrpSpPr/>
          <p:nvPr/>
        </p:nvGrpSpPr>
        <p:grpSpPr>
          <a:xfrm rot="0">
            <a:off x="6362748" y="685800"/>
            <a:ext cx="5554980" cy="137160"/>
            <a:chOff x="0" y="0"/>
            <a:chExt cx="7406640" cy="182880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7406640" cy="182880"/>
            </a:xfrm>
            <a:custGeom>
              <a:avLst/>
              <a:gdLst/>
              <a:ahLst/>
              <a:cxnLst/>
              <a:rect r="r" b="b" t="t" l="l"/>
              <a:pathLst>
                <a:path h="182880" w="7406640">
                  <a:moveTo>
                    <a:pt x="0" y="0"/>
                  </a:moveTo>
                  <a:lnTo>
                    <a:pt x="7406640" y="0"/>
                  </a:lnTo>
                  <a:lnTo>
                    <a:pt x="7406640" y="182880"/>
                  </a:lnTo>
                  <a:lnTo>
                    <a:pt x="0" y="182880"/>
                  </a:lnTo>
                  <a:close/>
                </a:path>
              </a:pathLst>
            </a:custGeom>
            <a:solidFill>
              <a:srgbClr val="903163"/>
            </a:solidFill>
          </p:spPr>
        </p:sp>
      </p:grpSp>
      <p:grpSp>
        <p:nvGrpSpPr>
          <p:cNvPr name="Group 8" id="8"/>
          <p:cNvGrpSpPr/>
          <p:nvPr/>
        </p:nvGrpSpPr>
        <p:grpSpPr>
          <a:xfrm rot="0">
            <a:off x="669798" y="5143500"/>
            <a:ext cx="152400" cy="3070774"/>
            <a:chOff x="0" y="0"/>
            <a:chExt cx="203200" cy="4094366"/>
          </a:xfrm>
        </p:grpSpPr>
        <p:sp>
          <p:nvSpPr>
            <p:cNvPr name="Freeform 9" id="9" descr="preencoded.png"/>
            <p:cNvSpPr/>
            <p:nvPr/>
          </p:nvSpPr>
          <p:spPr>
            <a:xfrm flipH="false" flipV="false" rot="0">
              <a:off x="0" y="0"/>
              <a:ext cx="203200" cy="4094353"/>
            </a:xfrm>
            <a:custGeom>
              <a:avLst/>
              <a:gdLst/>
              <a:ahLst/>
              <a:cxnLst/>
              <a:rect r="r" b="b" t="t" l="l"/>
              <a:pathLst>
                <a:path h="4094353" w="203200">
                  <a:moveTo>
                    <a:pt x="0" y="0"/>
                  </a:moveTo>
                  <a:lnTo>
                    <a:pt x="203200" y="0"/>
                  </a:lnTo>
                  <a:lnTo>
                    <a:pt x="203200" y="4094353"/>
                  </a:lnTo>
                  <a:lnTo>
                    <a:pt x="0" y="409435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62" t="0" r="-56" b="0"/>
              </a:stretch>
            </a:blipFill>
          </p:spPr>
        </p:sp>
      </p:grpSp>
      <p:grpSp>
        <p:nvGrpSpPr>
          <p:cNvPr name="Group 10" id="10"/>
          <p:cNvGrpSpPr/>
          <p:nvPr/>
        </p:nvGrpSpPr>
        <p:grpSpPr>
          <a:xfrm rot="0">
            <a:off x="6198765" y="5143500"/>
            <a:ext cx="152400" cy="3070774"/>
            <a:chOff x="0" y="0"/>
            <a:chExt cx="203200" cy="4094366"/>
          </a:xfrm>
        </p:grpSpPr>
        <p:sp>
          <p:nvSpPr>
            <p:cNvPr name="Freeform 11" id="11" descr="preencoded.png"/>
            <p:cNvSpPr/>
            <p:nvPr/>
          </p:nvSpPr>
          <p:spPr>
            <a:xfrm flipH="false" flipV="false" rot="0">
              <a:off x="0" y="0"/>
              <a:ext cx="203200" cy="4094353"/>
            </a:xfrm>
            <a:custGeom>
              <a:avLst/>
              <a:gdLst/>
              <a:ahLst/>
              <a:cxnLst/>
              <a:rect r="r" b="b" t="t" l="l"/>
              <a:pathLst>
                <a:path h="4094353" w="203200">
                  <a:moveTo>
                    <a:pt x="0" y="0"/>
                  </a:moveTo>
                  <a:lnTo>
                    <a:pt x="203200" y="0"/>
                  </a:lnTo>
                  <a:lnTo>
                    <a:pt x="203200" y="4094353"/>
                  </a:lnTo>
                  <a:lnTo>
                    <a:pt x="0" y="409435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62" t="0" r="-56" b="0"/>
              </a:stretch>
            </a:blipFill>
          </p:spPr>
        </p:sp>
      </p:grpSp>
      <p:grpSp>
        <p:nvGrpSpPr>
          <p:cNvPr name="Group 12" id="12"/>
          <p:cNvGrpSpPr/>
          <p:nvPr/>
        </p:nvGrpSpPr>
        <p:grpSpPr>
          <a:xfrm rot="0">
            <a:off x="11727723" y="5143500"/>
            <a:ext cx="152400" cy="3070774"/>
            <a:chOff x="0" y="0"/>
            <a:chExt cx="203200" cy="4094366"/>
          </a:xfrm>
        </p:grpSpPr>
        <p:sp>
          <p:nvSpPr>
            <p:cNvPr name="Freeform 13" id="13" descr="preencoded.png"/>
            <p:cNvSpPr/>
            <p:nvPr/>
          </p:nvSpPr>
          <p:spPr>
            <a:xfrm flipH="false" flipV="false" rot="0">
              <a:off x="0" y="0"/>
              <a:ext cx="203200" cy="4094353"/>
            </a:xfrm>
            <a:custGeom>
              <a:avLst/>
              <a:gdLst/>
              <a:ahLst/>
              <a:cxnLst/>
              <a:rect r="r" b="b" t="t" l="l"/>
              <a:pathLst>
                <a:path h="4094353" w="203200">
                  <a:moveTo>
                    <a:pt x="0" y="0"/>
                  </a:moveTo>
                  <a:lnTo>
                    <a:pt x="203200" y="0"/>
                  </a:lnTo>
                  <a:lnTo>
                    <a:pt x="203200" y="4094353"/>
                  </a:lnTo>
                  <a:lnTo>
                    <a:pt x="0" y="409435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62" t="0" r="-56" b="0"/>
              </a:stretch>
            </a:blipFill>
          </p:spPr>
        </p:sp>
      </p:grpSp>
      <p:sp>
        <p:nvSpPr>
          <p:cNvPr name="TextBox 14" id="14"/>
          <p:cNvSpPr txBox="true"/>
          <p:nvPr/>
        </p:nvSpPr>
        <p:spPr>
          <a:xfrm rot="0">
            <a:off x="669798" y="1185501"/>
            <a:ext cx="16948404" cy="192594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193"/>
              </a:lnSpc>
            </a:pPr>
            <a:r>
              <a:rPr lang="en-US" sz="3362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Como</a:t>
            </a:r>
            <a:r>
              <a:rPr lang="en-US" sz="3362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 desenvolver um sistema web seguro, acessível e funcional que centralize a gestão de alunos atípicos, facilitando o trabalho de gestores, cuidadores e responsáveis?</a:t>
            </a:r>
          </a:p>
          <a:p>
            <a:pPr algn="l">
              <a:lnSpc>
                <a:spcPts val="6937"/>
              </a:lnSpc>
            </a:pPr>
          </a:p>
        </p:txBody>
      </p:sp>
      <p:sp>
        <p:nvSpPr>
          <p:cNvPr name="TextBox 15" id="15"/>
          <p:cNvSpPr txBox="true"/>
          <p:nvPr/>
        </p:nvSpPr>
        <p:spPr>
          <a:xfrm rot="0">
            <a:off x="1139352" y="5427021"/>
            <a:ext cx="1300217" cy="44926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437"/>
              </a:lnSpc>
            </a:pPr>
            <a:r>
              <a:rPr lang="en-US" sz="2750" b="true">
                <a:solidFill>
                  <a:srgbClr val="000000"/>
                </a:solidFill>
                <a:latin typeface="Arimo Bold"/>
                <a:ea typeface="Arimo Bold"/>
                <a:cs typeface="Arimo Bold"/>
                <a:sym typeface="Arimo Bold"/>
              </a:rPr>
              <a:t>Cenário</a:t>
            </a:r>
          </a:p>
        </p:txBody>
      </p:sp>
      <p:sp>
        <p:nvSpPr>
          <p:cNvPr name="TextBox 16" id="16"/>
          <p:cNvSpPr txBox="true"/>
          <p:nvPr/>
        </p:nvSpPr>
        <p:spPr>
          <a:xfrm rot="0">
            <a:off x="1139352" y="5992416"/>
            <a:ext cx="4487913" cy="190023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562"/>
              </a:lnSpc>
            </a:pPr>
            <a:r>
              <a:rPr lang="en-US" sz="2187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A Lei Brasileira de Inclusão obriga o atendimento especializado, mas muitas escolas ainda usam planilhas e papel.</a:t>
            </a:r>
          </a:p>
        </p:txBody>
      </p:sp>
      <p:sp>
        <p:nvSpPr>
          <p:cNvPr name="TextBox 17" id="17"/>
          <p:cNvSpPr txBox="true"/>
          <p:nvPr/>
        </p:nvSpPr>
        <p:spPr>
          <a:xfrm rot="0">
            <a:off x="6665490" y="5427021"/>
            <a:ext cx="1145300" cy="44926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437"/>
              </a:lnSpc>
            </a:pPr>
            <a:r>
              <a:rPr lang="en-US" sz="2750" b="true">
                <a:solidFill>
                  <a:srgbClr val="000000"/>
                </a:solidFill>
                <a:latin typeface="Arimo Bold"/>
                <a:ea typeface="Arimo Bold"/>
                <a:cs typeface="Arimo Bold"/>
                <a:sym typeface="Arimo Bold"/>
              </a:rPr>
              <a:t>Riscos</a:t>
            </a:r>
          </a:p>
        </p:txBody>
      </p:sp>
      <p:sp>
        <p:nvSpPr>
          <p:cNvPr name="TextBox 18" id="18"/>
          <p:cNvSpPr txBox="true"/>
          <p:nvPr/>
        </p:nvSpPr>
        <p:spPr>
          <a:xfrm rot="0">
            <a:off x="6665490" y="5992416"/>
            <a:ext cx="4487913" cy="144660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562"/>
              </a:lnSpc>
            </a:pPr>
            <a:r>
              <a:rPr lang="en-US" sz="2187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Perda de histórico pedagógico e, principalmente, vulnerabilidade jurídica perante a LGPD.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12194448" y="5427021"/>
            <a:ext cx="2775780" cy="44926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437"/>
              </a:lnSpc>
            </a:pPr>
            <a:r>
              <a:rPr lang="en-US" sz="2750" b="true">
                <a:solidFill>
                  <a:srgbClr val="000000"/>
                </a:solidFill>
                <a:latin typeface="Arimo Bold"/>
                <a:ea typeface="Arimo Bold"/>
                <a:cs typeface="Arimo Bold"/>
                <a:sym typeface="Arimo Bold"/>
              </a:rPr>
              <a:t>Dados Sensíveis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12194448" y="5992416"/>
            <a:ext cx="4487913" cy="144660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562"/>
              </a:lnSpc>
            </a:pPr>
            <a:r>
              <a:rPr lang="en-US" sz="2187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Laudos médicos e diagnósticos de crianças expostos sem controle de acesso adequado.</a:t>
            </a:r>
          </a:p>
        </p:txBody>
      </p: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7667854" y="1133440"/>
            <a:ext cx="2944767" cy="9001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937"/>
              </a:lnSpc>
            </a:pPr>
            <a:r>
              <a:rPr lang="en-US" sz="5562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Objetivos</a:t>
            </a:r>
          </a:p>
        </p:txBody>
      </p:sp>
      <p:grpSp>
        <p:nvGrpSpPr>
          <p:cNvPr name="Group 3" id="3"/>
          <p:cNvGrpSpPr/>
          <p:nvPr/>
        </p:nvGrpSpPr>
        <p:grpSpPr>
          <a:xfrm rot="0">
            <a:off x="669798" y="685800"/>
            <a:ext cx="5554980" cy="142494"/>
            <a:chOff x="0" y="0"/>
            <a:chExt cx="7406640" cy="189992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7406640" cy="189992"/>
            </a:xfrm>
            <a:custGeom>
              <a:avLst/>
              <a:gdLst/>
              <a:ahLst/>
              <a:cxnLst/>
              <a:rect r="r" b="b" t="t" l="l"/>
              <a:pathLst>
                <a:path h="189992" w="7406640">
                  <a:moveTo>
                    <a:pt x="0" y="0"/>
                  </a:moveTo>
                  <a:lnTo>
                    <a:pt x="7406640" y="0"/>
                  </a:lnTo>
                  <a:lnTo>
                    <a:pt x="7406640" y="189992"/>
                  </a:lnTo>
                  <a:lnTo>
                    <a:pt x="0" y="189992"/>
                  </a:lnTo>
                  <a:close/>
                </a:path>
              </a:pathLst>
            </a:custGeom>
            <a:solidFill>
              <a:srgbClr val="4D1434"/>
            </a:solidFill>
          </p:spPr>
        </p:sp>
      </p:grpSp>
      <p:grpSp>
        <p:nvGrpSpPr>
          <p:cNvPr name="Group 5" id="5"/>
          <p:cNvGrpSpPr/>
          <p:nvPr/>
        </p:nvGrpSpPr>
        <p:grpSpPr>
          <a:xfrm rot="0">
            <a:off x="12063222" y="680466"/>
            <a:ext cx="5554980" cy="147828"/>
            <a:chOff x="0" y="0"/>
            <a:chExt cx="7406640" cy="197104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7406640" cy="197104"/>
            </a:xfrm>
            <a:custGeom>
              <a:avLst/>
              <a:gdLst/>
              <a:ahLst/>
              <a:cxnLst/>
              <a:rect r="r" b="b" t="t" l="l"/>
              <a:pathLst>
                <a:path h="197104" w="7406640">
                  <a:moveTo>
                    <a:pt x="0" y="0"/>
                  </a:moveTo>
                  <a:lnTo>
                    <a:pt x="7406640" y="0"/>
                  </a:lnTo>
                  <a:lnTo>
                    <a:pt x="7406640" y="197104"/>
                  </a:lnTo>
                  <a:lnTo>
                    <a:pt x="0" y="197104"/>
                  </a:lnTo>
                  <a:close/>
                </a:path>
              </a:pathLst>
            </a:custGeom>
            <a:solidFill>
              <a:srgbClr val="969FA7"/>
            </a:solidFill>
          </p:spPr>
        </p:sp>
      </p:grpSp>
      <p:grpSp>
        <p:nvGrpSpPr>
          <p:cNvPr name="Group 7" id="7"/>
          <p:cNvGrpSpPr/>
          <p:nvPr/>
        </p:nvGrpSpPr>
        <p:grpSpPr>
          <a:xfrm rot="0">
            <a:off x="6362748" y="685800"/>
            <a:ext cx="5554980" cy="137160"/>
            <a:chOff x="0" y="0"/>
            <a:chExt cx="7406640" cy="18288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7406640" cy="182880"/>
            </a:xfrm>
            <a:custGeom>
              <a:avLst/>
              <a:gdLst/>
              <a:ahLst/>
              <a:cxnLst/>
              <a:rect r="r" b="b" t="t" l="l"/>
              <a:pathLst>
                <a:path h="182880" w="7406640">
                  <a:moveTo>
                    <a:pt x="0" y="0"/>
                  </a:moveTo>
                  <a:lnTo>
                    <a:pt x="7406640" y="0"/>
                  </a:lnTo>
                  <a:lnTo>
                    <a:pt x="7406640" y="182880"/>
                  </a:lnTo>
                  <a:lnTo>
                    <a:pt x="0" y="182880"/>
                  </a:lnTo>
                  <a:close/>
                </a:path>
              </a:pathLst>
            </a:custGeom>
            <a:solidFill>
              <a:srgbClr val="903163"/>
            </a:solidFill>
          </p:spPr>
        </p:sp>
      </p:grpSp>
      <p:sp>
        <p:nvSpPr>
          <p:cNvPr name="TextBox 9" id="9"/>
          <p:cNvSpPr txBox="true"/>
          <p:nvPr/>
        </p:nvSpPr>
        <p:spPr>
          <a:xfrm rot="0">
            <a:off x="669798" y="2952013"/>
            <a:ext cx="15711243" cy="42637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199"/>
              </a:lnSpc>
              <a:spcBef>
                <a:spcPct val="0"/>
              </a:spcBef>
            </a:pPr>
            <a:r>
              <a:rPr lang="en-US" b="true" sz="2999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Objetivo Geral:</a:t>
            </a:r>
          </a:p>
          <a:p>
            <a:pPr algn="l">
              <a:lnSpc>
                <a:spcPts val="4199"/>
              </a:lnSpc>
              <a:spcBef>
                <a:spcPct val="0"/>
              </a:spcBef>
            </a:pPr>
          </a:p>
          <a:p>
            <a:pPr algn="l">
              <a:lnSpc>
                <a:spcPts val="3499"/>
              </a:lnSpc>
              <a:spcBef>
                <a:spcPct val="0"/>
              </a:spcBef>
            </a:pPr>
            <a:r>
              <a:rPr lang="en-US" sz="2499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 Desenvolver um sistema web seguro e centralizado para a gestão de alunos com necessidades especiais.</a:t>
            </a:r>
          </a:p>
          <a:p>
            <a:pPr algn="l">
              <a:lnSpc>
                <a:spcPts val="3499"/>
              </a:lnSpc>
              <a:spcBef>
                <a:spcPct val="0"/>
              </a:spcBef>
            </a:pPr>
          </a:p>
          <a:p>
            <a:pPr algn="l">
              <a:lnSpc>
                <a:spcPts val="4199"/>
              </a:lnSpc>
              <a:spcBef>
                <a:spcPct val="0"/>
              </a:spcBef>
            </a:pPr>
            <a:r>
              <a:rPr lang="en-US" b="true" sz="2999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Objetivos Específicos:  </a:t>
            </a:r>
          </a:p>
          <a:p>
            <a:pPr algn="l">
              <a:lnSpc>
                <a:spcPts val="4199"/>
              </a:lnSpc>
              <a:spcBef>
                <a:spcPct val="0"/>
              </a:spcBef>
            </a:pPr>
          </a:p>
          <a:p>
            <a:pPr algn="l" marL="539749" indent="-269875" lvl="1">
              <a:lnSpc>
                <a:spcPts val="3499"/>
              </a:lnSpc>
              <a:buFont typeface="Arial"/>
              <a:buChar char="•"/>
            </a:pPr>
            <a:r>
              <a:rPr lang="en-US" sz="2499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Substituir registros manuais por um "cofre digital".</a:t>
            </a:r>
          </a:p>
          <a:p>
            <a:pPr algn="l" marL="539749" indent="-269875" lvl="1">
              <a:lnSpc>
                <a:spcPts val="3499"/>
              </a:lnSpc>
              <a:buFont typeface="Arial"/>
              <a:buChar char="•"/>
            </a:pPr>
            <a:r>
              <a:rPr lang="en-US" sz="2499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Implementar segurança em nível de banco de dados (RLS).</a:t>
            </a:r>
          </a:p>
          <a:p>
            <a:pPr algn="l" marL="539749" indent="-269875" lvl="1">
              <a:lnSpc>
                <a:spcPts val="3499"/>
              </a:lnSpc>
              <a:buFont typeface="Arial"/>
              <a:buChar char="•"/>
            </a:pPr>
            <a:r>
              <a:rPr lang="en-US" sz="2499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Validar a aplicação contra vulnerabilidades críticas através de pentests.</a:t>
            </a:r>
          </a:p>
        </p:txBody>
      </p: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669798" y="685800"/>
            <a:ext cx="5554980" cy="142494"/>
            <a:chOff x="0" y="0"/>
            <a:chExt cx="7406640" cy="189992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7406640" cy="189992"/>
            </a:xfrm>
            <a:custGeom>
              <a:avLst/>
              <a:gdLst/>
              <a:ahLst/>
              <a:cxnLst/>
              <a:rect r="r" b="b" t="t" l="l"/>
              <a:pathLst>
                <a:path h="189992" w="7406640">
                  <a:moveTo>
                    <a:pt x="0" y="0"/>
                  </a:moveTo>
                  <a:lnTo>
                    <a:pt x="7406640" y="0"/>
                  </a:lnTo>
                  <a:lnTo>
                    <a:pt x="7406640" y="189992"/>
                  </a:lnTo>
                  <a:lnTo>
                    <a:pt x="0" y="189992"/>
                  </a:lnTo>
                  <a:close/>
                </a:path>
              </a:pathLst>
            </a:custGeom>
            <a:solidFill>
              <a:srgbClr val="4D1434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12063222" y="680466"/>
            <a:ext cx="5554980" cy="147828"/>
            <a:chOff x="0" y="0"/>
            <a:chExt cx="7406640" cy="197104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7406640" cy="197104"/>
            </a:xfrm>
            <a:custGeom>
              <a:avLst/>
              <a:gdLst/>
              <a:ahLst/>
              <a:cxnLst/>
              <a:rect r="r" b="b" t="t" l="l"/>
              <a:pathLst>
                <a:path h="197104" w="7406640">
                  <a:moveTo>
                    <a:pt x="0" y="0"/>
                  </a:moveTo>
                  <a:lnTo>
                    <a:pt x="7406640" y="0"/>
                  </a:lnTo>
                  <a:lnTo>
                    <a:pt x="7406640" y="197104"/>
                  </a:lnTo>
                  <a:lnTo>
                    <a:pt x="0" y="197104"/>
                  </a:lnTo>
                  <a:close/>
                </a:path>
              </a:pathLst>
            </a:custGeom>
            <a:solidFill>
              <a:srgbClr val="969FA7"/>
            </a:solidFill>
          </p:spPr>
        </p:sp>
      </p:grpSp>
      <p:grpSp>
        <p:nvGrpSpPr>
          <p:cNvPr name="Group 6" id="6"/>
          <p:cNvGrpSpPr/>
          <p:nvPr/>
        </p:nvGrpSpPr>
        <p:grpSpPr>
          <a:xfrm rot="0">
            <a:off x="6362748" y="685800"/>
            <a:ext cx="5554980" cy="137160"/>
            <a:chOff x="0" y="0"/>
            <a:chExt cx="7406640" cy="182880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7406640" cy="182880"/>
            </a:xfrm>
            <a:custGeom>
              <a:avLst/>
              <a:gdLst/>
              <a:ahLst/>
              <a:cxnLst/>
              <a:rect r="r" b="b" t="t" l="l"/>
              <a:pathLst>
                <a:path h="182880" w="7406640">
                  <a:moveTo>
                    <a:pt x="0" y="0"/>
                  </a:moveTo>
                  <a:lnTo>
                    <a:pt x="7406640" y="0"/>
                  </a:lnTo>
                  <a:lnTo>
                    <a:pt x="7406640" y="182880"/>
                  </a:lnTo>
                  <a:lnTo>
                    <a:pt x="0" y="182880"/>
                  </a:lnTo>
                  <a:close/>
                </a:path>
              </a:pathLst>
            </a:custGeom>
            <a:solidFill>
              <a:srgbClr val="903163"/>
            </a:solidFill>
          </p:spPr>
        </p:sp>
      </p:grpSp>
      <p:sp>
        <p:nvSpPr>
          <p:cNvPr name="Freeform 8" id="8"/>
          <p:cNvSpPr/>
          <p:nvPr/>
        </p:nvSpPr>
        <p:spPr>
          <a:xfrm flipH="false" flipV="false" rot="0">
            <a:off x="1885314" y="2432563"/>
            <a:ext cx="1561974" cy="1493637"/>
          </a:xfrm>
          <a:custGeom>
            <a:avLst/>
            <a:gdLst/>
            <a:ahLst/>
            <a:cxnLst/>
            <a:rect r="r" b="b" t="t" l="l"/>
            <a:pathLst>
              <a:path h="1493637" w="1561974">
                <a:moveTo>
                  <a:pt x="0" y="0"/>
                </a:moveTo>
                <a:lnTo>
                  <a:pt x="1561974" y="0"/>
                </a:lnTo>
                <a:lnTo>
                  <a:pt x="1561974" y="1493637"/>
                </a:lnTo>
                <a:lnTo>
                  <a:pt x="0" y="149363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9" id="9"/>
          <p:cNvSpPr/>
          <p:nvPr/>
        </p:nvSpPr>
        <p:spPr>
          <a:xfrm flipH="false" flipV="false" rot="0">
            <a:off x="1885314" y="4405675"/>
            <a:ext cx="1319260" cy="1618724"/>
          </a:xfrm>
          <a:custGeom>
            <a:avLst/>
            <a:gdLst/>
            <a:ahLst/>
            <a:cxnLst/>
            <a:rect r="r" b="b" t="t" l="l"/>
            <a:pathLst>
              <a:path h="1618724" w="1319260">
                <a:moveTo>
                  <a:pt x="0" y="0"/>
                </a:moveTo>
                <a:lnTo>
                  <a:pt x="1319260" y="0"/>
                </a:lnTo>
                <a:lnTo>
                  <a:pt x="1319260" y="1618724"/>
                </a:lnTo>
                <a:lnTo>
                  <a:pt x="0" y="1618724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0" id="10"/>
          <p:cNvSpPr/>
          <p:nvPr/>
        </p:nvSpPr>
        <p:spPr>
          <a:xfrm flipH="false" flipV="false" rot="0">
            <a:off x="1838010" y="6171025"/>
            <a:ext cx="1413869" cy="1665825"/>
          </a:xfrm>
          <a:custGeom>
            <a:avLst/>
            <a:gdLst/>
            <a:ahLst/>
            <a:cxnLst/>
            <a:rect r="r" b="b" t="t" l="l"/>
            <a:pathLst>
              <a:path h="1665825" w="1413869">
                <a:moveTo>
                  <a:pt x="0" y="0"/>
                </a:moveTo>
                <a:lnTo>
                  <a:pt x="1413869" y="0"/>
                </a:lnTo>
                <a:lnTo>
                  <a:pt x="1413869" y="1665825"/>
                </a:lnTo>
                <a:lnTo>
                  <a:pt x="0" y="1665825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1" id="11"/>
          <p:cNvSpPr/>
          <p:nvPr/>
        </p:nvSpPr>
        <p:spPr>
          <a:xfrm flipH="false" flipV="false" rot="0">
            <a:off x="1728097" y="7979725"/>
            <a:ext cx="1719191" cy="1719191"/>
          </a:xfrm>
          <a:custGeom>
            <a:avLst/>
            <a:gdLst/>
            <a:ahLst/>
            <a:cxnLst/>
            <a:rect r="r" b="b" t="t" l="l"/>
            <a:pathLst>
              <a:path h="1719191" w="1719191">
                <a:moveTo>
                  <a:pt x="0" y="0"/>
                </a:moveTo>
                <a:lnTo>
                  <a:pt x="1719191" y="0"/>
                </a:lnTo>
                <a:lnTo>
                  <a:pt x="1719191" y="1719191"/>
                </a:lnTo>
                <a:lnTo>
                  <a:pt x="0" y="1719191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12" id="12"/>
          <p:cNvSpPr txBox="true"/>
          <p:nvPr/>
        </p:nvSpPr>
        <p:spPr>
          <a:xfrm rot="0">
            <a:off x="4696884" y="1156926"/>
            <a:ext cx="7657072" cy="9001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937"/>
              </a:lnSpc>
            </a:pPr>
            <a:r>
              <a:rPr lang="en-US" sz="5562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Fundamentação Teórica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5735372" y="3141281"/>
            <a:ext cx="11523928" cy="602138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593726" indent="-296863" lvl="1">
              <a:lnSpc>
                <a:spcPts val="3437"/>
              </a:lnSpc>
              <a:buFont typeface="Arial"/>
              <a:buChar char="•"/>
            </a:pPr>
            <a:r>
              <a:rPr lang="en-US" sz="2750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Educação Inclusiva: Diretrizes da Lei nº 13.146/2015 (Estatuto da Pessoa com Deficiência) e a importância da gestão do Atendimento Educacional Especializado (AEE).</a:t>
            </a:r>
          </a:p>
          <a:p>
            <a:pPr algn="l">
              <a:lnSpc>
                <a:spcPts val="3437"/>
              </a:lnSpc>
            </a:pPr>
          </a:p>
          <a:p>
            <a:pPr algn="l" marL="593726" indent="-296863" lvl="1">
              <a:lnSpc>
                <a:spcPts val="3437"/>
              </a:lnSpc>
              <a:buFont typeface="Arial"/>
              <a:buChar char="•"/>
            </a:pPr>
            <a:r>
              <a:rPr lang="en-US" sz="2750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Privacidade e Ética: Diretrizes da LGPD (Lei nº 13.709/2018) focadas no "melhor interesse" e proteção de dados sensíveis de menores de idade.</a:t>
            </a:r>
          </a:p>
          <a:p>
            <a:pPr algn="l">
              <a:lnSpc>
                <a:spcPts val="3437"/>
              </a:lnSpc>
            </a:pPr>
          </a:p>
          <a:p>
            <a:pPr algn="l" marL="593726" indent="-296863" lvl="1">
              <a:lnSpc>
                <a:spcPts val="3437"/>
              </a:lnSpc>
              <a:buFont typeface="Arial"/>
              <a:buChar char="•"/>
            </a:pPr>
            <a:r>
              <a:rPr lang="en-US" sz="2750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Segurança da Informação: Adoção de padrões globais OWASP (Top 10 e ASVS) e aplicação da Modelagem de Ameaças STRIDE.</a:t>
            </a:r>
          </a:p>
          <a:p>
            <a:pPr algn="l">
              <a:lnSpc>
                <a:spcPts val="3437"/>
              </a:lnSpc>
            </a:pPr>
          </a:p>
          <a:p>
            <a:pPr algn="l" marL="593726" indent="-296863" lvl="1">
              <a:lnSpc>
                <a:spcPts val="3437"/>
              </a:lnSpc>
              <a:buFont typeface="Arial"/>
              <a:buChar char="•"/>
            </a:pPr>
            <a:r>
              <a:rPr lang="en-US" sz="2750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Arquitetura de Software: Modelos Serverless (Backend as a Service) e segurança isolada no banco de dados através de Row Level Security (RLS).</a:t>
            </a:r>
          </a:p>
        </p:txBody>
      </p: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669798" y="685800"/>
            <a:ext cx="5554980" cy="142494"/>
            <a:chOff x="0" y="0"/>
            <a:chExt cx="7406640" cy="189992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7406640" cy="189992"/>
            </a:xfrm>
            <a:custGeom>
              <a:avLst/>
              <a:gdLst/>
              <a:ahLst/>
              <a:cxnLst/>
              <a:rect r="r" b="b" t="t" l="l"/>
              <a:pathLst>
                <a:path h="189992" w="7406640">
                  <a:moveTo>
                    <a:pt x="0" y="0"/>
                  </a:moveTo>
                  <a:lnTo>
                    <a:pt x="7406640" y="0"/>
                  </a:lnTo>
                  <a:lnTo>
                    <a:pt x="7406640" y="189992"/>
                  </a:lnTo>
                  <a:lnTo>
                    <a:pt x="0" y="189992"/>
                  </a:lnTo>
                  <a:close/>
                </a:path>
              </a:pathLst>
            </a:custGeom>
            <a:solidFill>
              <a:srgbClr val="4D1434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12063222" y="680466"/>
            <a:ext cx="5554980" cy="147828"/>
            <a:chOff x="0" y="0"/>
            <a:chExt cx="7406640" cy="197104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7406640" cy="197104"/>
            </a:xfrm>
            <a:custGeom>
              <a:avLst/>
              <a:gdLst/>
              <a:ahLst/>
              <a:cxnLst/>
              <a:rect r="r" b="b" t="t" l="l"/>
              <a:pathLst>
                <a:path h="197104" w="7406640">
                  <a:moveTo>
                    <a:pt x="0" y="0"/>
                  </a:moveTo>
                  <a:lnTo>
                    <a:pt x="7406640" y="0"/>
                  </a:lnTo>
                  <a:lnTo>
                    <a:pt x="7406640" y="197104"/>
                  </a:lnTo>
                  <a:lnTo>
                    <a:pt x="0" y="197104"/>
                  </a:lnTo>
                  <a:close/>
                </a:path>
              </a:pathLst>
            </a:custGeom>
            <a:solidFill>
              <a:srgbClr val="969FA7"/>
            </a:solidFill>
          </p:spPr>
        </p:sp>
      </p:grpSp>
      <p:grpSp>
        <p:nvGrpSpPr>
          <p:cNvPr name="Group 6" id="6"/>
          <p:cNvGrpSpPr/>
          <p:nvPr/>
        </p:nvGrpSpPr>
        <p:grpSpPr>
          <a:xfrm rot="0">
            <a:off x="6362748" y="685800"/>
            <a:ext cx="5554980" cy="137160"/>
            <a:chOff x="0" y="0"/>
            <a:chExt cx="7406640" cy="182880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7406640" cy="182880"/>
            </a:xfrm>
            <a:custGeom>
              <a:avLst/>
              <a:gdLst/>
              <a:ahLst/>
              <a:cxnLst/>
              <a:rect r="r" b="b" t="t" l="l"/>
              <a:pathLst>
                <a:path h="182880" w="7406640">
                  <a:moveTo>
                    <a:pt x="0" y="0"/>
                  </a:moveTo>
                  <a:lnTo>
                    <a:pt x="7406640" y="0"/>
                  </a:lnTo>
                  <a:lnTo>
                    <a:pt x="7406640" y="182880"/>
                  </a:lnTo>
                  <a:lnTo>
                    <a:pt x="0" y="182880"/>
                  </a:lnTo>
                  <a:close/>
                </a:path>
              </a:pathLst>
            </a:custGeom>
            <a:solidFill>
              <a:srgbClr val="903163"/>
            </a:solidFill>
          </p:spPr>
        </p:sp>
      </p:grpSp>
      <p:sp>
        <p:nvSpPr>
          <p:cNvPr name="TextBox 8" id="8"/>
          <p:cNvSpPr txBox="true"/>
          <p:nvPr/>
        </p:nvSpPr>
        <p:spPr>
          <a:xfrm rot="0">
            <a:off x="2610082" y="2483689"/>
            <a:ext cx="14649218" cy="74317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539749" indent="-269875" lvl="1">
              <a:lnSpc>
                <a:spcPts val="3499"/>
              </a:lnSpc>
              <a:buFont typeface="Arial"/>
              <a:buChar char="•"/>
            </a:pPr>
            <a:r>
              <a:rPr lang="en-US" sz="2499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Tipo de Pesquisa: </a:t>
            </a:r>
          </a:p>
          <a:p>
            <a:pPr algn="just">
              <a:lnSpc>
                <a:spcPts val="3499"/>
              </a:lnSpc>
              <a:spcBef>
                <a:spcPct val="0"/>
              </a:spcBef>
            </a:pPr>
            <a:r>
              <a:rPr lang="en-US" sz="2499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Pesquisa aplicada de abordagem qualitativa, baseada no desenvolvimento ágil de software com entregas incrementais (Sprints).</a:t>
            </a:r>
          </a:p>
          <a:p>
            <a:pPr algn="just">
              <a:lnSpc>
                <a:spcPts val="3499"/>
              </a:lnSpc>
              <a:spcBef>
                <a:spcPct val="0"/>
              </a:spcBef>
            </a:pPr>
          </a:p>
          <a:p>
            <a:pPr algn="just">
              <a:lnSpc>
                <a:spcPts val="3499"/>
              </a:lnSpc>
              <a:spcBef>
                <a:spcPct val="0"/>
              </a:spcBef>
            </a:pPr>
          </a:p>
          <a:p>
            <a:pPr algn="l" marL="539749" indent="-269875" lvl="1">
              <a:lnSpc>
                <a:spcPts val="3499"/>
              </a:lnSpc>
              <a:buFont typeface="Arial"/>
              <a:buChar char="•"/>
            </a:pPr>
            <a:r>
              <a:rPr lang="en-US" sz="2499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Coleta de Dados (Requisitos): </a:t>
            </a:r>
          </a:p>
          <a:p>
            <a:pPr algn="just">
              <a:lnSpc>
                <a:spcPts val="3499"/>
              </a:lnSpc>
              <a:spcBef>
                <a:spcPct val="0"/>
              </a:spcBef>
            </a:pPr>
            <a:r>
              <a:rPr lang="en-US" sz="2499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Elicitação através de entrevistas não estruturadas com profissionais da área da educação.</a:t>
            </a:r>
          </a:p>
          <a:p>
            <a:pPr algn="just">
              <a:lnSpc>
                <a:spcPts val="3499"/>
              </a:lnSpc>
              <a:spcBef>
                <a:spcPct val="0"/>
              </a:spcBef>
            </a:pPr>
          </a:p>
          <a:p>
            <a:pPr algn="just">
              <a:lnSpc>
                <a:spcPts val="3499"/>
              </a:lnSpc>
              <a:spcBef>
                <a:spcPct val="0"/>
              </a:spcBef>
            </a:pPr>
          </a:p>
          <a:p>
            <a:pPr algn="l" marL="539749" indent="-269875" lvl="1">
              <a:lnSpc>
                <a:spcPts val="3499"/>
              </a:lnSpc>
              <a:buFont typeface="Arial"/>
              <a:buChar char="•"/>
            </a:pPr>
            <a:r>
              <a:rPr lang="en-US" sz="2499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Procedimentos de Desenvolvimento:  </a:t>
            </a:r>
          </a:p>
          <a:p>
            <a:pPr algn="just">
              <a:lnSpc>
                <a:spcPts val="3499"/>
              </a:lnSpc>
              <a:spcBef>
                <a:spcPct val="0"/>
              </a:spcBef>
            </a:pPr>
            <a:r>
              <a:rPr lang="en-US" sz="2499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Modelagem de dados e design de interfaces focadas em UI/UX.</a:t>
            </a:r>
          </a:p>
          <a:p>
            <a:pPr algn="just">
              <a:lnSpc>
                <a:spcPts val="3499"/>
              </a:lnSpc>
              <a:spcBef>
                <a:spcPct val="0"/>
              </a:spcBef>
            </a:pPr>
            <a:r>
              <a:rPr lang="en-US" sz="2499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Automação via pipeline CI/CD utilizando GitHub Actions e Vercel.</a:t>
            </a:r>
          </a:p>
          <a:p>
            <a:pPr algn="just">
              <a:lnSpc>
                <a:spcPts val="3499"/>
              </a:lnSpc>
              <a:spcBef>
                <a:spcPct val="0"/>
              </a:spcBef>
            </a:pPr>
            <a:r>
              <a:rPr lang="en-US" sz="2499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Empacotamento híbrido (PWA e nativo Android via Capacitor).</a:t>
            </a:r>
          </a:p>
          <a:p>
            <a:pPr algn="just">
              <a:lnSpc>
                <a:spcPts val="3499"/>
              </a:lnSpc>
              <a:spcBef>
                <a:spcPct val="0"/>
              </a:spcBef>
            </a:pPr>
          </a:p>
          <a:p>
            <a:pPr algn="just">
              <a:lnSpc>
                <a:spcPts val="3499"/>
              </a:lnSpc>
              <a:spcBef>
                <a:spcPct val="0"/>
              </a:spcBef>
            </a:pPr>
          </a:p>
          <a:p>
            <a:pPr algn="l" marL="539749" indent="-269875" lvl="1">
              <a:lnSpc>
                <a:spcPts val="3499"/>
              </a:lnSpc>
              <a:buFont typeface="Arial"/>
              <a:buChar char="•"/>
            </a:pPr>
            <a:r>
              <a:rPr lang="en-US" sz="2499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Estratégia de Validação: </a:t>
            </a:r>
          </a:p>
          <a:p>
            <a:pPr algn="just">
              <a:lnSpc>
                <a:spcPts val="3499"/>
              </a:lnSpc>
              <a:spcBef>
                <a:spcPct val="0"/>
              </a:spcBef>
            </a:pPr>
            <a:r>
              <a:rPr lang="en-US" sz="2499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Execução de testes automatizados unitários/integração (Vitest) e testes de penetração Black-Box.</a:t>
            </a:r>
          </a:p>
        </p:txBody>
      </p:sp>
      <p:sp>
        <p:nvSpPr>
          <p:cNvPr name="Freeform 9" id="9"/>
          <p:cNvSpPr/>
          <p:nvPr/>
        </p:nvSpPr>
        <p:spPr>
          <a:xfrm flipH="false" flipV="false" rot="0">
            <a:off x="395757" y="2531314"/>
            <a:ext cx="1909823" cy="1272420"/>
          </a:xfrm>
          <a:custGeom>
            <a:avLst/>
            <a:gdLst/>
            <a:ahLst/>
            <a:cxnLst/>
            <a:rect r="r" b="b" t="t" l="l"/>
            <a:pathLst>
              <a:path h="1272420" w="1909823">
                <a:moveTo>
                  <a:pt x="0" y="0"/>
                </a:moveTo>
                <a:lnTo>
                  <a:pt x="1909823" y="0"/>
                </a:lnTo>
                <a:lnTo>
                  <a:pt x="1909823" y="1272420"/>
                </a:lnTo>
                <a:lnTo>
                  <a:pt x="0" y="127242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0" id="10"/>
          <p:cNvSpPr/>
          <p:nvPr/>
        </p:nvSpPr>
        <p:spPr>
          <a:xfrm flipH="false" flipV="false" rot="0">
            <a:off x="453542" y="4333914"/>
            <a:ext cx="1713719" cy="1718015"/>
          </a:xfrm>
          <a:custGeom>
            <a:avLst/>
            <a:gdLst/>
            <a:ahLst/>
            <a:cxnLst/>
            <a:rect r="r" b="b" t="t" l="l"/>
            <a:pathLst>
              <a:path h="1718015" w="1713719">
                <a:moveTo>
                  <a:pt x="0" y="0"/>
                </a:moveTo>
                <a:lnTo>
                  <a:pt x="1713719" y="0"/>
                </a:lnTo>
                <a:lnTo>
                  <a:pt x="1713719" y="1718015"/>
                </a:lnTo>
                <a:lnTo>
                  <a:pt x="0" y="1718015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1" id="11"/>
          <p:cNvSpPr/>
          <p:nvPr/>
        </p:nvSpPr>
        <p:spPr>
          <a:xfrm flipH="false" flipV="false" rot="0">
            <a:off x="395757" y="6385744"/>
            <a:ext cx="1582979" cy="1670690"/>
          </a:xfrm>
          <a:custGeom>
            <a:avLst/>
            <a:gdLst/>
            <a:ahLst/>
            <a:cxnLst/>
            <a:rect r="r" b="b" t="t" l="l"/>
            <a:pathLst>
              <a:path h="1670690" w="1582979">
                <a:moveTo>
                  <a:pt x="0" y="0"/>
                </a:moveTo>
                <a:lnTo>
                  <a:pt x="1582979" y="0"/>
                </a:lnTo>
                <a:lnTo>
                  <a:pt x="1582979" y="1670690"/>
                </a:lnTo>
                <a:lnTo>
                  <a:pt x="0" y="1670690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2" id="12"/>
          <p:cNvSpPr/>
          <p:nvPr/>
        </p:nvSpPr>
        <p:spPr>
          <a:xfrm flipH="false" flipV="false" rot="0">
            <a:off x="453542" y="8390249"/>
            <a:ext cx="1525195" cy="1525195"/>
          </a:xfrm>
          <a:custGeom>
            <a:avLst/>
            <a:gdLst/>
            <a:ahLst/>
            <a:cxnLst/>
            <a:rect r="r" b="b" t="t" l="l"/>
            <a:pathLst>
              <a:path h="1525195" w="1525195">
                <a:moveTo>
                  <a:pt x="0" y="0"/>
                </a:moveTo>
                <a:lnTo>
                  <a:pt x="1525194" y="0"/>
                </a:lnTo>
                <a:lnTo>
                  <a:pt x="1525194" y="1525195"/>
                </a:lnTo>
                <a:lnTo>
                  <a:pt x="0" y="1525195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13" id="13"/>
          <p:cNvSpPr txBox="true"/>
          <p:nvPr/>
        </p:nvSpPr>
        <p:spPr>
          <a:xfrm rot="0">
            <a:off x="6881115" y="1227385"/>
            <a:ext cx="3848695" cy="9001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937"/>
              </a:lnSpc>
            </a:pPr>
            <a:r>
              <a:rPr lang="en-US" sz="5562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Metodologia</a:t>
            </a:r>
          </a:p>
        </p:txBody>
      </p:sp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669798" y="685800"/>
            <a:ext cx="5554980" cy="142494"/>
            <a:chOff x="0" y="0"/>
            <a:chExt cx="7406640" cy="189992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7406640" cy="189992"/>
            </a:xfrm>
            <a:custGeom>
              <a:avLst/>
              <a:gdLst/>
              <a:ahLst/>
              <a:cxnLst/>
              <a:rect r="r" b="b" t="t" l="l"/>
              <a:pathLst>
                <a:path h="189992" w="7406640">
                  <a:moveTo>
                    <a:pt x="0" y="0"/>
                  </a:moveTo>
                  <a:lnTo>
                    <a:pt x="7406640" y="0"/>
                  </a:lnTo>
                  <a:lnTo>
                    <a:pt x="7406640" y="189992"/>
                  </a:lnTo>
                  <a:lnTo>
                    <a:pt x="0" y="189992"/>
                  </a:lnTo>
                  <a:close/>
                </a:path>
              </a:pathLst>
            </a:custGeom>
            <a:solidFill>
              <a:srgbClr val="4D1434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12063222" y="680466"/>
            <a:ext cx="5554980" cy="147828"/>
            <a:chOff x="0" y="0"/>
            <a:chExt cx="7406640" cy="197104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7406640" cy="197104"/>
            </a:xfrm>
            <a:custGeom>
              <a:avLst/>
              <a:gdLst/>
              <a:ahLst/>
              <a:cxnLst/>
              <a:rect r="r" b="b" t="t" l="l"/>
              <a:pathLst>
                <a:path h="197104" w="7406640">
                  <a:moveTo>
                    <a:pt x="0" y="0"/>
                  </a:moveTo>
                  <a:lnTo>
                    <a:pt x="7406640" y="0"/>
                  </a:lnTo>
                  <a:lnTo>
                    <a:pt x="7406640" y="197104"/>
                  </a:lnTo>
                  <a:lnTo>
                    <a:pt x="0" y="197104"/>
                  </a:lnTo>
                  <a:close/>
                </a:path>
              </a:pathLst>
            </a:custGeom>
            <a:solidFill>
              <a:srgbClr val="969FA7"/>
            </a:solidFill>
          </p:spPr>
        </p:sp>
      </p:grpSp>
      <p:grpSp>
        <p:nvGrpSpPr>
          <p:cNvPr name="Group 6" id="6"/>
          <p:cNvGrpSpPr/>
          <p:nvPr/>
        </p:nvGrpSpPr>
        <p:grpSpPr>
          <a:xfrm rot="0">
            <a:off x="6362748" y="685800"/>
            <a:ext cx="5554980" cy="137160"/>
            <a:chOff x="0" y="0"/>
            <a:chExt cx="7406640" cy="182880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7406640" cy="182880"/>
            </a:xfrm>
            <a:custGeom>
              <a:avLst/>
              <a:gdLst/>
              <a:ahLst/>
              <a:cxnLst/>
              <a:rect r="r" b="b" t="t" l="l"/>
              <a:pathLst>
                <a:path h="182880" w="7406640">
                  <a:moveTo>
                    <a:pt x="0" y="0"/>
                  </a:moveTo>
                  <a:lnTo>
                    <a:pt x="7406640" y="0"/>
                  </a:lnTo>
                  <a:lnTo>
                    <a:pt x="7406640" y="182880"/>
                  </a:lnTo>
                  <a:lnTo>
                    <a:pt x="0" y="182880"/>
                  </a:lnTo>
                  <a:close/>
                </a:path>
              </a:pathLst>
            </a:custGeom>
            <a:solidFill>
              <a:srgbClr val="903163"/>
            </a:solidFill>
          </p:spPr>
        </p:sp>
      </p:grpSp>
      <p:sp>
        <p:nvSpPr>
          <p:cNvPr name="Freeform 8" id="8"/>
          <p:cNvSpPr/>
          <p:nvPr/>
        </p:nvSpPr>
        <p:spPr>
          <a:xfrm flipH="false" flipV="false" rot="0">
            <a:off x="1275759" y="3947408"/>
            <a:ext cx="1204836" cy="1204836"/>
          </a:xfrm>
          <a:custGeom>
            <a:avLst/>
            <a:gdLst/>
            <a:ahLst/>
            <a:cxnLst/>
            <a:rect r="r" b="b" t="t" l="l"/>
            <a:pathLst>
              <a:path h="1204836" w="1204836">
                <a:moveTo>
                  <a:pt x="0" y="0"/>
                </a:moveTo>
                <a:lnTo>
                  <a:pt x="1204837" y="0"/>
                </a:lnTo>
                <a:lnTo>
                  <a:pt x="1204837" y="1204836"/>
                </a:lnTo>
                <a:lnTo>
                  <a:pt x="0" y="1204836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9" id="9"/>
          <p:cNvSpPr/>
          <p:nvPr/>
        </p:nvSpPr>
        <p:spPr>
          <a:xfrm flipH="false" flipV="false" rot="0">
            <a:off x="6804717" y="3947408"/>
            <a:ext cx="1007333" cy="1219162"/>
          </a:xfrm>
          <a:custGeom>
            <a:avLst/>
            <a:gdLst/>
            <a:ahLst/>
            <a:cxnLst/>
            <a:rect r="r" b="b" t="t" l="l"/>
            <a:pathLst>
              <a:path h="1219162" w="1007333">
                <a:moveTo>
                  <a:pt x="0" y="0"/>
                </a:moveTo>
                <a:lnTo>
                  <a:pt x="1007333" y="0"/>
                </a:lnTo>
                <a:lnTo>
                  <a:pt x="1007333" y="1219162"/>
                </a:lnTo>
                <a:lnTo>
                  <a:pt x="0" y="1219162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0" id="10"/>
          <p:cNvSpPr/>
          <p:nvPr/>
        </p:nvSpPr>
        <p:spPr>
          <a:xfrm flipH="false" flipV="false" rot="0">
            <a:off x="12333684" y="3947408"/>
            <a:ext cx="1219162" cy="1219162"/>
          </a:xfrm>
          <a:custGeom>
            <a:avLst/>
            <a:gdLst/>
            <a:ahLst/>
            <a:cxnLst/>
            <a:rect r="r" b="b" t="t" l="l"/>
            <a:pathLst>
              <a:path h="1219162" w="1219162">
                <a:moveTo>
                  <a:pt x="0" y="0"/>
                </a:moveTo>
                <a:lnTo>
                  <a:pt x="1219162" y="0"/>
                </a:lnTo>
                <a:lnTo>
                  <a:pt x="1219162" y="1219162"/>
                </a:lnTo>
                <a:lnTo>
                  <a:pt x="0" y="1219162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11" id="11"/>
          <p:cNvSpPr txBox="true"/>
          <p:nvPr/>
        </p:nvSpPr>
        <p:spPr>
          <a:xfrm rot="0">
            <a:off x="992238" y="2522334"/>
            <a:ext cx="7107136" cy="94312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937"/>
              </a:lnSpc>
            </a:pPr>
            <a:r>
              <a:rPr lang="en-US" sz="5562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A Solução Proposta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1275759" y="5411991"/>
            <a:ext cx="3544043" cy="48101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437"/>
              </a:lnSpc>
            </a:pPr>
            <a:r>
              <a:rPr lang="en-US" sz="2750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Objetivo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1275759" y="5977385"/>
            <a:ext cx="4678413" cy="99298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562"/>
              </a:lnSpc>
            </a:pPr>
            <a:r>
              <a:rPr lang="en-US" sz="2187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Sistema Web Centralizado para gestão de alunos atípicos.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6804717" y="5411991"/>
            <a:ext cx="3544043" cy="48101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437"/>
              </a:lnSpc>
            </a:pPr>
            <a:r>
              <a:rPr lang="en-US" sz="2750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Público-Alvo</a:t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6804717" y="5977385"/>
            <a:ext cx="4678413" cy="144660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562"/>
              </a:lnSpc>
            </a:pPr>
            <a:r>
              <a:rPr lang="en-US" sz="2187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Conecta Gestores, Cuidadores e Responsáveis em uma única plataforma.</a:t>
            </a:r>
          </a:p>
        </p:txBody>
      </p:sp>
      <p:sp>
        <p:nvSpPr>
          <p:cNvPr name="TextBox 16" id="16"/>
          <p:cNvSpPr txBox="true"/>
          <p:nvPr/>
        </p:nvSpPr>
        <p:spPr>
          <a:xfrm rot="0">
            <a:off x="12333684" y="5411991"/>
            <a:ext cx="3544043" cy="48101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437"/>
              </a:lnSpc>
            </a:pPr>
            <a:r>
              <a:rPr lang="en-US" sz="2750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Foco</a:t>
            </a:r>
          </a:p>
        </p:txBody>
      </p:sp>
      <p:sp>
        <p:nvSpPr>
          <p:cNvPr name="TextBox 17" id="17"/>
          <p:cNvSpPr txBox="true"/>
          <p:nvPr/>
        </p:nvSpPr>
        <p:spPr>
          <a:xfrm rot="0">
            <a:off x="12333684" y="5977385"/>
            <a:ext cx="4678413" cy="144660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562"/>
              </a:lnSpc>
            </a:pPr>
            <a:r>
              <a:rPr lang="en-US" sz="2187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Substituir processos manuais por um "cofre digital" seguro e acessível.</a:t>
            </a:r>
          </a:p>
        </p:txBody>
      </p:sp>
    </p:spTree>
  </p:cSld>
  <p:clrMapOvr>
    <a:masterClrMapping/>
  </p:clrMapOvr>
</p:sld>
</file>

<file path=ppt/slides/slide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669798" y="685800"/>
            <a:ext cx="5554980" cy="142494"/>
            <a:chOff x="0" y="0"/>
            <a:chExt cx="7406640" cy="189992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7406640" cy="189992"/>
            </a:xfrm>
            <a:custGeom>
              <a:avLst/>
              <a:gdLst/>
              <a:ahLst/>
              <a:cxnLst/>
              <a:rect r="r" b="b" t="t" l="l"/>
              <a:pathLst>
                <a:path h="189992" w="7406640">
                  <a:moveTo>
                    <a:pt x="0" y="0"/>
                  </a:moveTo>
                  <a:lnTo>
                    <a:pt x="7406640" y="0"/>
                  </a:lnTo>
                  <a:lnTo>
                    <a:pt x="7406640" y="189992"/>
                  </a:lnTo>
                  <a:lnTo>
                    <a:pt x="0" y="189992"/>
                  </a:lnTo>
                  <a:close/>
                </a:path>
              </a:pathLst>
            </a:custGeom>
            <a:solidFill>
              <a:srgbClr val="4D1434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12063222" y="680466"/>
            <a:ext cx="5554980" cy="147828"/>
            <a:chOff x="0" y="0"/>
            <a:chExt cx="7406640" cy="197104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7406640" cy="197104"/>
            </a:xfrm>
            <a:custGeom>
              <a:avLst/>
              <a:gdLst/>
              <a:ahLst/>
              <a:cxnLst/>
              <a:rect r="r" b="b" t="t" l="l"/>
              <a:pathLst>
                <a:path h="197104" w="7406640">
                  <a:moveTo>
                    <a:pt x="0" y="0"/>
                  </a:moveTo>
                  <a:lnTo>
                    <a:pt x="7406640" y="0"/>
                  </a:lnTo>
                  <a:lnTo>
                    <a:pt x="7406640" y="197104"/>
                  </a:lnTo>
                  <a:lnTo>
                    <a:pt x="0" y="197104"/>
                  </a:lnTo>
                  <a:close/>
                </a:path>
              </a:pathLst>
            </a:custGeom>
            <a:solidFill>
              <a:srgbClr val="969FA7"/>
            </a:solidFill>
          </p:spPr>
        </p:sp>
      </p:grpSp>
      <p:grpSp>
        <p:nvGrpSpPr>
          <p:cNvPr name="Group 6" id="6"/>
          <p:cNvGrpSpPr/>
          <p:nvPr/>
        </p:nvGrpSpPr>
        <p:grpSpPr>
          <a:xfrm rot="0">
            <a:off x="6362748" y="685800"/>
            <a:ext cx="5554980" cy="137160"/>
            <a:chOff x="0" y="0"/>
            <a:chExt cx="7406640" cy="182880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7406640" cy="182880"/>
            </a:xfrm>
            <a:custGeom>
              <a:avLst/>
              <a:gdLst/>
              <a:ahLst/>
              <a:cxnLst/>
              <a:rect r="r" b="b" t="t" l="l"/>
              <a:pathLst>
                <a:path h="182880" w="7406640">
                  <a:moveTo>
                    <a:pt x="0" y="0"/>
                  </a:moveTo>
                  <a:lnTo>
                    <a:pt x="7406640" y="0"/>
                  </a:lnTo>
                  <a:lnTo>
                    <a:pt x="7406640" y="182880"/>
                  </a:lnTo>
                  <a:lnTo>
                    <a:pt x="0" y="182880"/>
                  </a:lnTo>
                  <a:close/>
                </a:path>
              </a:pathLst>
            </a:custGeom>
            <a:solidFill>
              <a:srgbClr val="903163"/>
            </a:solidFill>
          </p:spPr>
        </p:sp>
      </p:grpSp>
      <p:sp>
        <p:nvSpPr>
          <p:cNvPr name="TextBox 8" id="8"/>
          <p:cNvSpPr txBox="true"/>
          <p:nvPr/>
        </p:nvSpPr>
        <p:spPr>
          <a:xfrm rot="0">
            <a:off x="690858" y="1199269"/>
            <a:ext cx="6977805" cy="65499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812"/>
              </a:lnSpc>
            </a:pPr>
            <a:r>
              <a:rPr lang="en-US" sz="3875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Stack Tecnológica Moderna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690858" y="2099239"/>
            <a:ext cx="1375442" cy="32697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75"/>
              </a:lnSpc>
            </a:pPr>
            <a:r>
              <a:rPr lang="en-US" sz="2499" b="true">
                <a:solidFill>
                  <a:srgbClr val="000000"/>
                </a:solidFill>
                <a:latin typeface="Arimo Bold"/>
                <a:ea typeface="Arimo Bold"/>
                <a:cs typeface="Arimo Bold"/>
                <a:sym typeface="Arimo Bold"/>
              </a:rPr>
              <a:t>Frontend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690858" y="2604959"/>
            <a:ext cx="8212341" cy="26804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437"/>
              </a:lnSpc>
            </a:pPr>
            <a:r>
              <a:rPr lang="en-US" sz="2499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React com TypeScript e Tailwind CSS (Foco em </a:t>
            </a:r>
          </a:p>
          <a:p>
            <a:pPr algn="l">
              <a:lnSpc>
                <a:spcPts val="2437"/>
              </a:lnSpc>
            </a:pPr>
            <a:r>
              <a:rPr lang="en-US" sz="2499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Usabilidade e Acessibilidade).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690858" y="3625477"/>
            <a:ext cx="1323353" cy="62219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75"/>
              </a:lnSpc>
            </a:pPr>
          </a:p>
          <a:p>
            <a:pPr algn="l">
              <a:lnSpc>
                <a:spcPts val="2375"/>
              </a:lnSpc>
            </a:pPr>
            <a:r>
              <a:rPr lang="en-US" sz="2499" b="true">
                <a:solidFill>
                  <a:srgbClr val="000000"/>
                </a:solidFill>
                <a:latin typeface="Arimo Bold"/>
                <a:ea typeface="Arimo Bold"/>
                <a:cs typeface="Arimo Bold"/>
                <a:sym typeface="Arimo Bold"/>
              </a:rPr>
              <a:t>Backend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669798" y="4131188"/>
            <a:ext cx="8212341" cy="26804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437"/>
              </a:lnSpc>
            </a:pPr>
          </a:p>
          <a:p>
            <a:pPr algn="l">
              <a:lnSpc>
                <a:spcPts val="2437"/>
              </a:lnSpc>
            </a:pPr>
            <a:r>
              <a:rPr lang="en-US" sz="2499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Supabase (Backend as a Service).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669798" y="4644195"/>
            <a:ext cx="2467270" cy="26074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75"/>
              </a:lnSpc>
            </a:pPr>
          </a:p>
          <a:p>
            <a:pPr algn="l">
              <a:lnSpc>
                <a:spcPts val="2375"/>
              </a:lnSpc>
            </a:pPr>
            <a:r>
              <a:rPr lang="en-US" sz="2499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Infraestrutura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669798" y="5149915"/>
            <a:ext cx="8212341" cy="26804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437"/>
              </a:lnSpc>
            </a:pPr>
          </a:p>
          <a:p>
            <a:pPr algn="l">
              <a:lnSpc>
                <a:spcPts val="2437"/>
              </a:lnSpc>
            </a:pPr>
            <a:r>
              <a:rPr lang="en-US" sz="2499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Vercel (Serverless Edge).</a:t>
            </a:r>
          </a:p>
        </p:txBody>
      </p:sp>
      <p:grpSp>
        <p:nvGrpSpPr>
          <p:cNvPr name="Group 15" id="15"/>
          <p:cNvGrpSpPr/>
          <p:nvPr/>
        </p:nvGrpSpPr>
        <p:grpSpPr>
          <a:xfrm rot="0">
            <a:off x="9384802" y="851221"/>
            <a:ext cx="8212341" cy="8212341"/>
            <a:chOff x="0" y="0"/>
            <a:chExt cx="10949788" cy="10949788"/>
          </a:xfrm>
        </p:grpSpPr>
        <p:sp>
          <p:nvSpPr>
            <p:cNvPr name="Freeform 16" id="16" descr="preencoded.png"/>
            <p:cNvSpPr/>
            <p:nvPr/>
          </p:nvSpPr>
          <p:spPr>
            <a:xfrm flipH="false" flipV="false" rot="0">
              <a:off x="0" y="0"/>
              <a:ext cx="10949813" cy="10949813"/>
            </a:xfrm>
            <a:custGeom>
              <a:avLst/>
              <a:gdLst/>
              <a:ahLst/>
              <a:cxnLst/>
              <a:rect r="r" b="b" t="t" l="l"/>
              <a:pathLst>
                <a:path h="10949813" w="10949813">
                  <a:moveTo>
                    <a:pt x="0" y="0"/>
                  </a:moveTo>
                  <a:lnTo>
                    <a:pt x="10949813" y="0"/>
                  </a:lnTo>
                  <a:lnTo>
                    <a:pt x="10949813" y="10949813"/>
                  </a:lnTo>
                  <a:lnTo>
                    <a:pt x="0" y="1094981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0" r="0" b="0"/>
              </a:stretch>
            </a:blipFill>
          </p:spPr>
        </p:sp>
      </p:grpSp>
      <p:sp>
        <p:nvSpPr>
          <p:cNvPr name="TextBox 17" id="17"/>
          <p:cNvSpPr txBox="true"/>
          <p:nvPr/>
        </p:nvSpPr>
        <p:spPr>
          <a:xfrm rot="0">
            <a:off x="9394327" y="10560691"/>
            <a:ext cx="8212341" cy="37281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437"/>
              </a:lnSpc>
            </a:pPr>
            <a:r>
              <a:rPr lang="en-US" sz="1500">
                <a:solidFill>
                  <a:srgbClr val="E0D6DE"/>
                </a:solidFill>
                <a:latin typeface="Noto Sans"/>
                <a:ea typeface="Noto Sans"/>
                <a:cs typeface="Noto Sans"/>
                <a:sym typeface="Noto Sans"/>
              </a:rPr>
              <a:t>Arquitetura Serverless para alta disponibilidade e baixo custo de manutenção.</a:t>
            </a:r>
          </a:p>
        </p:txBody>
      </p:sp>
    </p:spTree>
  </p:cSld>
  <p:clrMapOvr>
    <a:masterClrMapping/>
  </p:clrMapOvr>
</p:sld>
</file>

<file path=ppt/slides/slide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669798" y="685800"/>
            <a:ext cx="5554980" cy="142494"/>
            <a:chOff x="0" y="0"/>
            <a:chExt cx="7406640" cy="189992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7406640" cy="189992"/>
            </a:xfrm>
            <a:custGeom>
              <a:avLst/>
              <a:gdLst/>
              <a:ahLst/>
              <a:cxnLst/>
              <a:rect r="r" b="b" t="t" l="l"/>
              <a:pathLst>
                <a:path h="189992" w="7406640">
                  <a:moveTo>
                    <a:pt x="0" y="0"/>
                  </a:moveTo>
                  <a:lnTo>
                    <a:pt x="7406640" y="0"/>
                  </a:lnTo>
                  <a:lnTo>
                    <a:pt x="7406640" y="189992"/>
                  </a:lnTo>
                  <a:lnTo>
                    <a:pt x="0" y="189992"/>
                  </a:lnTo>
                  <a:close/>
                </a:path>
              </a:pathLst>
            </a:custGeom>
            <a:solidFill>
              <a:srgbClr val="4D1434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12063222" y="680466"/>
            <a:ext cx="5554980" cy="147828"/>
            <a:chOff x="0" y="0"/>
            <a:chExt cx="7406640" cy="197104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7406640" cy="197104"/>
            </a:xfrm>
            <a:custGeom>
              <a:avLst/>
              <a:gdLst/>
              <a:ahLst/>
              <a:cxnLst/>
              <a:rect r="r" b="b" t="t" l="l"/>
              <a:pathLst>
                <a:path h="197104" w="7406640">
                  <a:moveTo>
                    <a:pt x="0" y="0"/>
                  </a:moveTo>
                  <a:lnTo>
                    <a:pt x="7406640" y="0"/>
                  </a:lnTo>
                  <a:lnTo>
                    <a:pt x="7406640" y="197104"/>
                  </a:lnTo>
                  <a:lnTo>
                    <a:pt x="0" y="197104"/>
                  </a:lnTo>
                  <a:close/>
                </a:path>
              </a:pathLst>
            </a:custGeom>
            <a:solidFill>
              <a:srgbClr val="969FA7"/>
            </a:solidFill>
          </p:spPr>
        </p:sp>
      </p:grpSp>
      <p:grpSp>
        <p:nvGrpSpPr>
          <p:cNvPr name="Group 6" id="6"/>
          <p:cNvGrpSpPr/>
          <p:nvPr/>
        </p:nvGrpSpPr>
        <p:grpSpPr>
          <a:xfrm rot="0">
            <a:off x="6362748" y="685800"/>
            <a:ext cx="5554980" cy="137160"/>
            <a:chOff x="0" y="0"/>
            <a:chExt cx="7406640" cy="182880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7406640" cy="182880"/>
            </a:xfrm>
            <a:custGeom>
              <a:avLst/>
              <a:gdLst/>
              <a:ahLst/>
              <a:cxnLst/>
              <a:rect r="r" b="b" t="t" l="l"/>
              <a:pathLst>
                <a:path h="182880" w="7406640">
                  <a:moveTo>
                    <a:pt x="0" y="0"/>
                  </a:moveTo>
                  <a:lnTo>
                    <a:pt x="7406640" y="0"/>
                  </a:lnTo>
                  <a:lnTo>
                    <a:pt x="7406640" y="182880"/>
                  </a:lnTo>
                  <a:lnTo>
                    <a:pt x="0" y="182880"/>
                  </a:lnTo>
                  <a:close/>
                </a:path>
              </a:pathLst>
            </a:custGeom>
            <a:solidFill>
              <a:srgbClr val="903163"/>
            </a:solidFill>
          </p:spPr>
        </p:sp>
      </p:grpSp>
      <p:grpSp>
        <p:nvGrpSpPr>
          <p:cNvPr name="Group 8" id="8"/>
          <p:cNvGrpSpPr/>
          <p:nvPr/>
        </p:nvGrpSpPr>
        <p:grpSpPr>
          <a:xfrm rot="0">
            <a:off x="756999" y="5143500"/>
            <a:ext cx="7746921" cy="4931931"/>
            <a:chOff x="0" y="0"/>
            <a:chExt cx="10329228" cy="6575908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10329291" cy="6575933"/>
            </a:xfrm>
            <a:custGeom>
              <a:avLst/>
              <a:gdLst/>
              <a:ahLst/>
              <a:cxnLst/>
              <a:rect r="r" b="b" t="t" l="l"/>
              <a:pathLst>
                <a:path h="6575933" w="10329291">
                  <a:moveTo>
                    <a:pt x="0" y="0"/>
                  </a:moveTo>
                  <a:lnTo>
                    <a:pt x="10329291" y="0"/>
                  </a:lnTo>
                  <a:lnTo>
                    <a:pt x="10329291" y="6575933"/>
                  </a:lnTo>
                  <a:lnTo>
                    <a:pt x="0" y="657593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0" t="0" r="0" b="0"/>
              </a:stretch>
            </a:blipFill>
          </p:spPr>
        </p:sp>
      </p:grpSp>
      <p:grpSp>
        <p:nvGrpSpPr>
          <p:cNvPr name="Group 10" id="10"/>
          <p:cNvGrpSpPr/>
          <p:nvPr/>
        </p:nvGrpSpPr>
        <p:grpSpPr>
          <a:xfrm rot="0">
            <a:off x="10373973" y="128683"/>
            <a:ext cx="7746921" cy="4885934"/>
            <a:chOff x="0" y="0"/>
            <a:chExt cx="10329228" cy="6514579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10329291" cy="6514592"/>
            </a:xfrm>
            <a:custGeom>
              <a:avLst/>
              <a:gdLst/>
              <a:ahLst/>
              <a:cxnLst/>
              <a:rect r="r" b="b" t="t" l="l"/>
              <a:pathLst>
                <a:path h="6514592" w="10329291">
                  <a:moveTo>
                    <a:pt x="0" y="0"/>
                  </a:moveTo>
                  <a:lnTo>
                    <a:pt x="10329291" y="0"/>
                  </a:lnTo>
                  <a:lnTo>
                    <a:pt x="10329291" y="6514592"/>
                  </a:lnTo>
                  <a:lnTo>
                    <a:pt x="0" y="651459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0" r="0" b="0"/>
              </a:stretch>
            </a:blipFill>
          </p:spPr>
        </p:sp>
      </p:grpSp>
      <p:grpSp>
        <p:nvGrpSpPr>
          <p:cNvPr name="Group 12" id="12"/>
          <p:cNvGrpSpPr/>
          <p:nvPr/>
        </p:nvGrpSpPr>
        <p:grpSpPr>
          <a:xfrm rot="0">
            <a:off x="10373973" y="5272392"/>
            <a:ext cx="7746921" cy="4849387"/>
            <a:chOff x="0" y="0"/>
            <a:chExt cx="10329228" cy="6465849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10329291" cy="6465824"/>
            </a:xfrm>
            <a:custGeom>
              <a:avLst/>
              <a:gdLst/>
              <a:ahLst/>
              <a:cxnLst/>
              <a:rect r="r" b="b" t="t" l="l"/>
              <a:pathLst>
                <a:path h="6465824" w="10329291">
                  <a:moveTo>
                    <a:pt x="0" y="0"/>
                  </a:moveTo>
                  <a:lnTo>
                    <a:pt x="10329291" y="0"/>
                  </a:lnTo>
                  <a:lnTo>
                    <a:pt x="10329291" y="6465824"/>
                  </a:lnTo>
                  <a:lnTo>
                    <a:pt x="0" y="646582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0" t="0" r="0" b="0"/>
              </a:stretch>
            </a:blipFill>
          </p:spPr>
        </p:sp>
      </p:grpSp>
      <p:sp>
        <p:nvSpPr>
          <p:cNvPr name="TextBox 14" id="14"/>
          <p:cNvSpPr txBox="true"/>
          <p:nvPr/>
        </p:nvSpPr>
        <p:spPr>
          <a:xfrm rot="0">
            <a:off x="848439" y="857822"/>
            <a:ext cx="8961120" cy="198590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937"/>
              </a:lnSpc>
            </a:pPr>
            <a:r>
              <a:rPr lang="en-US" sz="3500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Prints das Telas do Gestor, Cuidador e Responsável</a:t>
            </a:r>
          </a:p>
        </p:txBody>
      </p:sp>
    </p:spTree>
  </p:cSld>
  <p:clrMapOvr>
    <a:masterClrMapping/>
  </p:clrMapOvr>
</p:sld>
</file>

<file path=ppt/slides/slide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669798" y="685800"/>
            <a:ext cx="5554980" cy="142494"/>
            <a:chOff x="0" y="0"/>
            <a:chExt cx="7406640" cy="189992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7406640" cy="189992"/>
            </a:xfrm>
            <a:custGeom>
              <a:avLst/>
              <a:gdLst/>
              <a:ahLst/>
              <a:cxnLst/>
              <a:rect r="r" b="b" t="t" l="l"/>
              <a:pathLst>
                <a:path h="189992" w="7406640">
                  <a:moveTo>
                    <a:pt x="0" y="0"/>
                  </a:moveTo>
                  <a:lnTo>
                    <a:pt x="7406640" y="0"/>
                  </a:lnTo>
                  <a:lnTo>
                    <a:pt x="7406640" y="189992"/>
                  </a:lnTo>
                  <a:lnTo>
                    <a:pt x="0" y="189992"/>
                  </a:lnTo>
                  <a:close/>
                </a:path>
              </a:pathLst>
            </a:custGeom>
            <a:solidFill>
              <a:srgbClr val="4D1434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12063222" y="680466"/>
            <a:ext cx="5554980" cy="147828"/>
            <a:chOff x="0" y="0"/>
            <a:chExt cx="7406640" cy="197104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7406640" cy="197104"/>
            </a:xfrm>
            <a:custGeom>
              <a:avLst/>
              <a:gdLst/>
              <a:ahLst/>
              <a:cxnLst/>
              <a:rect r="r" b="b" t="t" l="l"/>
              <a:pathLst>
                <a:path h="197104" w="7406640">
                  <a:moveTo>
                    <a:pt x="0" y="0"/>
                  </a:moveTo>
                  <a:lnTo>
                    <a:pt x="7406640" y="0"/>
                  </a:lnTo>
                  <a:lnTo>
                    <a:pt x="7406640" y="197104"/>
                  </a:lnTo>
                  <a:lnTo>
                    <a:pt x="0" y="197104"/>
                  </a:lnTo>
                  <a:close/>
                </a:path>
              </a:pathLst>
            </a:custGeom>
            <a:solidFill>
              <a:srgbClr val="969FA7"/>
            </a:solidFill>
          </p:spPr>
        </p:sp>
      </p:grpSp>
      <p:grpSp>
        <p:nvGrpSpPr>
          <p:cNvPr name="Group 6" id="6"/>
          <p:cNvGrpSpPr/>
          <p:nvPr/>
        </p:nvGrpSpPr>
        <p:grpSpPr>
          <a:xfrm rot="0">
            <a:off x="6362748" y="685800"/>
            <a:ext cx="5554980" cy="137160"/>
            <a:chOff x="0" y="0"/>
            <a:chExt cx="7406640" cy="182880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7406640" cy="182880"/>
            </a:xfrm>
            <a:custGeom>
              <a:avLst/>
              <a:gdLst/>
              <a:ahLst/>
              <a:cxnLst/>
              <a:rect r="r" b="b" t="t" l="l"/>
              <a:pathLst>
                <a:path h="182880" w="7406640">
                  <a:moveTo>
                    <a:pt x="0" y="0"/>
                  </a:moveTo>
                  <a:lnTo>
                    <a:pt x="7406640" y="0"/>
                  </a:lnTo>
                  <a:lnTo>
                    <a:pt x="7406640" y="182880"/>
                  </a:lnTo>
                  <a:lnTo>
                    <a:pt x="0" y="182880"/>
                  </a:lnTo>
                  <a:close/>
                </a:path>
              </a:pathLst>
            </a:custGeom>
            <a:solidFill>
              <a:srgbClr val="903163"/>
            </a:solidFill>
          </p:spPr>
        </p:sp>
      </p:grpSp>
      <p:sp>
        <p:nvSpPr>
          <p:cNvPr name="TextBox 8" id="8"/>
          <p:cNvSpPr txBox="true"/>
          <p:nvPr/>
        </p:nvSpPr>
        <p:spPr>
          <a:xfrm rot="0">
            <a:off x="992238" y="1975247"/>
            <a:ext cx="16303523" cy="18290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937"/>
              </a:lnSpc>
            </a:pPr>
            <a:r>
              <a:rPr lang="en-US" sz="5562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Engenharia de Segurança - Row Level Security (RLS)</a:t>
            </a:r>
          </a:p>
        </p:txBody>
      </p:sp>
      <p:grpSp>
        <p:nvGrpSpPr>
          <p:cNvPr name="Group 9" id="9"/>
          <p:cNvGrpSpPr/>
          <p:nvPr/>
        </p:nvGrpSpPr>
        <p:grpSpPr>
          <a:xfrm rot="0">
            <a:off x="992238" y="4758480"/>
            <a:ext cx="5245446" cy="152400"/>
            <a:chOff x="0" y="0"/>
            <a:chExt cx="6993928" cy="203200"/>
          </a:xfrm>
        </p:grpSpPr>
        <p:sp>
          <p:nvSpPr>
            <p:cNvPr name="Freeform 10" id="10" descr="preencoded.png"/>
            <p:cNvSpPr/>
            <p:nvPr/>
          </p:nvSpPr>
          <p:spPr>
            <a:xfrm flipH="false" flipV="false" rot="0">
              <a:off x="0" y="0"/>
              <a:ext cx="6993890" cy="203200"/>
            </a:xfrm>
            <a:custGeom>
              <a:avLst/>
              <a:gdLst/>
              <a:ahLst/>
              <a:cxnLst/>
              <a:rect r="r" b="b" t="t" l="l"/>
              <a:pathLst>
                <a:path h="203200" w="6993890">
                  <a:moveTo>
                    <a:pt x="0" y="0"/>
                  </a:moveTo>
                  <a:lnTo>
                    <a:pt x="6993890" y="0"/>
                  </a:lnTo>
                  <a:lnTo>
                    <a:pt x="6993890" y="203200"/>
                  </a:lnTo>
                  <a:lnTo>
                    <a:pt x="0" y="2032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26" t="0" r="-27" b="0"/>
              </a:stretch>
            </a:blipFill>
          </p:spPr>
        </p:sp>
      </p:grpSp>
      <p:sp>
        <p:nvSpPr>
          <p:cNvPr name="TextBox 11" id="11"/>
          <p:cNvSpPr txBox="true"/>
          <p:nvPr/>
        </p:nvSpPr>
        <p:spPr>
          <a:xfrm rot="0">
            <a:off x="1313859" y="5467198"/>
            <a:ext cx="3774872" cy="48101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437"/>
              </a:lnSpc>
            </a:pPr>
            <a:r>
              <a:rPr lang="en-US" sz="2750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O Grande Diferencial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1313859" y="6032602"/>
            <a:ext cx="4602213" cy="190023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562"/>
              </a:lnSpc>
            </a:pPr>
            <a:r>
              <a:rPr lang="en-US" sz="2187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A segurança não depende apenas da API, mas é aplicada diretamente no Banco de Dados (PostgreSQL).</a:t>
            </a:r>
          </a:p>
        </p:txBody>
      </p:sp>
      <p:grpSp>
        <p:nvGrpSpPr>
          <p:cNvPr name="Group 13" id="13"/>
          <p:cNvGrpSpPr/>
          <p:nvPr/>
        </p:nvGrpSpPr>
        <p:grpSpPr>
          <a:xfrm rot="0">
            <a:off x="6521206" y="4758480"/>
            <a:ext cx="5245446" cy="152400"/>
            <a:chOff x="0" y="0"/>
            <a:chExt cx="6993928" cy="203200"/>
          </a:xfrm>
        </p:grpSpPr>
        <p:sp>
          <p:nvSpPr>
            <p:cNvPr name="Freeform 14" id="14" descr="preencoded.png"/>
            <p:cNvSpPr/>
            <p:nvPr/>
          </p:nvSpPr>
          <p:spPr>
            <a:xfrm flipH="false" flipV="false" rot="0">
              <a:off x="0" y="0"/>
              <a:ext cx="6993890" cy="203200"/>
            </a:xfrm>
            <a:custGeom>
              <a:avLst/>
              <a:gdLst/>
              <a:ahLst/>
              <a:cxnLst/>
              <a:rect r="r" b="b" t="t" l="l"/>
              <a:pathLst>
                <a:path h="203200" w="6993890">
                  <a:moveTo>
                    <a:pt x="0" y="0"/>
                  </a:moveTo>
                  <a:lnTo>
                    <a:pt x="6993890" y="0"/>
                  </a:lnTo>
                  <a:lnTo>
                    <a:pt x="6993890" y="203200"/>
                  </a:lnTo>
                  <a:lnTo>
                    <a:pt x="0" y="2032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26" t="0" r="-27" b="0"/>
              </a:stretch>
            </a:blipFill>
          </p:spPr>
        </p:sp>
      </p:grpSp>
      <p:sp>
        <p:nvSpPr>
          <p:cNvPr name="TextBox 15" id="15"/>
          <p:cNvSpPr txBox="true"/>
          <p:nvPr/>
        </p:nvSpPr>
        <p:spPr>
          <a:xfrm rot="0">
            <a:off x="6842817" y="5467198"/>
            <a:ext cx="3544043" cy="48101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437"/>
              </a:lnSpc>
            </a:pPr>
            <a:r>
              <a:rPr lang="en-US" sz="2750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Política de Acesso</a:t>
            </a:r>
          </a:p>
        </p:txBody>
      </p:sp>
      <p:sp>
        <p:nvSpPr>
          <p:cNvPr name="TextBox 16" id="16"/>
          <p:cNvSpPr txBox="true"/>
          <p:nvPr/>
        </p:nvSpPr>
        <p:spPr>
          <a:xfrm rot="0">
            <a:off x="6842817" y="6032602"/>
            <a:ext cx="4602213" cy="190023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562"/>
              </a:lnSpc>
            </a:pPr>
            <a:r>
              <a:rPr lang="en-US" sz="2187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Mesmo com a chave pública exposta no frontend, o banco recusa a leitura de dados se o usuário não tiver o token correto.</a:t>
            </a:r>
          </a:p>
        </p:txBody>
      </p:sp>
      <p:grpSp>
        <p:nvGrpSpPr>
          <p:cNvPr name="Group 17" id="17"/>
          <p:cNvGrpSpPr/>
          <p:nvPr/>
        </p:nvGrpSpPr>
        <p:grpSpPr>
          <a:xfrm rot="0">
            <a:off x="12050163" y="4758480"/>
            <a:ext cx="5245446" cy="152400"/>
            <a:chOff x="0" y="0"/>
            <a:chExt cx="6993928" cy="203200"/>
          </a:xfrm>
        </p:grpSpPr>
        <p:sp>
          <p:nvSpPr>
            <p:cNvPr name="Freeform 18" id="18" descr="preencoded.png"/>
            <p:cNvSpPr/>
            <p:nvPr/>
          </p:nvSpPr>
          <p:spPr>
            <a:xfrm flipH="false" flipV="false" rot="0">
              <a:off x="0" y="0"/>
              <a:ext cx="6993890" cy="203200"/>
            </a:xfrm>
            <a:custGeom>
              <a:avLst/>
              <a:gdLst/>
              <a:ahLst/>
              <a:cxnLst/>
              <a:rect r="r" b="b" t="t" l="l"/>
              <a:pathLst>
                <a:path h="203200" w="6993890">
                  <a:moveTo>
                    <a:pt x="0" y="0"/>
                  </a:moveTo>
                  <a:lnTo>
                    <a:pt x="6993890" y="0"/>
                  </a:lnTo>
                  <a:lnTo>
                    <a:pt x="6993890" y="203200"/>
                  </a:lnTo>
                  <a:lnTo>
                    <a:pt x="0" y="2032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26" t="0" r="-27" b="0"/>
              </a:stretch>
            </a:blipFill>
          </p:spPr>
        </p:sp>
      </p:grpSp>
      <p:grpSp>
        <p:nvGrpSpPr>
          <p:cNvPr name="Group 19" id="19"/>
          <p:cNvGrpSpPr/>
          <p:nvPr/>
        </p:nvGrpSpPr>
        <p:grpSpPr>
          <a:xfrm rot="0">
            <a:off x="14247543" y="4371384"/>
            <a:ext cx="850554" cy="850554"/>
            <a:chOff x="0" y="0"/>
            <a:chExt cx="1134072" cy="1134072"/>
          </a:xfrm>
        </p:grpSpPr>
        <p:sp>
          <p:nvSpPr>
            <p:cNvPr name="Freeform 20" id="20" descr="preencoded.png"/>
            <p:cNvSpPr/>
            <p:nvPr/>
          </p:nvSpPr>
          <p:spPr>
            <a:xfrm flipH="false" flipV="false" rot="0">
              <a:off x="0" y="0"/>
              <a:ext cx="1134110" cy="1134110"/>
            </a:xfrm>
            <a:custGeom>
              <a:avLst/>
              <a:gdLst/>
              <a:ahLst/>
              <a:cxnLst/>
              <a:rect r="r" b="b" t="t" l="l"/>
              <a:pathLst>
                <a:path h="1134110" w="1134110">
                  <a:moveTo>
                    <a:pt x="0" y="0"/>
                  </a:moveTo>
                  <a:lnTo>
                    <a:pt x="1134110" y="0"/>
                  </a:lnTo>
                  <a:lnTo>
                    <a:pt x="1134110" y="1134110"/>
                  </a:lnTo>
                  <a:lnTo>
                    <a:pt x="0" y="113411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0" t="0" r="3" b="3"/>
              </a:stretch>
            </a:blipFill>
          </p:spPr>
        </p:sp>
      </p:grpSp>
      <p:sp>
        <p:nvSpPr>
          <p:cNvPr name="TextBox 21" id="21"/>
          <p:cNvSpPr txBox="true"/>
          <p:nvPr/>
        </p:nvSpPr>
        <p:spPr>
          <a:xfrm rot="0">
            <a:off x="12371784" y="5467198"/>
            <a:ext cx="3544043" cy="48101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437"/>
              </a:lnSpc>
            </a:pPr>
            <a:r>
              <a:rPr lang="en-US" sz="2750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Isolamento</a:t>
            </a:r>
          </a:p>
        </p:txBody>
      </p:sp>
      <p:sp>
        <p:nvSpPr>
          <p:cNvPr name="TextBox 22" id="22"/>
          <p:cNvSpPr txBox="true"/>
          <p:nvPr/>
        </p:nvSpPr>
        <p:spPr>
          <a:xfrm rot="0">
            <a:off x="12371784" y="6032602"/>
            <a:ext cx="4602213" cy="144660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562"/>
              </a:lnSpc>
            </a:pPr>
            <a:r>
              <a:rPr lang="en-US" sz="2187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Um Cuidador jamais consegue acessar dados de alunos que não são seus.</a:t>
            </a:r>
          </a:p>
        </p:txBody>
      </p:sp>
    </p:spTree>
  </p:cSld>
  <p:clrMapOvr>
    <a:masterClrMapping/>
  </p:clrMapOvr>
</p:sld>
</file>

<file path=ppt/slides/slide1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669798" y="685800"/>
            <a:ext cx="5554980" cy="142494"/>
            <a:chOff x="0" y="0"/>
            <a:chExt cx="7406640" cy="189992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7406640" cy="189992"/>
            </a:xfrm>
            <a:custGeom>
              <a:avLst/>
              <a:gdLst/>
              <a:ahLst/>
              <a:cxnLst/>
              <a:rect r="r" b="b" t="t" l="l"/>
              <a:pathLst>
                <a:path h="189992" w="7406640">
                  <a:moveTo>
                    <a:pt x="0" y="0"/>
                  </a:moveTo>
                  <a:lnTo>
                    <a:pt x="7406640" y="0"/>
                  </a:lnTo>
                  <a:lnTo>
                    <a:pt x="7406640" y="189992"/>
                  </a:lnTo>
                  <a:lnTo>
                    <a:pt x="0" y="189992"/>
                  </a:lnTo>
                  <a:close/>
                </a:path>
              </a:pathLst>
            </a:custGeom>
            <a:solidFill>
              <a:srgbClr val="4D1434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12063222" y="680466"/>
            <a:ext cx="5554980" cy="147828"/>
            <a:chOff x="0" y="0"/>
            <a:chExt cx="7406640" cy="197104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7406640" cy="197104"/>
            </a:xfrm>
            <a:custGeom>
              <a:avLst/>
              <a:gdLst/>
              <a:ahLst/>
              <a:cxnLst/>
              <a:rect r="r" b="b" t="t" l="l"/>
              <a:pathLst>
                <a:path h="197104" w="7406640">
                  <a:moveTo>
                    <a:pt x="0" y="0"/>
                  </a:moveTo>
                  <a:lnTo>
                    <a:pt x="7406640" y="0"/>
                  </a:lnTo>
                  <a:lnTo>
                    <a:pt x="7406640" y="197104"/>
                  </a:lnTo>
                  <a:lnTo>
                    <a:pt x="0" y="197104"/>
                  </a:lnTo>
                  <a:close/>
                </a:path>
              </a:pathLst>
            </a:custGeom>
            <a:solidFill>
              <a:srgbClr val="969FA7"/>
            </a:solidFill>
          </p:spPr>
        </p:sp>
      </p:grpSp>
      <p:grpSp>
        <p:nvGrpSpPr>
          <p:cNvPr name="Group 6" id="6"/>
          <p:cNvGrpSpPr/>
          <p:nvPr/>
        </p:nvGrpSpPr>
        <p:grpSpPr>
          <a:xfrm rot="0">
            <a:off x="6362748" y="685800"/>
            <a:ext cx="5554980" cy="137160"/>
            <a:chOff x="0" y="0"/>
            <a:chExt cx="7406640" cy="182880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7406640" cy="182880"/>
            </a:xfrm>
            <a:custGeom>
              <a:avLst/>
              <a:gdLst/>
              <a:ahLst/>
              <a:cxnLst/>
              <a:rect r="r" b="b" t="t" l="l"/>
              <a:pathLst>
                <a:path h="182880" w="7406640">
                  <a:moveTo>
                    <a:pt x="0" y="0"/>
                  </a:moveTo>
                  <a:lnTo>
                    <a:pt x="7406640" y="0"/>
                  </a:lnTo>
                  <a:lnTo>
                    <a:pt x="7406640" y="182880"/>
                  </a:lnTo>
                  <a:lnTo>
                    <a:pt x="0" y="182880"/>
                  </a:lnTo>
                  <a:close/>
                </a:path>
              </a:pathLst>
            </a:custGeom>
            <a:solidFill>
              <a:srgbClr val="903163"/>
            </a:solidFill>
          </p:spPr>
        </p:sp>
      </p:grpSp>
      <p:sp>
        <p:nvSpPr>
          <p:cNvPr name="TextBox 8" id="8"/>
          <p:cNvSpPr txBox="true"/>
          <p:nvPr/>
        </p:nvSpPr>
        <p:spPr>
          <a:xfrm rot="0">
            <a:off x="662940" y="444437"/>
            <a:ext cx="8961120" cy="10565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937"/>
              </a:lnSpc>
            </a:pPr>
            <a:r>
              <a:rPr lang="en-US" sz="4000">
                <a:solidFill>
                  <a:srgbClr val="97B8FF"/>
                </a:solidFill>
                <a:latin typeface="Arimo"/>
                <a:ea typeface="Arimo"/>
                <a:cs typeface="Arimo"/>
                <a:sym typeface="Arimo"/>
              </a:rPr>
              <a:t>Diagrama do Banco de Dados</a:t>
            </a:r>
          </a:p>
        </p:txBody>
      </p:sp>
      <p:grpSp>
        <p:nvGrpSpPr>
          <p:cNvPr name="Group 9" id="9"/>
          <p:cNvGrpSpPr/>
          <p:nvPr/>
        </p:nvGrpSpPr>
        <p:grpSpPr>
          <a:xfrm rot="0">
            <a:off x="571500" y="1987201"/>
            <a:ext cx="15692438" cy="7682008"/>
            <a:chOff x="0" y="0"/>
            <a:chExt cx="20923250" cy="10242677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20923250" cy="10242677"/>
            </a:xfrm>
            <a:custGeom>
              <a:avLst/>
              <a:gdLst/>
              <a:ahLst/>
              <a:cxnLst/>
              <a:rect r="r" b="b" t="t" l="l"/>
              <a:pathLst>
                <a:path h="10242677" w="20923250">
                  <a:moveTo>
                    <a:pt x="0" y="0"/>
                  </a:moveTo>
                  <a:lnTo>
                    <a:pt x="20923250" y="0"/>
                  </a:lnTo>
                  <a:lnTo>
                    <a:pt x="20923250" y="10242677"/>
                  </a:lnTo>
                  <a:lnTo>
                    <a:pt x="0" y="1024267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0" t="0" r="0" b="0"/>
              </a:stretch>
            </a:blipFill>
          </p:spPr>
        </p:sp>
      </p:grpSp>
    </p:spTree>
  </p:cSld>
  <p:clrMapOvr>
    <a:masterClrMapping/>
  </p:clrMapOvr>
</p:sld>
</file>

<file path=ppt/slides/slide1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669798" y="685800"/>
            <a:ext cx="5554980" cy="142494"/>
            <a:chOff x="0" y="0"/>
            <a:chExt cx="7406640" cy="189992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7406640" cy="189992"/>
            </a:xfrm>
            <a:custGeom>
              <a:avLst/>
              <a:gdLst/>
              <a:ahLst/>
              <a:cxnLst/>
              <a:rect r="r" b="b" t="t" l="l"/>
              <a:pathLst>
                <a:path h="189992" w="7406640">
                  <a:moveTo>
                    <a:pt x="0" y="0"/>
                  </a:moveTo>
                  <a:lnTo>
                    <a:pt x="7406640" y="0"/>
                  </a:lnTo>
                  <a:lnTo>
                    <a:pt x="7406640" y="189992"/>
                  </a:lnTo>
                  <a:lnTo>
                    <a:pt x="0" y="189992"/>
                  </a:lnTo>
                  <a:close/>
                </a:path>
              </a:pathLst>
            </a:custGeom>
            <a:solidFill>
              <a:srgbClr val="4D1434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12063222" y="680466"/>
            <a:ext cx="5554980" cy="147828"/>
            <a:chOff x="0" y="0"/>
            <a:chExt cx="7406640" cy="197104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7406640" cy="197104"/>
            </a:xfrm>
            <a:custGeom>
              <a:avLst/>
              <a:gdLst/>
              <a:ahLst/>
              <a:cxnLst/>
              <a:rect r="r" b="b" t="t" l="l"/>
              <a:pathLst>
                <a:path h="197104" w="7406640">
                  <a:moveTo>
                    <a:pt x="0" y="0"/>
                  </a:moveTo>
                  <a:lnTo>
                    <a:pt x="7406640" y="0"/>
                  </a:lnTo>
                  <a:lnTo>
                    <a:pt x="7406640" y="197104"/>
                  </a:lnTo>
                  <a:lnTo>
                    <a:pt x="0" y="197104"/>
                  </a:lnTo>
                  <a:close/>
                </a:path>
              </a:pathLst>
            </a:custGeom>
            <a:solidFill>
              <a:srgbClr val="969FA7"/>
            </a:solidFill>
          </p:spPr>
        </p:sp>
      </p:grpSp>
      <p:grpSp>
        <p:nvGrpSpPr>
          <p:cNvPr name="Group 6" id="6"/>
          <p:cNvGrpSpPr/>
          <p:nvPr/>
        </p:nvGrpSpPr>
        <p:grpSpPr>
          <a:xfrm rot="0">
            <a:off x="6362748" y="685800"/>
            <a:ext cx="5554980" cy="137160"/>
            <a:chOff x="0" y="0"/>
            <a:chExt cx="7406640" cy="182880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7406640" cy="182880"/>
            </a:xfrm>
            <a:custGeom>
              <a:avLst/>
              <a:gdLst/>
              <a:ahLst/>
              <a:cxnLst/>
              <a:rect r="r" b="b" t="t" l="l"/>
              <a:pathLst>
                <a:path h="182880" w="7406640">
                  <a:moveTo>
                    <a:pt x="0" y="0"/>
                  </a:moveTo>
                  <a:lnTo>
                    <a:pt x="7406640" y="0"/>
                  </a:lnTo>
                  <a:lnTo>
                    <a:pt x="7406640" y="182880"/>
                  </a:lnTo>
                  <a:lnTo>
                    <a:pt x="0" y="182880"/>
                  </a:lnTo>
                  <a:close/>
                </a:path>
              </a:pathLst>
            </a:custGeom>
            <a:solidFill>
              <a:srgbClr val="903163"/>
            </a:solidFill>
          </p:spPr>
        </p:sp>
      </p:grpSp>
      <p:grpSp>
        <p:nvGrpSpPr>
          <p:cNvPr name="Group 8" id="8"/>
          <p:cNvGrpSpPr/>
          <p:nvPr/>
        </p:nvGrpSpPr>
        <p:grpSpPr>
          <a:xfrm rot="0">
            <a:off x="11430000" y="0"/>
            <a:ext cx="6858000" cy="10287000"/>
            <a:chOff x="0" y="0"/>
            <a:chExt cx="9144000" cy="13716000"/>
          </a:xfrm>
        </p:grpSpPr>
        <p:sp>
          <p:nvSpPr>
            <p:cNvPr name="Freeform 9" id="9" descr="preencoded.png"/>
            <p:cNvSpPr/>
            <p:nvPr/>
          </p:nvSpPr>
          <p:spPr>
            <a:xfrm flipH="false" flipV="false" rot="0">
              <a:off x="0" y="0"/>
              <a:ext cx="9144000" cy="13716000"/>
            </a:xfrm>
            <a:custGeom>
              <a:avLst/>
              <a:gdLst/>
              <a:ahLst/>
              <a:cxnLst/>
              <a:rect r="r" b="b" t="t" l="l"/>
              <a:pathLst>
                <a:path h="13716000" w="9144000">
                  <a:moveTo>
                    <a:pt x="0" y="0"/>
                  </a:moveTo>
                  <a:lnTo>
                    <a:pt x="9144000" y="0"/>
                  </a:lnTo>
                  <a:lnTo>
                    <a:pt x="914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0" r="0" b="0"/>
              </a:stretch>
            </a:blipFill>
          </p:spPr>
        </p:sp>
      </p:grpSp>
      <p:grpSp>
        <p:nvGrpSpPr>
          <p:cNvPr name="Group 10" id="10"/>
          <p:cNvGrpSpPr/>
          <p:nvPr/>
        </p:nvGrpSpPr>
        <p:grpSpPr>
          <a:xfrm rot="0">
            <a:off x="11430000" y="0"/>
            <a:ext cx="6858000" cy="10287000"/>
            <a:chOff x="0" y="0"/>
            <a:chExt cx="9144000" cy="1371600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9144000" cy="13716000"/>
            </a:xfrm>
            <a:custGeom>
              <a:avLst/>
              <a:gdLst/>
              <a:ahLst/>
              <a:cxnLst/>
              <a:rect r="r" b="b" t="t" l="l"/>
              <a:pathLst>
                <a:path h="13716000" w="9144000">
                  <a:moveTo>
                    <a:pt x="0" y="0"/>
                  </a:moveTo>
                  <a:lnTo>
                    <a:pt x="9144000" y="0"/>
                  </a:lnTo>
                  <a:lnTo>
                    <a:pt x="914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DFDFE0"/>
            </a:solidFill>
          </p:spPr>
        </p:sp>
      </p:grpSp>
      <p:grpSp>
        <p:nvGrpSpPr>
          <p:cNvPr name="Group 12" id="12"/>
          <p:cNvGrpSpPr/>
          <p:nvPr/>
        </p:nvGrpSpPr>
        <p:grpSpPr>
          <a:xfrm rot="0">
            <a:off x="11430000" y="0"/>
            <a:ext cx="6858000" cy="10287000"/>
            <a:chOff x="0" y="0"/>
            <a:chExt cx="9144000" cy="13716000"/>
          </a:xfrm>
        </p:grpSpPr>
        <p:sp>
          <p:nvSpPr>
            <p:cNvPr name="Freeform 13" id="13" descr="preencoded.png"/>
            <p:cNvSpPr/>
            <p:nvPr/>
          </p:nvSpPr>
          <p:spPr>
            <a:xfrm flipH="false" flipV="false" rot="0">
              <a:off x="0" y="0"/>
              <a:ext cx="9144000" cy="13716000"/>
            </a:xfrm>
            <a:custGeom>
              <a:avLst/>
              <a:gdLst/>
              <a:ahLst/>
              <a:cxnLst/>
              <a:rect r="r" b="b" t="t" l="l"/>
              <a:pathLst>
                <a:path h="13716000" w="9144000">
                  <a:moveTo>
                    <a:pt x="0" y="0"/>
                  </a:moveTo>
                  <a:lnTo>
                    <a:pt x="9144000" y="0"/>
                  </a:lnTo>
                  <a:lnTo>
                    <a:pt x="914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0" t="0" r="0" b="0"/>
              </a:stretch>
            </a:blipFill>
          </p:spPr>
        </p:sp>
      </p:grpSp>
      <p:sp>
        <p:nvSpPr>
          <p:cNvPr name="TextBox 14" id="14"/>
          <p:cNvSpPr txBox="true"/>
          <p:nvPr/>
        </p:nvSpPr>
        <p:spPr>
          <a:xfrm rot="0">
            <a:off x="992238" y="1163393"/>
            <a:ext cx="9445523" cy="18290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937"/>
              </a:lnSpc>
            </a:pPr>
            <a:r>
              <a:rPr lang="en-US" sz="5562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Validação de Segurança (Pentest)</a:t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992238" y="3663105"/>
            <a:ext cx="3544043" cy="48101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437"/>
              </a:lnSpc>
            </a:pPr>
            <a:r>
              <a:rPr lang="en-US" sz="2750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Metodologia</a:t>
            </a:r>
          </a:p>
        </p:txBody>
      </p:sp>
      <p:sp>
        <p:nvSpPr>
          <p:cNvPr name="TextBox 16" id="16"/>
          <p:cNvSpPr txBox="true"/>
          <p:nvPr/>
        </p:nvSpPr>
        <p:spPr>
          <a:xfrm rot="0">
            <a:off x="992238" y="4341914"/>
            <a:ext cx="4376890" cy="99298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562"/>
              </a:lnSpc>
            </a:pPr>
            <a:r>
              <a:rPr lang="en-US" sz="2187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Testes de Penetração Black-Box baseados no OWASP ASVS.</a:t>
            </a:r>
          </a:p>
        </p:txBody>
      </p:sp>
      <p:sp>
        <p:nvSpPr>
          <p:cNvPr name="TextBox 17" id="17"/>
          <p:cNvSpPr txBox="true"/>
          <p:nvPr/>
        </p:nvSpPr>
        <p:spPr>
          <a:xfrm rot="0">
            <a:off x="992238" y="5580307"/>
            <a:ext cx="3544043" cy="48101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437"/>
              </a:lnSpc>
            </a:pPr>
            <a:r>
              <a:rPr lang="en-US" sz="2750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Ferramenta</a:t>
            </a:r>
          </a:p>
        </p:txBody>
      </p:sp>
      <p:sp>
        <p:nvSpPr>
          <p:cNvPr name="TextBox 18" id="18"/>
          <p:cNvSpPr txBox="true"/>
          <p:nvPr/>
        </p:nvSpPr>
        <p:spPr>
          <a:xfrm rot="0">
            <a:off x="992238" y="6259116"/>
            <a:ext cx="4376890" cy="53935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562"/>
              </a:lnSpc>
            </a:pPr>
            <a:r>
              <a:rPr lang="en-US" sz="2187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Burp Suite.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6070397" y="3663105"/>
            <a:ext cx="3544043" cy="48101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437"/>
              </a:lnSpc>
            </a:pPr>
            <a:r>
              <a:rPr lang="en-US" sz="2750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Resultados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6070397" y="4341914"/>
            <a:ext cx="4376890" cy="53935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329902" indent="-164951" lvl="1">
              <a:lnSpc>
                <a:spcPts val="3562"/>
              </a:lnSpc>
              <a:buFont typeface="Arial"/>
              <a:buChar char="•"/>
            </a:pPr>
            <a:r>
              <a:rPr lang="en-US" sz="2187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SQL Injection: Mitigado.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6070397" y="4894659"/>
            <a:ext cx="4376890" cy="99298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329902" indent="-164951" lvl="1">
              <a:lnSpc>
                <a:spcPts val="3562"/>
              </a:lnSpc>
              <a:buFont typeface="Arial"/>
              <a:buChar char="•"/>
            </a:pPr>
            <a:r>
              <a:rPr lang="en-US" sz="2187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XSS (Cross-Site Scripting): Mitigado.</a:t>
            </a:r>
          </a:p>
        </p:txBody>
      </p:sp>
      <p:sp>
        <p:nvSpPr>
          <p:cNvPr name="TextBox 22" id="22"/>
          <p:cNvSpPr txBox="true"/>
          <p:nvPr/>
        </p:nvSpPr>
        <p:spPr>
          <a:xfrm rot="0">
            <a:off x="6070397" y="5901033"/>
            <a:ext cx="4376890" cy="99298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329902" indent="-164951" lvl="1">
              <a:lnSpc>
                <a:spcPts val="3562"/>
              </a:lnSpc>
              <a:buFont typeface="Arial"/>
              <a:buChar char="•"/>
            </a:pPr>
            <a:r>
              <a:rPr lang="en-US" sz="2187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Escalação de Privilégios: Bloqueada.</a:t>
            </a:r>
          </a:p>
        </p:txBody>
      </p:sp>
      <p:sp>
        <p:nvSpPr>
          <p:cNvPr name="TextBox 23" id="23"/>
          <p:cNvSpPr txBox="true"/>
          <p:nvPr/>
        </p:nvSpPr>
        <p:spPr>
          <a:xfrm rot="0">
            <a:off x="6070397" y="7139435"/>
            <a:ext cx="3544043" cy="48101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437"/>
              </a:lnSpc>
            </a:pPr>
            <a:r>
              <a:rPr lang="en-US" sz="2750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Status</a:t>
            </a:r>
          </a:p>
        </p:txBody>
      </p:sp>
      <p:sp>
        <p:nvSpPr>
          <p:cNvPr name="TextBox 24" id="24"/>
          <p:cNvSpPr txBox="true"/>
          <p:nvPr/>
        </p:nvSpPr>
        <p:spPr>
          <a:xfrm rot="0">
            <a:off x="6070397" y="7818234"/>
            <a:ext cx="4376890" cy="99298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562"/>
              </a:lnSpc>
            </a:pPr>
            <a:r>
              <a:rPr lang="en-US" sz="2187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Aplicação aprovada sem vulnerabilidades críticas.</a:t>
            </a:r>
          </a:p>
        </p:txBody>
      </p:sp>
      <p:grpSp>
        <p:nvGrpSpPr>
          <p:cNvPr name="Group 25" id="25"/>
          <p:cNvGrpSpPr/>
          <p:nvPr/>
        </p:nvGrpSpPr>
        <p:grpSpPr>
          <a:xfrm rot="0">
            <a:off x="11430000" y="3223260"/>
            <a:ext cx="6858000" cy="3840480"/>
            <a:chOff x="0" y="0"/>
            <a:chExt cx="9144000" cy="5120640"/>
          </a:xfrm>
        </p:grpSpPr>
        <p:sp>
          <p:nvSpPr>
            <p:cNvPr name="Freeform 26" id="26" descr="All about the xz-utils backdoor | Kali Linux Blog"/>
            <p:cNvSpPr/>
            <p:nvPr/>
          </p:nvSpPr>
          <p:spPr>
            <a:xfrm flipH="false" flipV="false" rot="0">
              <a:off x="0" y="0"/>
              <a:ext cx="9144000" cy="5120640"/>
            </a:xfrm>
            <a:custGeom>
              <a:avLst/>
              <a:gdLst/>
              <a:ahLst/>
              <a:cxnLst/>
              <a:rect r="r" b="b" t="t" l="l"/>
              <a:pathLst>
                <a:path h="5120640" w="9144000">
                  <a:moveTo>
                    <a:pt x="0" y="0"/>
                  </a:moveTo>
                  <a:lnTo>
                    <a:pt x="9144000" y="0"/>
                  </a:lnTo>
                  <a:lnTo>
                    <a:pt x="9144000" y="5120640"/>
                  </a:lnTo>
                  <a:lnTo>
                    <a:pt x="0" y="512064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l="0" t="0" r="0" b="0"/>
              </a:stretch>
            </a:blipFill>
          </p:spPr>
        </p:sp>
      </p:grpSp>
    </p:spTree>
  </p:cSld>
  <p:clrMapOvr>
    <a:masterClrMapping/>
  </p:clrMapOvr>
</p:sld>
</file>

<file path=ppt/slides/slide1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669798" y="685800"/>
            <a:ext cx="5554980" cy="142494"/>
            <a:chOff x="0" y="0"/>
            <a:chExt cx="7406640" cy="189992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7406640" cy="189992"/>
            </a:xfrm>
            <a:custGeom>
              <a:avLst/>
              <a:gdLst/>
              <a:ahLst/>
              <a:cxnLst/>
              <a:rect r="r" b="b" t="t" l="l"/>
              <a:pathLst>
                <a:path h="189992" w="7406640">
                  <a:moveTo>
                    <a:pt x="0" y="0"/>
                  </a:moveTo>
                  <a:lnTo>
                    <a:pt x="7406640" y="0"/>
                  </a:lnTo>
                  <a:lnTo>
                    <a:pt x="7406640" y="189992"/>
                  </a:lnTo>
                  <a:lnTo>
                    <a:pt x="0" y="189992"/>
                  </a:lnTo>
                  <a:close/>
                </a:path>
              </a:pathLst>
            </a:custGeom>
            <a:solidFill>
              <a:srgbClr val="4D1434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12063222" y="680466"/>
            <a:ext cx="5554980" cy="147828"/>
            <a:chOff x="0" y="0"/>
            <a:chExt cx="7406640" cy="197104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7406640" cy="197104"/>
            </a:xfrm>
            <a:custGeom>
              <a:avLst/>
              <a:gdLst/>
              <a:ahLst/>
              <a:cxnLst/>
              <a:rect r="r" b="b" t="t" l="l"/>
              <a:pathLst>
                <a:path h="197104" w="7406640">
                  <a:moveTo>
                    <a:pt x="0" y="0"/>
                  </a:moveTo>
                  <a:lnTo>
                    <a:pt x="7406640" y="0"/>
                  </a:lnTo>
                  <a:lnTo>
                    <a:pt x="7406640" y="197104"/>
                  </a:lnTo>
                  <a:lnTo>
                    <a:pt x="0" y="197104"/>
                  </a:lnTo>
                  <a:close/>
                </a:path>
              </a:pathLst>
            </a:custGeom>
            <a:solidFill>
              <a:srgbClr val="969FA7"/>
            </a:solidFill>
          </p:spPr>
        </p:sp>
      </p:grpSp>
      <p:grpSp>
        <p:nvGrpSpPr>
          <p:cNvPr name="Group 6" id="6"/>
          <p:cNvGrpSpPr/>
          <p:nvPr/>
        </p:nvGrpSpPr>
        <p:grpSpPr>
          <a:xfrm rot="0">
            <a:off x="6362748" y="685800"/>
            <a:ext cx="5554980" cy="137160"/>
            <a:chOff x="0" y="0"/>
            <a:chExt cx="7406640" cy="182880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7406640" cy="182880"/>
            </a:xfrm>
            <a:custGeom>
              <a:avLst/>
              <a:gdLst/>
              <a:ahLst/>
              <a:cxnLst/>
              <a:rect r="r" b="b" t="t" l="l"/>
              <a:pathLst>
                <a:path h="182880" w="7406640">
                  <a:moveTo>
                    <a:pt x="0" y="0"/>
                  </a:moveTo>
                  <a:lnTo>
                    <a:pt x="7406640" y="0"/>
                  </a:lnTo>
                  <a:lnTo>
                    <a:pt x="7406640" y="182880"/>
                  </a:lnTo>
                  <a:lnTo>
                    <a:pt x="0" y="182880"/>
                  </a:lnTo>
                  <a:close/>
                </a:path>
              </a:pathLst>
            </a:custGeom>
            <a:solidFill>
              <a:srgbClr val="903163"/>
            </a:solidFill>
          </p:spPr>
        </p:sp>
      </p:grpSp>
      <p:grpSp>
        <p:nvGrpSpPr>
          <p:cNvPr name="Group 8" id="8"/>
          <p:cNvGrpSpPr/>
          <p:nvPr/>
        </p:nvGrpSpPr>
        <p:grpSpPr>
          <a:xfrm rot="0">
            <a:off x="992238" y="4617244"/>
            <a:ext cx="5245446" cy="850554"/>
            <a:chOff x="0" y="0"/>
            <a:chExt cx="6993928" cy="1134072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6993890" cy="1134110"/>
            </a:xfrm>
            <a:custGeom>
              <a:avLst/>
              <a:gdLst/>
              <a:ahLst/>
              <a:cxnLst/>
              <a:rect r="r" b="b" t="t" l="l"/>
              <a:pathLst>
                <a:path h="1134110" w="6993890">
                  <a:moveTo>
                    <a:pt x="0" y="567055"/>
                  </a:moveTo>
                  <a:cubicBezTo>
                    <a:pt x="0" y="253873"/>
                    <a:pt x="253873" y="0"/>
                    <a:pt x="567055" y="0"/>
                  </a:cubicBezTo>
                  <a:lnTo>
                    <a:pt x="6426835" y="0"/>
                  </a:lnTo>
                  <a:cubicBezTo>
                    <a:pt x="6740017" y="0"/>
                    <a:pt x="6993890" y="253873"/>
                    <a:pt x="6993890" y="567055"/>
                  </a:cubicBezTo>
                  <a:cubicBezTo>
                    <a:pt x="6993890" y="880237"/>
                    <a:pt x="6740017" y="1134110"/>
                    <a:pt x="6426835" y="1134110"/>
                  </a:cubicBezTo>
                  <a:lnTo>
                    <a:pt x="567055" y="1134110"/>
                  </a:lnTo>
                  <a:cubicBezTo>
                    <a:pt x="253873" y="1134110"/>
                    <a:pt x="0" y="880237"/>
                    <a:pt x="0" y="567055"/>
                  </a:cubicBezTo>
                  <a:close/>
                </a:path>
              </a:pathLst>
            </a:custGeom>
            <a:solidFill>
              <a:srgbClr val="26262B"/>
            </a:solidFill>
          </p:spPr>
        </p:sp>
      </p:grpSp>
      <p:grpSp>
        <p:nvGrpSpPr>
          <p:cNvPr name="Group 10" id="10"/>
          <p:cNvGrpSpPr/>
          <p:nvPr/>
        </p:nvGrpSpPr>
        <p:grpSpPr>
          <a:xfrm rot="0">
            <a:off x="6521206" y="4617244"/>
            <a:ext cx="5245446" cy="850554"/>
            <a:chOff x="0" y="0"/>
            <a:chExt cx="6993928" cy="1134072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6993890" cy="1134110"/>
            </a:xfrm>
            <a:custGeom>
              <a:avLst/>
              <a:gdLst/>
              <a:ahLst/>
              <a:cxnLst/>
              <a:rect r="r" b="b" t="t" l="l"/>
              <a:pathLst>
                <a:path h="1134110" w="6993890">
                  <a:moveTo>
                    <a:pt x="0" y="567055"/>
                  </a:moveTo>
                  <a:cubicBezTo>
                    <a:pt x="0" y="253873"/>
                    <a:pt x="253873" y="0"/>
                    <a:pt x="567055" y="0"/>
                  </a:cubicBezTo>
                  <a:lnTo>
                    <a:pt x="6426835" y="0"/>
                  </a:lnTo>
                  <a:cubicBezTo>
                    <a:pt x="6740017" y="0"/>
                    <a:pt x="6993890" y="253873"/>
                    <a:pt x="6993890" y="567055"/>
                  </a:cubicBezTo>
                  <a:cubicBezTo>
                    <a:pt x="6993890" y="880237"/>
                    <a:pt x="6740017" y="1134110"/>
                    <a:pt x="6426835" y="1134110"/>
                  </a:cubicBezTo>
                  <a:lnTo>
                    <a:pt x="567055" y="1134110"/>
                  </a:lnTo>
                  <a:cubicBezTo>
                    <a:pt x="253873" y="1134110"/>
                    <a:pt x="0" y="880237"/>
                    <a:pt x="0" y="567055"/>
                  </a:cubicBezTo>
                  <a:close/>
                </a:path>
              </a:pathLst>
            </a:custGeom>
            <a:solidFill>
              <a:srgbClr val="26262B"/>
            </a:solidFill>
          </p:spPr>
        </p:sp>
      </p:grpSp>
      <p:sp>
        <p:nvSpPr>
          <p:cNvPr name="Freeform 12" id="12" descr="preencoded.png"/>
          <p:cNvSpPr/>
          <p:nvPr/>
        </p:nvSpPr>
        <p:spPr>
          <a:xfrm flipH="false" flipV="false" rot="0">
            <a:off x="8931326" y="4829766"/>
            <a:ext cx="425206" cy="425206"/>
          </a:xfrm>
          <a:custGeom>
            <a:avLst/>
            <a:gdLst/>
            <a:ahLst/>
            <a:cxnLst/>
            <a:rect r="r" b="b" t="t" l="l"/>
            <a:pathLst>
              <a:path h="425206" w="425206">
                <a:moveTo>
                  <a:pt x="0" y="0"/>
                </a:moveTo>
                <a:lnTo>
                  <a:pt x="425205" y="0"/>
                </a:lnTo>
                <a:lnTo>
                  <a:pt x="425205" y="425205"/>
                </a:lnTo>
                <a:lnTo>
                  <a:pt x="0" y="425205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-1111" t="0" r="-1111" b="0"/>
            </a:stretch>
          </a:blipFill>
        </p:spPr>
      </p:sp>
      <p:grpSp>
        <p:nvGrpSpPr>
          <p:cNvPr name="Group 13" id="13"/>
          <p:cNvGrpSpPr/>
          <p:nvPr/>
        </p:nvGrpSpPr>
        <p:grpSpPr>
          <a:xfrm rot="0">
            <a:off x="12050163" y="4617244"/>
            <a:ext cx="5245446" cy="850554"/>
            <a:chOff x="0" y="0"/>
            <a:chExt cx="6993928" cy="1134072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6993890" cy="1134110"/>
            </a:xfrm>
            <a:custGeom>
              <a:avLst/>
              <a:gdLst/>
              <a:ahLst/>
              <a:cxnLst/>
              <a:rect r="r" b="b" t="t" l="l"/>
              <a:pathLst>
                <a:path h="1134110" w="6993890">
                  <a:moveTo>
                    <a:pt x="0" y="567055"/>
                  </a:moveTo>
                  <a:cubicBezTo>
                    <a:pt x="0" y="253873"/>
                    <a:pt x="253873" y="0"/>
                    <a:pt x="567055" y="0"/>
                  </a:cubicBezTo>
                  <a:lnTo>
                    <a:pt x="6426835" y="0"/>
                  </a:lnTo>
                  <a:cubicBezTo>
                    <a:pt x="6740017" y="0"/>
                    <a:pt x="6993890" y="253873"/>
                    <a:pt x="6993890" y="567055"/>
                  </a:cubicBezTo>
                  <a:cubicBezTo>
                    <a:pt x="6993890" y="880237"/>
                    <a:pt x="6740017" y="1134110"/>
                    <a:pt x="6426835" y="1134110"/>
                  </a:cubicBezTo>
                  <a:lnTo>
                    <a:pt x="567055" y="1134110"/>
                  </a:lnTo>
                  <a:cubicBezTo>
                    <a:pt x="253873" y="1134110"/>
                    <a:pt x="0" y="880237"/>
                    <a:pt x="0" y="567055"/>
                  </a:cubicBezTo>
                  <a:close/>
                </a:path>
              </a:pathLst>
            </a:custGeom>
            <a:solidFill>
              <a:srgbClr val="26262B"/>
            </a:solidFill>
          </p:spPr>
        </p:sp>
      </p:grpSp>
      <p:sp>
        <p:nvSpPr>
          <p:cNvPr name="Freeform 15" id="15"/>
          <p:cNvSpPr/>
          <p:nvPr/>
        </p:nvSpPr>
        <p:spPr>
          <a:xfrm flipH="false" flipV="false" rot="0">
            <a:off x="14116815" y="4762311"/>
            <a:ext cx="723897" cy="560115"/>
          </a:xfrm>
          <a:custGeom>
            <a:avLst/>
            <a:gdLst/>
            <a:ahLst/>
            <a:cxnLst/>
            <a:rect r="r" b="b" t="t" l="l"/>
            <a:pathLst>
              <a:path h="560115" w="723897">
                <a:moveTo>
                  <a:pt x="0" y="0"/>
                </a:moveTo>
                <a:lnTo>
                  <a:pt x="723897" y="0"/>
                </a:lnTo>
                <a:lnTo>
                  <a:pt x="723897" y="560115"/>
                </a:lnTo>
                <a:lnTo>
                  <a:pt x="0" y="560115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6" id="16"/>
          <p:cNvSpPr/>
          <p:nvPr/>
        </p:nvSpPr>
        <p:spPr>
          <a:xfrm flipH="false" flipV="false" rot="0">
            <a:off x="3008751" y="4617244"/>
            <a:ext cx="877075" cy="763055"/>
          </a:xfrm>
          <a:custGeom>
            <a:avLst/>
            <a:gdLst/>
            <a:ahLst/>
            <a:cxnLst/>
            <a:rect r="r" b="b" t="t" l="l"/>
            <a:pathLst>
              <a:path h="763055" w="877075">
                <a:moveTo>
                  <a:pt x="0" y="0"/>
                </a:moveTo>
                <a:lnTo>
                  <a:pt x="877074" y="0"/>
                </a:lnTo>
                <a:lnTo>
                  <a:pt x="877074" y="763055"/>
                </a:lnTo>
                <a:lnTo>
                  <a:pt x="0" y="763055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17" id="17"/>
          <p:cNvSpPr txBox="true"/>
          <p:nvPr/>
        </p:nvSpPr>
        <p:spPr>
          <a:xfrm rot="0">
            <a:off x="992238" y="2221116"/>
            <a:ext cx="16303523" cy="18290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937"/>
              </a:lnSpc>
            </a:pPr>
            <a:r>
              <a:rPr lang="en-US" sz="5562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Defesa em Profundidade (Advanced Security)</a:t>
            </a:r>
          </a:p>
        </p:txBody>
      </p:sp>
      <p:sp>
        <p:nvSpPr>
          <p:cNvPr name="TextBox 18" id="18"/>
          <p:cNvSpPr txBox="true"/>
          <p:nvPr/>
        </p:nvSpPr>
        <p:spPr>
          <a:xfrm rot="0">
            <a:off x="1275759" y="5713209"/>
            <a:ext cx="3544043" cy="48101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437"/>
              </a:lnSpc>
            </a:pPr>
            <a:r>
              <a:rPr lang="en-US" sz="2750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Honeytokens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1275759" y="6278613"/>
            <a:ext cx="4678413" cy="144660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562"/>
              </a:lnSpc>
            </a:pPr>
            <a:r>
              <a:rPr lang="en-US" sz="2187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Credenciais falsas inseridas no código para atrair e detectar invasores.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6804717" y="5713209"/>
            <a:ext cx="3544043" cy="48101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437"/>
              </a:lnSpc>
            </a:pPr>
            <a:r>
              <a:rPr lang="en-US" sz="2750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Canary Endpoints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6804717" y="6278613"/>
            <a:ext cx="4678413" cy="99298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562"/>
              </a:lnSpc>
            </a:pPr>
            <a:r>
              <a:rPr lang="en-US" sz="2187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Rotas monitoradas que disparam alertas ao serem acessadas.</a:t>
            </a:r>
          </a:p>
        </p:txBody>
      </p:sp>
      <p:sp>
        <p:nvSpPr>
          <p:cNvPr name="TextBox 22" id="22"/>
          <p:cNvSpPr txBox="true"/>
          <p:nvPr/>
        </p:nvSpPr>
        <p:spPr>
          <a:xfrm rot="0">
            <a:off x="12333684" y="5713209"/>
            <a:ext cx="3544043" cy="48101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437"/>
              </a:lnSpc>
            </a:pPr>
            <a:r>
              <a:rPr lang="en-US" sz="2750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SIEM</a:t>
            </a:r>
          </a:p>
        </p:txBody>
      </p:sp>
      <p:sp>
        <p:nvSpPr>
          <p:cNvPr name="TextBox 23" id="23"/>
          <p:cNvSpPr txBox="true"/>
          <p:nvPr/>
        </p:nvSpPr>
        <p:spPr>
          <a:xfrm rot="0">
            <a:off x="12333684" y="6278613"/>
            <a:ext cx="4678413" cy="99298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562"/>
              </a:lnSpc>
            </a:pPr>
            <a:r>
              <a:rPr lang="en-US" sz="2187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Monitoramento de logs em tempo real para resposta a incidentes.</a:t>
            </a:r>
          </a:p>
        </p:txBody>
      </p:sp>
    </p:spTree>
  </p:cSld>
  <p:clrMapOvr>
    <a:masterClrMapping/>
  </p:clrMapOvr>
</p:sld>
</file>

<file path=ppt/slides/slide1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669798" y="685800"/>
            <a:ext cx="5554980" cy="142494"/>
            <a:chOff x="0" y="0"/>
            <a:chExt cx="7406640" cy="189992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7406640" cy="189992"/>
            </a:xfrm>
            <a:custGeom>
              <a:avLst/>
              <a:gdLst/>
              <a:ahLst/>
              <a:cxnLst/>
              <a:rect r="r" b="b" t="t" l="l"/>
              <a:pathLst>
                <a:path h="189992" w="7406640">
                  <a:moveTo>
                    <a:pt x="0" y="0"/>
                  </a:moveTo>
                  <a:lnTo>
                    <a:pt x="7406640" y="0"/>
                  </a:lnTo>
                  <a:lnTo>
                    <a:pt x="7406640" y="189992"/>
                  </a:lnTo>
                  <a:lnTo>
                    <a:pt x="0" y="189992"/>
                  </a:lnTo>
                  <a:close/>
                </a:path>
              </a:pathLst>
            </a:custGeom>
            <a:solidFill>
              <a:srgbClr val="4D1434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12063222" y="680466"/>
            <a:ext cx="5554980" cy="147828"/>
            <a:chOff x="0" y="0"/>
            <a:chExt cx="7406640" cy="197104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7406640" cy="197104"/>
            </a:xfrm>
            <a:custGeom>
              <a:avLst/>
              <a:gdLst/>
              <a:ahLst/>
              <a:cxnLst/>
              <a:rect r="r" b="b" t="t" l="l"/>
              <a:pathLst>
                <a:path h="197104" w="7406640">
                  <a:moveTo>
                    <a:pt x="0" y="0"/>
                  </a:moveTo>
                  <a:lnTo>
                    <a:pt x="7406640" y="0"/>
                  </a:lnTo>
                  <a:lnTo>
                    <a:pt x="7406640" y="197104"/>
                  </a:lnTo>
                  <a:lnTo>
                    <a:pt x="0" y="197104"/>
                  </a:lnTo>
                  <a:close/>
                </a:path>
              </a:pathLst>
            </a:custGeom>
            <a:solidFill>
              <a:srgbClr val="969FA7"/>
            </a:solidFill>
          </p:spPr>
        </p:sp>
      </p:grpSp>
      <p:grpSp>
        <p:nvGrpSpPr>
          <p:cNvPr name="Group 6" id="6"/>
          <p:cNvGrpSpPr/>
          <p:nvPr/>
        </p:nvGrpSpPr>
        <p:grpSpPr>
          <a:xfrm rot="0">
            <a:off x="6362748" y="685800"/>
            <a:ext cx="5554980" cy="137160"/>
            <a:chOff x="0" y="0"/>
            <a:chExt cx="7406640" cy="182880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7406640" cy="182880"/>
            </a:xfrm>
            <a:custGeom>
              <a:avLst/>
              <a:gdLst/>
              <a:ahLst/>
              <a:cxnLst/>
              <a:rect r="r" b="b" t="t" l="l"/>
              <a:pathLst>
                <a:path h="182880" w="7406640">
                  <a:moveTo>
                    <a:pt x="0" y="0"/>
                  </a:moveTo>
                  <a:lnTo>
                    <a:pt x="7406640" y="0"/>
                  </a:lnTo>
                  <a:lnTo>
                    <a:pt x="7406640" y="182880"/>
                  </a:lnTo>
                  <a:lnTo>
                    <a:pt x="0" y="182880"/>
                  </a:lnTo>
                  <a:close/>
                </a:path>
              </a:pathLst>
            </a:custGeom>
            <a:solidFill>
              <a:srgbClr val="903163"/>
            </a:solidFill>
          </p:spPr>
        </p:sp>
      </p:grpSp>
      <p:sp>
        <p:nvSpPr>
          <p:cNvPr name="TextBox 8" id="8"/>
          <p:cNvSpPr txBox="true"/>
          <p:nvPr/>
        </p:nvSpPr>
        <p:spPr>
          <a:xfrm rot="0">
            <a:off x="1681306" y="314325"/>
            <a:ext cx="15419869" cy="155854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3899"/>
              </a:lnSpc>
            </a:pPr>
            <a:r>
              <a:rPr lang="en-US" sz="5559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Aplicativo  PWA e Capacitor (Aplicativo Nativo)</a:t>
            </a:r>
          </a:p>
        </p:txBody>
      </p:sp>
      <p:grpSp>
        <p:nvGrpSpPr>
          <p:cNvPr name="Group 9" id="9"/>
          <p:cNvGrpSpPr/>
          <p:nvPr/>
        </p:nvGrpSpPr>
        <p:grpSpPr>
          <a:xfrm rot="0">
            <a:off x="9391240" y="3577419"/>
            <a:ext cx="8241992" cy="2472595"/>
            <a:chOff x="0" y="0"/>
            <a:chExt cx="10989323" cy="3296793"/>
          </a:xfrm>
        </p:grpSpPr>
        <p:sp>
          <p:nvSpPr>
            <p:cNvPr name="Freeform 10" id="10" descr="GitHub - ionic-team/capacitor: Build cross-platform Native Progressive Web  Apps for iOS, Android, and the Web ⚡️"/>
            <p:cNvSpPr/>
            <p:nvPr/>
          </p:nvSpPr>
          <p:spPr>
            <a:xfrm flipH="false" flipV="false" rot="0">
              <a:off x="0" y="0"/>
              <a:ext cx="10989310" cy="3296793"/>
            </a:xfrm>
            <a:custGeom>
              <a:avLst/>
              <a:gdLst/>
              <a:ahLst/>
              <a:cxnLst/>
              <a:rect r="r" b="b" t="t" l="l"/>
              <a:pathLst>
                <a:path h="3296793" w="10989310">
                  <a:moveTo>
                    <a:pt x="0" y="0"/>
                  </a:moveTo>
                  <a:lnTo>
                    <a:pt x="10989310" y="0"/>
                  </a:lnTo>
                  <a:lnTo>
                    <a:pt x="10989310" y="3296793"/>
                  </a:lnTo>
                  <a:lnTo>
                    <a:pt x="0" y="329679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0" t="0" r="0" b="0"/>
              </a:stretch>
            </a:blipFill>
          </p:spPr>
        </p:sp>
      </p:grpSp>
      <p:grpSp>
        <p:nvGrpSpPr>
          <p:cNvPr name="Group 11" id="11"/>
          <p:cNvGrpSpPr/>
          <p:nvPr/>
        </p:nvGrpSpPr>
        <p:grpSpPr>
          <a:xfrm rot="0">
            <a:off x="973026" y="2794064"/>
            <a:ext cx="7468162" cy="4182170"/>
            <a:chOff x="0" y="0"/>
            <a:chExt cx="9957549" cy="5576227"/>
          </a:xfrm>
        </p:grpSpPr>
        <p:sp>
          <p:nvSpPr>
            <p:cNvPr name="Freeform 12" id="12" descr="5 Progressive Web App Alternatives to Popular Android Apps - DroidViews"/>
            <p:cNvSpPr/>
            <p:nvPr/>
          </p:nvSpPr>
          <p:spPr>
            <a:xfrm flipH="false" flipV="false" rot="0">
              <a:off x="0" y="0"/>
              <a:ext cx="9957562" cy="5576189"/>
            </a:xfrm>
            <a:custGeom>
              <a:avLst/>
              <a:gdLst/>
              <a:ahLst/>
              <a:cxnLst/>
              <a:rect r="r" b="b" t="t" l="l"/>
              <a:pathLst>
                <a:path h="5576189" w="9957562">
                  <a:moveTo>
                    <a:pt x="0" y="0"/>
                  </a:moveTo>
                  <a:lnTo>
                    <a:pt x="9957562" y="0"/>
                  </a:lnTo>
                  <a:lnTo>
                    <a:pt x="9957562" y="5576189"/>
                  </a:lnTo>
                  <a:lnTo>
                    <a:pt x="0" y="557618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0" r="0" b="0"/>
              </a:stretch>
            </a:blipFill>
          </p:spPr>
        </p:sp>
      </p:grpSp>
    </p:spTree>
  </p:cSld>
  <p:clrMapOvr>
    <a:masterClrMapping/>
  </p:clrMapOvr>
</p:sld>
</file>

<file path=ppt/slides/slide14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669798" y="685800"/>
            <a:ext cx="5554980" cy="142494"/>
            <a:chOff x="0" y="0"/>
            <a:chExt cx="7406640" cy="189992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7406640" cy="189992"/>
            </a:xfrm>
            <a:custGeom>
              <a:avLst/>
              <a:gdLst/>
              <a:ahLst/>
              <a:cxnLst/>
              <a:rect r="r" b="b" t="t" l="l"/>
              <a:pathLst>
                <a:path h="189992" w="7406640">
                  <a:moveTo>
                    <a:pt x="0" y="0"/>
                  </a:moveTo>
                  <a:lnTo>
                    <a:pt x="7406640" y="0"/>
                  </a:lnTo>
                  <a:lnTo>
                    <a:pt x="7406640" y="189992"/>
                  </a:lnTo>
                  <a:lnTo>
                    <a:pt x="0" y="189992"/>
                  </a:lnTo>
                  <a:close/>
                </a:path>
              </a:pathLst>
            </a:custGeom>
            <a:solidFill>
              <a:srgbClr val="4D1434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12063222" y="680466"/>
            <a:ext cx="5554980" cy="147828"/>
            <a:chOff x="0" y="0"/>
            <a:chExt cx="7406640" cy="197104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7406640" cy="197104"/>
            </a:xfrm>
            <a:custGeom>
              <a:avLst/>
              <a:gdLst/>
              <a:ahLst/>
              <a:cxnLst/>
              <a:rect r="r" b="b" t="t" l="l"/>
              <a:pathLst>
                <a:path h="197104" w="7406640">
                  <a:moveTo>
                    <a:pt x="0" y="0"/>
                  </a:moveTo>
                  <a:lnTo>
                    <a:pt x="7406640" y="0"/>
                  </a:lnTo>
                  <a:lnTo>
                    <a:pt x="7406640" y="197104"/>
                  </a:lnTo>
                  <a:lnTo>
                    <a:pt x="0" y="197104"/>
                  </a:lnTo>
                  <a:close/>
                </a:path>
              </a:pathLst>
            </a:custGeom>
            <a:solidFill>
              <a:srgbClr val="969FA7"/>
            </a:solidFill>
          </p:spPr>
        </p:sp>
      </p:grpSp>
      <p:grpSp>
        <p:nvGrpSpPr>
          <p:cNvPr name="Group 6" id="6"/>
          <p:cNvGrpSpPr/>
          <p:nvPr/>
        </p:nvGrpSpPr>
        <p:grpSpPr>
          <a:xfrm rot="0">
            <a:off x="6362748" y="685800"/>
            <a:ext cx="5554980" cy="137160"/>
            <a:chOff x="0" y="0"/>
            <a:chExt cx="7406640" cy="182880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7406640" cy="182880"/>
            </a:xfrm>
            <a:custGeom>
              <a:avLst/>
              <a:gdLst/>
              <a:ahLst/>
              <a:cxnLst/>
              <a:rect r="r" b="b" t="t" l="l"/>
              <a:pathLst>
                <a:path h="182880" w="7406640">
                  <a:moveTo>
                    <a:pt x="0" y="0"/>
                  </a:moveTo>
                  <a:lnTo>
                    <a:pt x="7406640" y="0"/>
                  </a:lnTo>
                  <a:lnTo>
                    <a:pt x="7406640" y="182880"/>
                  </a:lnTo>
                  <a:lnTo>
                    <a:pt x="0" y="182880"/>
                  </a:lnTo>
                  <a:close/>
                </a:path>
              </a:pathLst>
            </a:custGeom>
            <a:solidFill>
              <a:srgbClr val="903163"/>
            </a:solidFill>
          </p:spPr>
        </p:sp>
      </p:grpSp>
      <p:sp>
        <p:nvSpPr>
          <p:cNvPr name="TextBox 8" id="8"/>
          <p:cNvSpPr txBox="true"/>
          <p:nvPr/>
        </p:nvSpPr>
        <p:spPr>
          <a:xfrm rot="0">
            <a:off x="669798" y="2090014"/>
            <a:ext cx="6792786" cy="9001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937"/>
              </a:lnSpc>
            </a:pPr>
            <a:r>
              <a:rPr lang="en-US" sz="5562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Con</a:t>
            </a:r>
            <a:r>
              <a:rPr lang="en-US" sz="5562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siderações Finais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992238" y="4413799"/>
            <a:ext cx="5198269" cy="83076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7312"/>
              </a:lnSpc>
            </a:pPr>
            <a:r>
              <a:rPr lang="en-US" sz="7312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100%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1819275" y="5560666"/>
            <a:ext cx="3544043" cy="48101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437"/>
              </a:lnSpc>
            </a:pPr>
            <a:r>
              <a:rPr lang="en-US" sz="2750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Conformidade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992238" y="6126061"/>
            <a:ext cx="5198269" cy="99298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562"/>
              </a:lnSpc>
            </a:pPr>
            <a:r>
              <a:rPr lang="en-US" sz="2187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Sistema 100% adequado à LGPD (Proteção de dados de menores).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6544866" y="4413799"/>
            <a:ext cx="5198269" cy="83076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7312"/>
              </a:lnSpc>
            </a:pPr>
            <a:r>
              <a:rPr lang="en-US" sz="7312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Eficiência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7371902" y="5560666"/>
            <a:ext cx="3544043" cy="48101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437"/>
              </a:lnSpc>
            </a:pPr>
            <a:r>
              <a:rPr lang="en-US" sz="2750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Eficiência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6544866" y="6126061"/>
            <a:ext cx="5198269" cy="99298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562"/>
              </a:lnSpc>
            </a:pPr>
            <a:r>
              <a:rPr lang="en-US" sz="2187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Eliminação de papéis e comunicação em tempo real entre escola e família.</a:t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12097493" y="4413799"/>
            <a:ext cx="5198269" cy="83076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7312"/>
              </a:lnSpc>
            </a:pPr>
            <a:r>
              <a:rPr lang="en-US" sz="7312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Conclusão</a:t>
            </a:r>
          </a:p>
        </p:txBody>
      </p:sp>
      <p:sp>
        <p:nvSpPr>
          <p:cNvPr name="TextBox 16" id="16"/>
          <p:cNvSpPr txBox="true"/>
          <p:nvPr/>
        </p:nvSpPr>
        <p:spPr>
          <a:xfrm rot="0">
            <a:off x="13658001" y="5560666"/>
            <a:ext cx="2077099" cy="44926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437"/>
              </a:lnSpc>
            </a:pPr>
            <a:r>
              <a:rPr lang="en-US" sz="2750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Produto Final</a:t>
            </a:r>
          </a:p>
        </p:txBody>
      </p:sp>
      <p:sp>
        <p:nvSpPr>
          <p:cNvPr name="TextBox 17" id="17"/>
          <p:cNvSpPr txBox="true"/>
          <p:nvPr/>
        </p:nvSpPr>
        <p:spPr>
          <a:xfrm rot="0">
            <a:off x="12097493" y="6126061"/>
            <a:ext cx="5198269" cy="144660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562"/>
              </a:lnSpc>
            </a:pPr>
            <a:r>
              <a:rPr lang="en-US" sz="2187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O projeto prova que é possível criar software educacional acessível com segurança de nível empresarial.</a:t>
            </a:r>
          </a:p>
        </p:txBody>
      </p:sp>
    </p:spTree>
  </p:cSld>
  <p:clrMapOvr>
    <a:masterClrMapping/>
  </p:clrMapOvr>
</p:sld>
</file>

<file path=ppt/slides/slide15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139652" y="613923"/>
            <a:ext cx="18008697" cy="90972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599"/>
              </a:lnSpc>
              <a:spcBef>
                <a:spcPct val="0"/>
              </a:spcBef>
            </a:pPr>
            <a:r>
              <a:rPr lang="en-US" sz="2599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REFERÊNCIAS BIBLIOGRÁFICAS</a:t>
            </a:r>
          </a:p>
          <a:p>
            <a:pPr algn="l">
              <a:lnSpc>
                <a:spcPts val="2599"/>
              </a:lnSpc>
              <a:spcBef>
                <a:spcPct val="0"/>
              </a:spcBef>
            </a:pPr>
          </a:p>
          <a:p>
            <a:pPr algn="l">
              <a:lnSpc>
                <a:spcPts val="2599"/>
              </a:lnSpc>
              <a:spcBef>
                <a:spcPct val="0"/>
              </a:spcBef>
            </a:pPr>
          </a:p>
          <a:p>
            <a:pPr algn="l">
              <a:lnSpc>
                <a:spcPts val="2599"/>
              </a:lnSpc>
              <a:spcBef>
                <a:spcPct val="0"/>
              </a:spcBef>
            </a:pPr>
            <a:r>
              <a:rPr lang="en-US" sz="2599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 BRASIL. [Portal da Legislação]. </a:t>
            </a:r>
            <a:r>
              <a:rPr lang="en-US" b="true" sz="2599">
                <a:solidFill>
                  <a:srgbClr val="000000"/>
                </a:solidFill>
                <a:latin typeface="Arimo Bold"/>
                <a:ea typeface="Arimo Bold"/>
                <a:cs typeface="Arimo Bold"/>
                <a:sym typeface="Arimo Bold"/>
              </a:rPr>
              <a:t>Lei nº 13.146, de 6 de julho de 2015</a:t>
            </a:r>
            <a:r>
              <a:rPr lang="en-US" sz="2599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. Institui a Lei Brasileira de Inclusão da Pessoa com Deficiência (Estatuto da Pessoa com Deficiência). Brasília, DF: Presidência da República, [2015]. Disponível em: http://www.planalto.gov.br/ccivil_03/_ato2015 2018/2015/lei/l13146.htm. Acesso em: 15 dez. 2025. </a:t>
            </a:r>
          </a:p>
          <a:p>
            <a:pPr algn="l">
              <a:lnSpc>
                <a:spcPts val="2599"/>
              </a:lnSpc>
              <a:spcBef>
                <a:spcPct val="0"/>
              </a:spcBef>
            </a:pPr>
          </a:p>
          <a:p>
            <a:pPr algn="l">
              <a:lnSpc>
                <a:spcPts val="2599"/>
              </a:lnSpc>
              <a:spcBef>
                <a:spcPct val="0"/>
              </a:spcBef>
            </a:pPr>
            <a:r>
              <a:rPr lang="en-US" sz="2599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BRASIL. [Portal da Legislação]. </a:t>
            </a:r>
            <a:r>
              <a:rPr lang="en-US" b="true" sz="2599">
                <a:solidFill>
                  <a:srgbClr val="000000"/>
                </a:solidFill>
                <a:latin typeface="Arimo Bold"/>
                <a:ea typeface="Arimo Bold"/>
                <a:cs typeface="Arimo Bold"/>
                <a:sym typeface="Arimo Bold"/>
              </a:rPr>
              <a:t>Lei nº 13.709, de 14 de agosto de 2018</a:t>
            </a:r>
            <a:r>
              <a:rPr lang="en-US" sz="2599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. Lei Geral de Proteção de Dados Pessoais (LGPD). Brasília, DF: Presidência da República, [2018]. Disponível em: http://www.planalto.gov.br/ccivil_03/_ato2017-2020/2018/lei/l13709.htm. Acesso em: 15 dez. 2025. </a:t>
            </a:r>
          </a:p>
          <a:p>
            <a:pPr algn="l">
              <a:lnSpc>
                <a:spcPts val="2599"/>
              </a:lnSpc>
              <a:spcBef>
                <a:spcPct val="0"/>
              </a:spcBef>
            </a:pPr>
          </a:p>
          <a:p>
            <a:pPr algn="l">
              <a:lnSpc>
                <a:spcPts val="2599"/>
              </a:lnSpc>
              <a:spcBef>
                <a:spcPct val="0"/>
              </a:spcBef>
            </a:pPr>
            <a:r>
              <a:rPr lang="en-US" sz="2599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BRASIL. </a:t>
            </a:r>
            <a:r>
              <a:rPr lang="en-US" b="true" sz="2599">
                <a:solidFill>
                  <a:srgbClr val="000000"/>
                </a:solidFill>
                <a:latin typeface="Arimo Bold"/>
                <a:ea typeface="Arimo Bold"/>
                <a:cs typeface="Arimo Bold"/>
                <a:sym typeface="Arimo Bold"/>
              </a:rPr>
              <a:t>Decreto nº 10.502, de 30 de setembro de 2020</a:t>
            </a:r>
            <a:r>
              <a:rPr lang="en-US" sz="2599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. Institui a Política Nacional de Educação Especial: Equitativa, Inclusiva e com Aprendizado ao Longo da Vida. Brasília, DF: Presidência da República, 2020. LIMA, Marcos Guilherme Oliveira. Gestão Atípicos: Sistema Web para Gestão Especializada de Alunos Atípicos na Educação Inclusiva. 2025. Repositório de código (GitHub). Disponível em: https://github.com/z12guilherme/gestao_atipicos. Acesso em: 19 dez. 2025. </a:t>
            </a:r>
          </a:p>
          <a:p>
            <a:pPr algn="l">
              <a:lnSpc>
                <a:spcPts val="2599"/>
              </a:lnSpc>
              <a:spcBef>
                <a:spcPct val="0"/>
              </a:spcBef>
            </a:pPr>
          </a:p>
          <a:p>
            <a:pPr algn="l">
              <a:lnSpc>
                <a:spcPts val="2599"/>
              </a:lnSpc>
              <a:spcBef>
                <a:spcPct val="0"/>
              </a:spcBef>
            </a:pPr>
            <a:r>
              <a:rPr lang="en-US" sz="2599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MICROSOFT. </a:t>
            </a:r>
            <a:r>
              <a:rPr lang="en-US" b="true" sz="2599">
                <a:solidFill>
                  <a:srgbClr val="000000"/>
                </a:solidFill>
                <a:latin typeface="Arimo Bold"/>
                <a:ea typeface="Arimo Bold"/>
                <a:cs typeface="Arimo Bold"/>
                <a:sym typeface="Arimo Bold"/>
              </a:rPr>
              <a:t>The STRIDE Threat Model</a:t>
            </a:r>
            <a:r>
              <a:rPr lang="en-US" sz="2599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. Azure Security Center, 2026. Disponível em: https://learn.microsoft.com/en-us/azure/security/develop/threat-modeling-tool-threats. Acesso em: 15 dez. 2025. </a:t>
            </a:r>
          </a:p>
          <a:p>
            <a:pPr algn="l">
              <a:lnSpc>
                <a:spcPts val="2599"/>
              </a:lnSpc>
              <a:spcBef>
                <a:spcPct val="0"/>
              </a:spcBef>
            </a:pPr>
          </a:p>
          <a:p>
            <a:pPr algn="l">
              <a:lnSpc>
                <a:spcPts val="2599"/>
              </a:lnSpc>
              <a:spcBef>
                <a:spcPct val="0"/>
              </a:spcBef>
            </a:pPr>
            <a:r>
              <a:rPr lang="en-US" sz="2599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OWASP FOUNDATION. </a:t>
            </a:r>
            <a:r>
              <a:rPr lang="en-US" b="true" sz="2599">
                <a:solidFill>
                  <a:srgbClr val="000000"/>
                </a:solidFill>
                <a:latin typeface="Arimo Bold"/>
                <a:ea typeface="Arimo Bold"/>
                <a:cs typeface="Arimo Bold"/>
                <a:sym typeface="Arimo Bold"/>
              </a:rPr>
              <a:t>Application Security Verification Standard</a:t>
            </a:r>
            <a:r>
              <a:rPr lang="en-US" sz="2599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 (ASVS). Version 4.0.3. 2021. Disponível em: https://owasp.org/www-project-application-security-verification-standard/. Acesso em: 15 dez. 2025. </a:t>
            </a:r>
          </a:p>
          <a:p>
            <a:pPr algn="l">
              <a:lnSpc>
                <a:spcPts val="2599"/>
              </a:lnSpc>
              <a:spcBef>
                <a:spcPct val="0"/>
              </a:spcBef>
            </a:pPr>
          </a:p>
          <a:p>
            <a:pPr algn="l">
              <a:lnSpc>
                <a:spcPts val="2599"/>
              </a:lnSpc>
              <a:spcBef>
                <a:spcPct val="0"/>
              </a:spcBef>
            </a:pPr>
            <a:r>
              <a:rPr lang="en-US" sz="2599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OWASP FOUNDATION. </a:t>
            </a:r>
            <a:r>
              <a:rPr lang="en-US" b="true" sz="2599">
                <a:solidFill>
                  <a:srgbClr val="000000"/>
                </a:solidFill>
                <a:latin typeface="Arimo Bold"/>
                <a:ea typeface="Arimo Bold"/>
                <a:cs typeface="Arimo Bold"/>
                <a:sym typeface="Arimo Bold"/>
              </a:rPr>
              <a:t>OWASP Top 10:2021</a:t>
            </a:r>
            <a:r>
              <a:rPr lang="en-US" sz="2599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. The Most Critical Web Application Security Risks. Disponível em: https://owasp.org/www-project-top-ten/. Acesso em: 15 dez. 2025. </a:t>
            </a:r>
          </a:p>
          <a:p>
            <a:pPr algn="l">
              <a:lnSpc>
                <a:spcPts val="2599"/>
              </a:lnSpc>
              <a:spcBef>
                <a:spcPct val="0"/>
              </a:spcBef>
            </a:pPr>
          </a:p>
          <a:p>
            <a:pPr algn="l">
              <a:lnSpc>
                <a:spcPts val="2599"/>
              </a:lnSpc>
              <a:spcBef>
                <a:spcPct val="0"/>
              </a:spcBef>
            </a:pPr>
            <a:r>
              <a:rPr lang="en-US" sz="2599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SUPABASE INC. </a:t>
            </a:r>
            <a:r>
              <a:rPr lang="en-US" b="true" sz="2599">
                <a:solidFill>
                  <a:srgbClr val="000000"/>
                </a:solidFill>
                <a:latin typeface="Arimo Bold"/>
                <a:ea typeface="Arimo Bold"/>
                <a:cs typeface="Arimo Bold"/>
                <a:sym typeface="Arimo Bold"/>
              </a:rPr>
              <a:t>Row Level Security</a:t>
            </a:r>
            <a:r>
              <a:rPr lang="en-US" sz="2599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. Documentation. 2026. Disponível em: https://supabase.com/docs/guides/auth/row-level-security. Acesso em: 15 dez. 2025. </a:t>
            </a:r>
          </a:p>
        </p:txBody>
      </p:sp>
    </p:spTree>
  </p:cSld>
  <p:clrMapOvr>
    <a:masterClrMapping/>
  </p:clrMapOvr>
</p:sld>
</file>

<file path=ppt/slides/slide1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669798" y="685800"/>
            <a:ext cx="5554980" cy="142494"/>
            <a:chOff x="0" y="0"/>
            <a:chExt cx="7406640" cy="189992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7406640" cy="189992"/>
            </a:xfrm>
            <a:custGeom>
              <a:avLst/>
              <a:gdLst/>
              <a:ahLst/>
              <a:cxnLst/>
              <a:rect r="r" b="b" t="t" l="l"/>
              <a:pathLst>
                <a:path h="189992" w="7406640">
                  <a:moveTo>
                    <a:pt x="0" y="0"/>
                  </a:moveTo>
                  <a:lnTo>
                    <a:pt x="7406640" y="0"/>
                  </a:lnTo>
                  <a:lnTo>
                    <a:pt x="7406640" y="189992"/>
                  </a:lnTo>
                  <a:lnTo>
                    <a:pt x="0" y="189992"/>
                  </a:lnTo>
                  <a:close/>
                </a:path>
              </a:pathLst>
            </a:custGeom>
            <a:solidFill>
              <a:srgbClr val="4D1434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12063222" y="680466"/>
            <a:ext cx="5554980" cy="147828"/>
            <a:chOff x="0" y="0"/>
            <a:chExt cx="7406640" cy="197104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7406640" cy="197104"/>
            </a:xfrm>
            <a:custGeom>
              <a:avLst/>
              <a:gdLst/>
              <a:ahLst/>
              <a:cxnLst/>
              <a:rect r="r" b="b" t="t" l="l"/>
              <a:pathLst>
                <a:path h="197104" w="7406640">
                  <a:moveTo>
                    <a:pt x="0" y="0"/>
                  </a:moveTo>
                  <a:lnTo>
                    <a:pt x="7406640" y="0"/>
                  </a:lnTo>
                  <a:lnTo>
                    <a:pt x="7406640" y="197104"/>
                  </a:lnTo>
                  <a:lnTo>
                    <a:pt x="0" y="197104"/>
                  </a:lnTo>
                  <a:close/>
                </a:path>
              </a:pathLst>
            </a:custGeom>
            <a:solidFill>
              <a:srgbClr val="969FA7"/>
            </a:solidFill>
          </p:spPr>
        </p:sp>
      </p:grpSp>
      <p:grpSp>
        <p:nvGrpSpPr>
          <p:cNvPr name="Group 6" id="6"/>
          <p:cNvGrpSpPr/>
          <p:nvPr/>
        </p:nvGrpSpPr>
        <p:grpSpPr>
          <a:xfrm rot="0">
            <a:off x="6362748" y="685800"/>
            <a:ext cx="5554980" cy="137160"/>
            <a:chOff x="0" y="0"/>
            <a:chExt cx="7406640" cy="182880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7406640" cy="182880"/>
            </a:xfrm>
            <a:custGeom>
              <a:avLst/>
              <a:gdLst/>
              <a:ahLst/>
              <a:cxnLst/>
              <a:rect r="r" b="b" t="t" l="l"/>
              <a:pathLst>
                <a:path h="182880" w="7406640">
                  <a:moveTo>
                    <a:pt x="0" y="0"/>
                  </a:moveTo>
                  <a:lnTo>
                    <a:pt x="7406640" y="0"/>
                  </a:lnTo>
                  <a:lnTo>
                    <a:pt x="7406640" y="182880"/>
                  </a:lnTo>
                  <a:lnTo>
                    <a:pt x="0" y="182880"/>
                  </a:lnTo>
                  <a:close/>
                </a:path>
              </a:pathLst>
            </a:custGeom>
            <a:solidFill>
              <a:srgbClr val="903163"/>
            </a:solidFill>
          </p:spPr>
        </p:sp>
      </p:grpSp>
      <p:grpSp>
        <p:nvGrpSpPr>
          <p:cNvPr name="Group 8" id="8"/>
          <p:cNvGrpSpPr/>
          <p:nvPr/>
        </p:nvGrpSpPr>
        <p:grpSpPr>
          <a:xfrm rot="0">
            <a:off x="669798" y="446885"/>
            <a:ext cx="18288000" cy="3544043"/>
            <a:chOff x="0" y="0"/>
            <a:chExt cx="24384000" cy="4725391"/>
          </a:xfrm>
        </p:grpSpPr>
        <p:sp>
          <p:nvSpPr>
            <p:cNvPr name="Freeform 9" id="9" descr="preencoded.png"/>
            <p:cNvSpPr/>
            <p:nvPr/>
          </p:nvSpPr>
          <p:spPr>
            <a:xfrm flipH="false" flipV="false" rot="0">
              <a:off x="0" y="0"/>
              <a:ext cx="24384000" cy="4725416"/>
            </a:xfrm>
            <a:custGeom>
              <a:avLst/>
              <a:gdLst/>
              <a:ahLst/>
              <a:cxnLst/>
              <a:rect r="r" b="b" t="t" l="l"/>
              <a:pathLst>
                <a:path h="4725416" w="24384000">
                  <a:moveTo>
                    <a:pt x="0" y="0"/>
                  </a:moveTo>
                  <a:lnTo>
                    <a:pt x="24384000" y="0"/>
                  </a:lnTo>
                  <a:lnTo>
                    <a:pt x="24384000" y="4725416"/>
                  </a:lnTo>
                  <a:lnTo>
                    <a:pt x="0" y="472541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10" t="0" r="-10" b="0"/>
              </a:stretch>
            </a:blipFill>
          </p:spPr>
        </p:sp>
      </p:grpSp>
      <p:sp>
        <p:nvSpPr>
          <p:cNvPr name="TextBox 10" id="10"/>
          <p:cNvSpPr txBox="true"/>
          <p:nvPr/>
        </p:nvSpPr>
        <p:spPr>
          <a:xfrm rot="0">
            <a:off x="809358" y="7864373"/>
            <a:ext cx="14176619" cy="187687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3937"/>
              </a:lnSpc>
            </a:pPr>
            <a:r>
              <a:rPr lang="en-US" sz="11124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Obrigado!</a:t>
            </a:r>
          </a:p>
        </p:txBody>
      </p:sp>
      <p:grpSp>
        <p:nvGrpSpPr>
          <p:cNvPr name="Group 11" id="11"/>
          <p:cNvGrpSpPr/>
          <p:nvPr/>
        </p:nvGrpSpPr>
        <p:grpSpPr>
          <a:xfrm rot="0">
            <a:off x="13892508" y="6294672"/>
            <a:ext cx="3723294" cy="3723294"/>
            <a:chOff x="0" y="0"/>
            <a:chExt cx="4964392" cy="4964392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4964430" cy="4964430"/>
            </a:xfrm>
            <a:custGeom>
              <a:avLst/>
              <a:gdLst/>
              <a:ahLst/>
              <a:cxnLst/>
              <a:rect r="r" b="b" t="t" l="l"/>
              <a:pathLst>
                <a:path h="4964430" w="4964430">
                  <a:moveTo>
                    <a:pt x="0" y="0"/>
                  </a:moveTo>
                  <a:lnTo>
                    <a:pt x="4964430" y="0"/>
                  </a:lnTo>
                  <a:lnTo>
                    <a:pt x="4964430" y="4964430"/>
                  </a:lnTo>
                  <a:lnTo>
                    <a:pt x="0" y="496443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0" t="0" r="0" b="0"/>
              </a:stretch>
            </a:blipFill>
          </p:spPr>
        </p:sp>
      </p:grpSp>
      <p:grpSp>
        <p:nvGrpSpPr>
          <p:cNvPr name="Group 13" id="13"/>
          <p:cNvGrpSpPr/>
          <p:nvPr/>
        </p:nvGrpSpPr>
        <p:grpSpPr>
          <a:xfrm rot="0">
            <a:off x="-165678" y="0"/>
            <a:ext cx="6597253" cy="6597253"/>
            <a:chOff x="0" y="0"/>
            <a:chExt cx="8796338" cy="8796338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8796401" cy="8796401"/>
            </a:xfrm>
            <a:custGeom>
              <a:avLst/>
              <a:gdLst/>
              <a:ahLst/>
              <a:cxnLst/>
              <a:rect r="r" b="b" t="t" l="l"/>
              <a:pathLst>
                <a:path h="8796401" w="8796401">
                  <a:moveTo>
                    <a:pt x="0" y="0"/>
                  </a:moveTo>
                  <a:lnTo>
                    <a:pt x="8796401" y="0"/>
                  </a:lnTo>
                  <a:lnTo>
                    <a:pt x="8796401" y="8796401"/>
                  </a:lnTo>
                  <a:lnTo>
                    <a:pt x="0" y="879640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l="0" t="0" r="0" b="0"/>
              </a:stretch>
            </a:blipFill>
          </p:spPr>
        </p:sp>
      </p:grpSp>
      <p:sp>
        <p:nvSpPr>
          <p:cNvPr name="TextBox 15" id="15"/>
          <p:cNvSpPr txBox="true"/>
          <p:nvPr/>
        </p:nvSpPr>
        <p:spPr>
          <a:xfrm rot="0">
            <a:off x="13875144" y="5234930"/>
            <a:ext cx="3758013" cy="110082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699"/>
              </a:lnSpc>
            </a:pPr>
            <a:r>
              <a:rPr lang="en-US" sz="2249" b="true">
                <a:solidFill>
                  <a:srgbClr val="000000"/>
                </a:solidFill>
                <a:latin typeface="Gill Sans Bold"/>
                <a:ea typeface="Gill Sans Bold"/>
                <a:cs typeface="Gill Sans Bold"/>
                <a:sym typeface="Gill Sans Bold"/>
              </a:rPr>
              <a:t>LEIA O QR CODE PARA ACESSAR O REPOSITÓRIO: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DAHHZutQxXU</dc:identifier>
  <dcterms:modified xsi:type="dcterms:W3CDTF">2011-08-01T06:04:30Z</dcterms:modified>
  <cp:revision>1</cp:revision>
  <dc:title>TCC - Slides.pptx</dc:title>
</cp:coreProperties>
</file>