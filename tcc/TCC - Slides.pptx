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6858000" cy="9144000"/>
  <p:embeddedFontLst>
    <p:embeddedFont>
      <p:font typeface="Arimo" panose="020B0604020202020204" charset="0"/>
      <p:regular r:id="rId19"/>
    </p:embeddedFont>
    <p:embeddedFont>
      <p:font typeface="Arimo Bold" panose="020B0604020202020204" charset="0"/>
      <p:regular r:id="rId20"/>
    </p:embeddedFont>
    <p:embeddedFont>
      <p:font typeface="Calibri" panose="020F0502020204030204" pitchFamily="34" charset="0"/>
      <p:regular r:id="rId21"/>
      <p:bold r:id="rId22"/>
      <p:italic r:id="rId23"/>
      <p:boldItalic r:id="rId24"/>
    </p:embeddedFont>
    <p:embeddedFont>
      <p:font typeface="Gill Sans Bold" panose="020B0604020202020204" charset="0"/>
      <p:regular r:id="rId25"/>
    </p:embeddedFont>
    <p:embeddedFont>
      <p:font typeface="Noto Sans" panose="020B0502040504020204" pitchFamily="34" charset="0"/>
      <p:regular r:id="rId26"/>
      <p:bold r:id="rId27"/>
      <p:italic r:id="rId28"/>
      <p:boldItalic r:id="rId29"/>
    </p:embeddedFont>
    <p:embeddedFont>
      <p:font typeface="Noto Sans Bold" panose="020B0802040504020204" charset="0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7" d="100"/>
          <a:sy n="57" d="100"/>
        </p:scale>
        <p:origin x="342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20.04.2026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4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4437875" y="771144"/>
            <a:ext cx="13180327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Defesa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de TCC -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Sistemas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de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Informação</a:t>
            </a:r>
            <a:endParaRPr lang="en-US" sz="5562" dirty="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329298" y="3392995"/>
            <a:ext cx="6780162" cy="3443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Gestão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Atípicos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: Sistema Web Seguro para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Educação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Inclusiva</a:t>
            </a:r>
            <a:endParaRPr lang="en-US" sz="5562" dirty="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7357042" y="9030942"/>
            <a:ext cx="2455050" cy="414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Belo Jardim, 2026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7109460" y="1824250"/>
            <a:ext cx="10654897" cy="6638500"/>
            <a:chOff x="0" y="0"/>
            <a:chExt cx="13401040" cy="834947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3401039" cy="8349488"/>
            </a:xfrm>
            <a:custGeom>
              <a:avLst/>
              <a:gdLst/>
              <a:ahLst/>
              <a:cxnLst/>
              <a:rect l="l" t="t" r="r" b="b"/>
              <a:pathLst>
                <a:path w="13401039" h="8349488">
                  <a:moveTo>
                    <a:pt x="0" y="0"/>
                  </a:moveTo>
                  <a:lnTo>
                    <a:pt x="13401039" y="0"/>
                  </a:lnTo>
                  <a:lnTo>
                    <a:pt x="13401039" y="8349488"/>
                  </a:lnTo>
                  <a:lnTo>
                    <a:pt x="0" y="83494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329298" y="276859"/>
            <a:ext cx="2788849" cy="2788849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1409169"/>
            <a:ext cx="155977" cy="3070774"/>
            <a:chOff x="0" y="0"/>
            <a:chExt cx="207969" cy="4094366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6328519" y="1409169"/>
            <a:ext cx="155977" cy="3070774"/>
            <a:chOff x="0" y="0"/>
            <a:chExt cx="207969" cy="4094366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987230" y="1409169"/>
            <a:ext cx="155977" cy="3070774"/>
            <a:chOff x="0" y="0"/>
            <a:chExt cx="207969" cy="4094366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628612" y="5975368"/>
            <a:ext cx="16948404" cy="10561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3"/>
              </a:lnSpc>
            </a:pP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Como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desenvolver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um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sistema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web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seguro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acessível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e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funcional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que centralize a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gestão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de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alunos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atípicos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facilitando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o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trabalho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de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gestores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cuidadores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e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responsáveis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?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50371" y="1692690"/>
            <a:ext cx="1330730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Cenário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50371" y="2258084"/>
            <a:ext cx="4593235" cy="1803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 Lei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Brasileira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Inclusão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 n° 13.146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obriga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o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atendimento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especializado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 mas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muitas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escolas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ainda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usam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planilhas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e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papel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06197" y="1692690"/>
            <a:ext cx="1172178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Riscos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06197" y="2258084"/>
            <a:ext cx="4593235" cy="13097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Perda de histórico pedagógico e, principalmente, vulnerabilidade jurídica perante a LGPD.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64908" y="1692690"/>
            <a:ext cx="2840922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Dados Sensíveis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464908" y="2258084"/>
            <a:ext cx="4593235" cy="13097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Laudos médicos e diagnósticos de crianças expostos sem controle de acesso adequado.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67854" y="1133440"/>
            <a:ext cx="2944767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Objetivos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669798" y="2952013"/>
            <a:ext cx="15711243" cy="4263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Objetivo Geral: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Desenvolver um sistema web seguro e centralizado para a gestão de alunos com necessidades especiais.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Objetivos Específicos:  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Substituir registros manuais por um "cofre digital".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Implementar segurança em nível de banco de dados (RLS).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Validar a aplicação contra vulnerabilidades críticas através de pentests.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885314" y="2432563"/>
            <a:ext cx="1561974" cy="1493637"/>
          </a:xfrm>
          <a:custGeom>
            <a:avLst/>
            <a:gdLst/>
            <a:ahLst/>
            <a:cxnLst/>
            <a:rect l="l" t="t" r="r" b="b"/>
            <a:pathLst>
              <a:path w="1561974" h="1493637">
                <a:moveTo>
                  <a:pt x="0" y="0"/>
                </a:moveTo>
                <a:lnTo>
                  <a:pt x="1561974" y="0"/>
                </a:lnTo>
                <a:lnTo>
                  <a:pt x="1561974" y="1493637"/>
                </a:lnTo>
                <a:lnTo>
                  <a:pt x="0" y="14936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885314" y="4405675"/>
            <a:ext cx="1319260" cy="1618724"/>
          </a:xfrm>
          <a:custGeom>
            <a:avLst/>
            <a:gdLst/>
            <a:ahLst/>
            <a:cxnLst/>
            <a:rect l="l" t="t" r="r" b="b"/>
            <a:pathLst>
              <a:path w="1319260" h="1618724">
                <a:moveTo>
                  <a:pt x="0" y="0"/>
                </a:moveTo>
                <a:lnTo>
                  <a:pt x="1319260" y="0"/>
                </a:lnTo>
                <a:lnTo>
                  <a:pt x="1319260" y="1618724"/>
                </a:lnTo>
                <a:lnTo>
                  <a:pt x="0" y="16187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838010" y="6171025"/>
            <a:ext cx="1413869" cy="1665825"/>
          </a:xfrm>
          <a:custGeom>
            <a:avLst/>
            <a:gdLst/>
            <a:ahLst/>
            <a:cxnLst/>
            <a:rect l="l" t="t" r="r" b="b"/>
            <a:pathLst>
              <a:path w="1413869" h="1665825">
                <a:moveTo>
                  <a:pt x="0" y="0"/>
                </a:moveTo>
                <a:lnTo>
                  <a:pt x="1413869" y="0"/>
                </a:lnTo>
                <a:lnTo>
                  <a:pt x="1413869" y="1665825"/>
                </a:lnTo>
                <a:lnTo>
                  <a:pt x="0" y="166582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728097" y="7979725"/>
            <a:ext cx="1719191" cy="1719191"/>
          </a:xfrm>
          <a:custGeom>
            <a:avLst/>
            <a:gdLst/>
            <a:ahLst/>
            <a:cxnLst/>
            <a:rect l="l" t="t" r="r" b="b"/>
            <a:pathLst>
              <a:path w="1719191" h="1719191">
                <a:moveTo>
                  <a:pt x="0" y="0"/>
                </a:moveTo>
                <a:lnTo>
                  <a:pt x="1719191" y="0"/>
                </a:lnTo>
                <a:lnTo>
                  <a:pt x="1719191" y="1719191"/>
                </a:lnTo>
                <a:lnTo>
                  <a:pt x="0" y="171919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4696884" y="1156926"/>
            <a:ext cx="7657072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Fundamentação Teórica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735372" y="3141281"/>
            <a:ext cx="11523928" cy="60213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Educação Inclusiva: Diretrizes da Lei nº 13.146/2015 (Estatuto da Pessoa com Deficiência) e a importância da gestão do Atendimento Educacional Especializado (AEE).</a:t>
            </a:r>
          </a:p>
          <a:p>
            <a:pPr algn="l">
              <a:lnSpc>
                <a:spcPts val="3437"/>
              </a:lnSpc>
            </a:pPr>
            <a:endParaRPr lang="en-US" sz="275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Privacidade e Ética: Diretrizes da LGPD (Lei nº 13.709/2018) focadas no "melhor interesse" e proteção de dados sensíveis de menores de idade.</a:t>
            </a:r>
          </a:p>
          <a:p>
            <a:pPr algn="l">
              <a:lnSpc>
                <a:spcPts val="3437"/>
              </a:lnSpc>
            </a:pPr>
            <a:endParaRPr lang="en-US" sz="275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Segurança da Informação: Adoção de padrões globais OWASP (Top 10 e ASVS) e aplicação da Modelagem de Ameaças STRIDE.</a:t>
            </a:r>
          </a:p>
          <a:p>
            <a:pPr algn="l">
              <a:lnSpc>
                <a:spcPts val="3437"/>
              </a:lnSpc>
            </a:pPr>
            <a:endParaRPr lang="en-US" sz="275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Arquitetura de Software: Modelos Serverless (Backend as a Service) e segurança isolada no banco de dados através de Row Level Security (RLS).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2610082" y="2483689"/>
            <a:ext cx="14649218" cy="7431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Tipo de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Pesquisa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Pesquisa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aplicada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abordagem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qualitativa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baseada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no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ágil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software com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entregas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incrementais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(Sprints).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Coleta de Dados (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Requisitos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):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Elicitação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através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entrevistas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não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estruturadas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profissionais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área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educação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Procedimentos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: 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Modelagem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dados e design de interfaces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focadas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UI/UX.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Automação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via pipeline CI/CD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utilizando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GitHub Actions 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Vercel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Empacotamento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híbrido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(PWA 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nativo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Android via Capacitor).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Estratégia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Validação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Execução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testes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automatizados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unitários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/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integração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(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Vitest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) e testes de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penetração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Black-Box.</a:t>
            </a:r>
          </a:p>
        </p:txBody>
      </p:sp>
      <p:sp>
        <p:nvSpPr>
          <p:cNvPr id="9" name="Freeform 9"/>
          <p:cNvSpPr/>
          <p:nvPr/>
        </p:nvSpPr>
        <p:spPr>
          <a:xfrm>
            <a:off x="395757" y="2531314"/>
            <a:ext cx="1909823" cy="1272420"/>
          </a:xfrm>
          <a:custGeom>
            <a:avLst/>
            <a:gdLst/>
            <a:ahLst/>
            <a:cxnLst/>
            <a:rect l="l" t="t" r="r" b="b"/>
            <a:pathLst>
              <a:path w="1909823" h="1272420">
                <a:moveTo>
                  <a:pt x="0" y="0"/>
                </a:moveTo>
                <a:lnTo>
                  <a:pt x="1909823" y="0"/>
                </a:lnTo>
                <a:lnTo>
                  <a:pt x="1909823" y="1272420"/>
                </a:lnTo>
                <a:lnTo>
                  <a:pt x="0" y="12724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53542" y="4333914"/>
            <a:ext cx="1713719" cy="1718015"/>
          </a:xfrm>
          <a:custGeom>
            <a:avLst/>
            <a:gdLst/>
            <a:ahLst/>
            <a:cxnLst/>
            <a:rect l="l" t="t" r="r" b="b"/>
            <a:pathLst>
              <a:path w="1713719" h="1718015">
                <a:moveTo>
                  <a:pt x="0" y="0"/>
                </a:moveTo>
                <a:lnTo>
                  <a:pt x="1713719" y="0"/>
                </a:lnTo>
                <a:lnTo>
                  <a:pt x="1713719" y="1718015"/>
                </a:lnTo>
                <a:lnTo>
                  <a:pt x="0" y="17180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95757" y="6385744"/>
            <a:ext cx="1582979" cy="1670690"/>
          </a:xfrm>
          <a:custGeom>
            <a:avLst/>
            <a:gdLst/>
            <a:ahLst/>
            <a:cxnLst/>
            <a:rect l="l" t="t" r="r" b="b"/>
            <a:pathLst>
              <a:path w="1582979" h="1670690">
                <a:moveTo>
                  <a:pt x="0" y="0"/>
                </a:moveTo>
                <a:lnTo>
                  <a:pt x="1582979" y="0"/>
                </a:lnTo>
                <a:lnTo>
                  <a:pt x="1582979" y="1670690"/>
                </a:lnTo>
                <a:lnTo>
                  <a:pt x="0" y="16706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453542" y="8390249"/>
            <a:ext cx="1525195" cy="1525195"/>
          </a:xfrm>
          <a:custGeom>
            <a:avLst/>
            <a:gdLst/>
            <a:ahLst/>
            <a:cxnLst/>
            <a:rect l="l" t="t" r="r" b="b"/>
            <a:pathLst>
              <a:path w="1525195" h="1525195">
                <a:moveTo>
                  <a:pt x="0" y="0"/>
                </a:moveTo>
                <a:lnTo>
                  <a:pt x="1525194" y="0"/>
                </a:lnTo>
                <a:lnTo>
                  <a:pt x="1525194" y="1525195"/>
                </a:lnTo>
                <a:lnTo>
                  <a:pt x="0" y="152519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6881115" y="1227385"/>
            <a:ext cx="3848695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Metodologia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275759" y="3947408"/>
            <a:ext cx="1204836" cy="1204836"/>
          </a:xfrm>
          <a:custGeom>
            <a:avLst/>
            <a:gdLst/>
            <a:ahLst/>
            <a:cxnLst/>
            <a:rect l="l" t="t" r="r" b="b"/>
            <a:pathLst>
              <a:path w="1204836" h="1204836">
                <a:moveTo>
                  <a:pt x="0" y="0"/>
                </a:moveTo>
                <a:lnTo>
                  <a:pt x="1204837" y="0"/>
                </a:lnTo>
                <a:lnTo>
                  <a:pt x="1204837" y="1204836"/>
                </a:lnTo>
                <a:lnTo>
                  <a:pt x="0" y="120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804717" y="3947408"/>
            <a:ext cx="1007333" cy="1219162"/>
          </a:xfrm>
          <a:custGeom>
            <a:avLst/>
            <a:gdLst/>
            <a:ahLst/>
            <a:cxnLst/>
            <a:rect l="l" t="t" r="r" b="b"/>
            <a:pathLst>
              <a:path w="1007333" h="1219162">
                <a:moveTo>
                  <a:pt x="0" y="0"/>
                </a:moveTo>
                <a:lnTo>
                  <a:pt x="1007333" y="0"/>
                </a:lnTo>
                <a:lnTo>
                  <a:pt x="1007333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2333684" y="3947408"/>
            <a:ext cx="1219162" cy="1219162"/>
          </a:xfrm>
          <a:custGeom>
            <a:avLst/>
            <a:gdLst/>
            <a:ahLst/>
            <a:cxnLst/>
            <a:rect l="l" t="t" r="r" b="b"/>
            <a:pathLst>
              <a:path w="1219162" h="1219162">
                <a:moveTo>
                  <a:pt x="0" y="0"/>
                </a:moveTo>
                <a:lnTo>
                  <a:pt x="1219162" y="0"/>
                </a:lnTo>
                <a:lnTo>
                  <a:pt x="1219162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92238" y="2522334"/>
            <a:ext cx="7107136" cy="9431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 Solução Proposta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75759" y="5411991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Objetivo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75759" y="5977385"/>
            <a:ext cx="4678413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Sistema Web Centralizado para gestão de alunos atípicos.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804717" y="5411991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Público-Alvo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804717" y="5977385"/>
            <a:ext cx="46784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Conecta Gestores, Cuidadores e Responsáveis em uma única plataforma.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333684" y="5411991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Foco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333684" y="5977385"/>
            <a:ext cx="46784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Substituir processos manuais por um "cofre digital" seguro e acessível.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90858" y="1199269"/>
            <a:ext cx="6977805" cy="65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875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Stack Tecnológica Moderna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0858" y="2099239"/>
            <a:ext cx="1375442" cy="326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24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Frontend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0858" y="2604959"/>
            <a:ext cx="8212341" cy="268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React com TypeScript e Tailwind CSS (Foco em </a:t>
            </a:r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Usabilidade e Acessibilidade).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90858" y="3625477"/>
            <a:ext cx="1323353" cy="622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/>
          </a:p>
          <a:p>
            <a:pPr algn="l">
              <a:lnSpc>
                <a:spcPts val="2375"/>
              </a:lnSpc>
            </a:pPr>
            <a:r>
              <a:rPr lang="en-US" sz="24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Backend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69798" y="4131188"/>
            <a:ext cx="8212341" cy="268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/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Supabase (Backend as a Service).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9798" y="4644195"/>
            <a:ext cx="2467270" cy="2607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/>
          </a:p>
          <a:p>
            <a:pPr algn="l">
              <a:lnSpc>
                <a:spcPts val="2375"/>
              </a:lnSpc>
            </a:pPr>
            <a:r>
              <a:rPr lang="en-US" sz="24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Infraestrutura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69798" y="5149915"/>
            <a:ext cx="8212341" cy="268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/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Vercel (Serverless Edge).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384802" y="851221"/>
            <a:ext cx="8212341" cy="8212341"/>
            <a:chOff x="0" y="0"/>
            <a:chExt cx="10949788" cy="10949788"/>
          </a:xfrm>
        </p:grpSpPr>
        <p:sp>
          <p:nvSpPr>
            <p:cNvPr id="16" name="Freeform 16" descr="preencoded.png"/>
            <p:cNvSpPr/>
            <p:nvPr/>
          </p:nvSpPr>
          <p:spPr>
            <a:xfrm>
              <a:off x="0" y="0"/>
              <a:ext cx="10949813" cy="10949813"/>
            </a:xfrm>
            <a:custGeom>
              <a:avLst/>
              <a:gdLst/>
              <a:ahLst/>
              <a:cxnLst/>
              <a:rect l="l" t="t" r="r" b="b"/>
              <a:pathLst>
                <a:path w="10949813" h="10949813">
                  <a:moveTo>
                    <a:pt x="0" y="0"/>
                  </a:moveTo>
                  <a:lnTo>
                    <a:pt x="10949813" y="0"/>
                  </a:lnTo>
                  <a:lnTo>
                    <a:pt x="10949813" y="10949813"/>
                  </a:lnTo>
                  <a:lnTo>
                    <a:pt x="0" y="109498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7" name="TextBox 17"/>
          <p:cNvSpPr txBox="1"/>
          <p:nvPr/>
        </p:nvSpPr>
        <p:spPr>
          <a:xfrm>
            <a:off x="9394327" y="10560691"/>
            <a:ext cx="8212341" cy="372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500">
                <a:solidFill>
                  <a:srgbClr val="E0D6DE"/>
                </a:solidFill>
                <a:latin typeface="Noto Sans"/>
                <a:ea typeface="Noto Sans"/>
                <a:cs typeface="Noto Sans"/>
                <a:sym typeface="Noto Sans"/>
              </a:rPr>
              <a:t>Arquitetura Serverless para alta disponibilidade e baixo custo de manutenção.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756999" y="5143500"/>
            <a:ext cx="7746921" cy="4931931"/>
            <a:chOff x="0" y="0"/>
            <a:chExt cx="10329228" cy="65759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329291" cy="6575933"/>
            </a:xfrm>
            <a:custGeom>
              <a:avLst/>
              <a:gdLst/>
              <a:ahLst/>
              <a:cxnLst/>
              <a:rect l="l" t="t" r="r" b="b"/>
              <a:pathLst>
                <a:path w="10329291" h="6575933">
                  <a:moveTo>
                    <a:pt x="0" y="0"/>
                  </a:moveTo>
                  <a:lnTo>
                    <a:pt x="10329291" y="0"/>
                  </a:lnTo>
                  <a:lnTo>
                    <a:pt x="10329291" y="6575933"/>
                  </a:lnTo>
                  <a:lnTo>
                    <a:pt x="0" y="65759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9692640" y="1028700"/>
            <a:ext cx="7746921" cy="4885934"/>
            <a:chOff x="0" y="0"/>
            <a:chExt cx="10329228" cy="651457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329291" cy="6514592"/>
            </a:xfrm>
            <a:custGeom>
              <a:avLst/>
              <a:gdLst/>
              <a:ahLst/>
              <a:cxnLst/>
              <a:rect l="l" t="t" r="r" b="b"/>
              <a:pathLst>
                <a:path w="10329291" h="6514592">
                  <a:moveTo>
                    <a:pt x="0" y="0"/>
                  </a:moveTo>
                  <a:lnTo>
                    <a:pt x="10329291" y="0"/>
                  </a:lnTo>
                  <a:lnTo>
                    <a:pt x="10329291" y="6514592"/>
                  </a:lnTo>
                  <a:lnTo>
                    <a:pt x="0" y="651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9871281" y="5255696"/>
            <a:ext cx="7746921" cy="4849387"/>
            <a:chOff x="0" y="0"/>
            <a:chExt cx="10329228" cy="646584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329291" cy="6465824"/>
            </a:xfrm>
            <a:custGeom>
              <a:avLst/>
              <a:gdLst/>
              <a:ahLst/>
              <a:cxnLst/>
              <a:rect l="l" t="t" r="r" b="b"/>
              <a:pathLst>
                <a:path w="10329291" h="6465824">
                  <a:moveTo>
                    <a:pt x="0" y="0"/>
                  </a:moveTo>
                  <a:lnTo>
                    <a:pt x="10329291" y="0"/>
                  </a:lnTo>
                  <a:lnTo>
                    <a:pt x="10329291" y="6465824"/>
                  </a:lnTo>
                  <a:lnTo>
                    <a:pt x="0" y="64658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848439" y="857822"/>
            <a:ext cx="8961120" cy="198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35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Prints das Telas do Gestor, Cuidador e Responsável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992238" y="1975247"/>
            <a:ext cx="16303523" cy="1829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Engenharia de Segurança - Row Level Security (RLS)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92238" y="4758480"/>
            <a:ext cx="5245446" cy="152400"/>
            <a:chOff x="0" y="0"/>
            <a:chExt cx="6993928" cy="203200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313859" y="5467198"/>
            <a:ext cx="3774872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 Grande Diferencial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3859" y="6032602"/>
            <a:ext cx="4602213" cy="1900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 segurança não depende apenas da API, mas é aplicada diretamente no Banco de Dados (PostgreSQL).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6521206" y="4758480"/>
            <a:ext cx="5245446" cy="152400"/>
            <a:chOff x="0" y="0"/>
            <a:chExt cx="6993928" cy="2032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842817" y="5467198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Política de Acesso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42817" y="6032602"/>
            <a:ext cx="4602213" cy="1900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Mesmo com a chave pública exposta no frontend, o banco recusa a leitura de dados se o usuário não tiver o token correto.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2050163" y="4758480"/>
            <a:ext cx="5245446" cy="152400"/>
            <a:chOff x="0" y="0"/>
            <a:chExt cx="6993928" cy="203200"/>
          </a:xfrm>
        </p:grpSpPr>
        <p:sp>
          <p:nvSpPr>
            <p:cNvPr id="18" name="Freeform 18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grpSp>
        <p:nvGrpSpPr>
          <p:cNvPr id="19" name="Group 19"/>
          <p:cNvGrpSpPr/>
          <p:nvPr/>
        </p:nvGrpSpPr>
        <p:grpSpPr>
          <a:xfrm>
            <a:off x="14247543" y="4371384"/>
            <a:ext cx="850554" cy="850554"/>
            <a:chOff x="0" y="0"/>
            <a:chExt cx="1134072" cy="1134072"/>
          </a:xfrm>
        </p:grpSpPr>
        <p:sp>
          <p:nvSpPr>
            <p:cNvPr id="20" name="Freeform 20" descr="preencoded.png"/>
            <p:cNvSpPr/>
            <p:nvPr/>
          </p:nvSpPr>
          <p:spPr>
            <a:xfrm>
              <a:off x="0" y="0"/>
              <a:ext cx="1134110" cy="1134110"/>
            </a:xfrm>
            <a:custGeom>
              <a:avLst/>
              <a:gdLst/>
              <a:ahLst/>
              <a:cxnLst/>
              <a:rect l="l" t="t" r="r" b="b"/>
              <a:pathLst>
                <a:path w="1134110" h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3"/>
              </a:stretch>
            </a:blipFill>
          </p:spPr>
        </p:sp>
      </p:grpSp>
      <p:sp>
        <p:nvSpPr>
          <p:cNvPr id="21" name="TextBox 21"/>
          <p:cNvSpPr txBox="1"/>
          <p:nvPr/>
        </p:nvSpPr>
        <p:spPr>
          <a:xfrm>
            <a:off x="12371784" y="5467198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Isolamento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71784" y="6032602"/>
            <a:ext cx="46022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Um Cuidador jamais consegue acessar dados de alunos que não são seus.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617791"/>
            <a:ext cx="8961120" cy="7804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4000" dirty="0" err="1">
                <a:latin typeface="Arimo"/>
                <a:ea typeface="Arimo"/>
                <a:cs typeface="Arimo"/>
                <a:sym typeface="Arimo"/>
              </a:rPr>
              <a:t>Diagrama</a:t>
            </a:r>
            <a:r>
              <a:rPr lang="en-US" sz="4000" dirty="0">
                <a:latin typeface="Arimo"/>
                <a:ea typeface="Arimo"/>
                <a:cs typeface="Arimo"/>
                <a:sym typeface="Arimo"/>
              </a:rPr>
              <a:t> do Banco de Dados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71500" y="1987201"/>
            <a:ext cx="15692438" cy="7682008"/>
            <a:chOff x="0" y="0"/>
            <a:chExt cx="20923250" cy="1024267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923250" cy="10242677"/>
            </a:xfrm>
            <a:custGeom>
              <a:avLst/>
              <a:gdLst/>
              <a:ahLst/>
              <a:cxnLst/>
              <a:rect l="l" t="t" r="r" b="b"/>
              <a:pathLst>
                <a:path w="20923250" h="10242677">
                  <a:moveTo>
                    <a:pt x="0" y="0"/>
                  </a:moveTo>
                  <a:lnTo>
                    <a:pt x="20923250" y="0"/>
                  </a:lnTo>
                  <a:lnTo>
                    <a:pt x="20923250" y="10242677"/>
                  </a:lnTo>
                  <a:lnTo>
                    <a:pt x="0" y="102426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FDFE0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992238" y="1163393"/>
            <a:ext cx="9445523" cy="1829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Validação de Segurança (Pentest)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238" y="3663105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Metodologia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2238" y="4341914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Testes de Penetração Black-Box baseados no OWASP ASVS.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238" y="5580307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Ferramenta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238" y="6259116"/>
            <a:ext cx="4376890" cy="539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Burp Suite.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070397" y="3663105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Resultados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070397" y="4341914"/>
            <a:ext cx="4376890" cy="539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SQL Injection: Mitigado.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070397" y="4894659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XSS (Cross-Site Scripting): Mitigado.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070397" y="5901033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Escalação de Privilégios: Bloqueada.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070397" y="7139435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Status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070397" y="7818234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Aplicação aprovada sem vulnerabilidades críticas.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1430000" y="3223260"/>
            <a:ext cx="6858000" cy="3840480"/>
            <a:chOff x="0" y="0"/>
            <a:chExt cx="9144000" cy="5120640"/>
          </a:xfrm>
        </p:grpSpPr>
        <p:sp>
          <p:nvSpPr>
            <p:cNvPr id="26" name="Freeform 26" descr="All about the xz-utils backdoor | Kali Linux Blog"/>
            <p:cNvSpPr/>
            <p:nvPr/>
          </p:nvSpPr>
          <p:spPr>
            <a:xfrm>
              <a:off x="0" y="0"/>
              <a:ext cx="9144000" cy="5120640"/>
            </a:xfrm>
            <a:custGeom>
              <a:avLst/>
              <a:gdLst/>
              <a:ahLst/>
              <a:cxnLst/>
              <a:rect l="l" t="t" r="r" b="b"/>
              <a:pathLst>
                <a:path w="9144000" h="5120640">
                  <a:moveTo>
                    <a:pt x="0" y="0"/>
                  </a:moveTo>
                  <a:lnTo>
                    <a:pt x="9144000" y="0"/>
                  </a:lnTo>
                  <a:lnTo>
                    <a:pt x="9144000" y="5120640"/>
                  </a:lnTo>
                  <a:lnTo>
                    <a:pt x="0" y="512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992238" y="4617244"/>
            <a:ext cx="5245446" cy="850554"/>
            <a:chOff x="0" y="0"/>
            <a:chExt cx="6993928" cy="11340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6521206" y="4617244"/>
            <a:ext cx="5245446" cy="850554"/>
            <a:chOff x="0" y="0"/>
            <a:chExt cx="6993928" cy="113407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2" name="Freeform 12" descr="preencoded.png"/>
          <p:cNvSpPr/>
          <p:nvPr/>
        </p:nvSpPr>
        <p:spPr>
          <a:xfrm>
            <a:off x="8931326" y="4829766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5" y="0"/>
                </a:lnTo>
                <a:lnTo>
                  <a:pt x="425205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11" r="-1111"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12050163" y="4617244"/>
            <a:ext cx="5245446" cy="850554"/>
            <a:chOff x="0" y="0"/>
            <a:chExt cx="6993928" cy="113407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5" name="Freeform 15"/>
          <p:cNvSpPr/>
          <p:nvPr/>
        </p:nvSpPr>
        <p:spPr>
          <a:xfrm>
            <a:off x="14116815" y="4762311"/>
            <a:ext cx="723897" cy="560115"/>
          </a:xfrm>
          <a:custGeom>
            <a:avLst/>
            <a:gdLst/>
            <a:ahLst/>
            <a:cxnLst/>
            <a:rect l="l" t="t" r="r" b="b"/>
            <a:pathLst>
              <a:path w="723897" h="560115">
                <a:moveTo>
                  <a:pt x="0" y="0"/>
                </a:moveTo>
                <a:lnTo>
                  <a:pt x="723897" y="0"/>
                </a:lnTo>
                <a:lnTo>
                  <a:pt x="723897" y="560115"/>
                </a:lnTo>
                <a:lnTo>
                  <a:pt x="0" y="56011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3008751" y="4617244"/>
            <a:ext cx="877075" cy="763055"/>
          </a:xfrm>
          <a:custGeom>
            <a:avLst/>
            <a:gdLst/>
            <a:ahLst/>
            <a:cxnLst/>
            <a:rect l="l" t="t" r="r" b="b"/>
            <a:pathLst>
              <a:path w="877075" h="763055">
                <a:moveTo>
                  <a:pt x="0" y="0"/>
                </a:moveTo>
                <a:lnTo>
                  <a:pt x="877074" y="0"/>
                </a:lnTo>
                <a:lnTo>
                  <a:pt x="877074" y="763055"/>
                </a:lnTo>
                <a:lnTo>
                  <a:pt x="0" y="76305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92238" y="2221116"/>
            <a:ext cx="16303523" cy="1829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Defesa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em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Profundidade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(Advanced Security)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75759" y="5713209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Honeytokens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75759" y="6278613"/>
            <a:ext cx="46784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Credenciais falsas inseridas no código para atrair e detectar invasores.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04717" y="5713209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Canary Endpoints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04717" y="6278613"/>
            <a:ext cx="4678413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Rotas monitoradas que disparam alertas ao serem acessadas.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33684" y="5713209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SIEM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333684" y="6278613"/>
            <a:ext cx="4678413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Monitoramento de logs em tempo real para resposta a incidentes.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1681306" y="314325"/>
            <a:ext cx="15419869" cy="1558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99"/>
              </a:lnSpc>
            </a:pPr>
            <a:r>
              <a:rPr lang="en-US" sz="555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  PWA e Capacitor (Aplicativo Nativo)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391240" y="3577419"/>
            <a:ext cx="8241992" cy="2472595"/>
            <a:chOff x="0" y="0"/>
            <a:chExt cx="10989323" cy="3296793"/>
          </a:xfrm>
        </p:grpSpPr>
        <p:sp>
          <p:nvSpPr>
            <p:cNvPr id="10" name="Freeform 10" descr="GitHub - ionic-team/capacitor: Build cross-platform Native Progressive Web  Apps for iOS, Android, and the Web ⚡️"/>
            <p:cNvSpPr/>
            <p:nvPr/>
          </p:nvSpPr>
          <p:spPr>
            <a:xfrm>
              <a:off x="0" y="0"/>
              <a:ext cx="10989310" cy="3296793"/>
            </a:xfrm>
            <a:custGeom>
              <a:avLst/>
              <a:gdLst/>
              <a:ahLst/>
              <a:cxnLst/>
              <a:rect l="l" t="t" r="r" b="b"/>
              <a:pathLst>
                <a:path w="10989310" h="3296793">
                  <a:moveTo>
                    <a:pt x="0" y="0"/>
                  </a:moveTo>
                  <a:lnTo>
                    <a:pt x="10989310" y="0"/>
                  </a:lnTo>
                  <a:lnTo>
                    <a:pt x="10989310" y="3296793"/>
                  </a:lnTo>
                  <a:lnTo>
                    <a:pt x="0" y="3296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73026" y="2794064"/>
            <a:ext cx="7468162" cy="4182170"/>
            <a:chOff x="0" y="0"/>
            <a:chExt cx="9957549" cy="5576227"/>
          </a:xfrm>
        </p:grpSpPr>
        <p:sp>
          <p:nvSpPr>
            <p:cNvPr id="12" name="Freeform 12" descr="5 Progressive Web App Alternatives to Popular Android Apps - DroidViews"/>
            <p:cNvSpPr/>
            <p:nvPr/>
          </p:nvSpPr>
          <p:spPr>
            <a:xfrm>
              <a:off x="0" y="0"/>
              <a:ext cx="9957562" cy="5576189"/>
            </a:xfrm>
            <a:custGeom>
              <a:avLst/>
              <a:gdLst/>
              <a:ahLst/>
              <a:cxnLst/>
              <a:rect l="l" t="t" r="r" b="b"/>
              <a:pathLst>
                <a:path w="9957562" h="5576189">
                  <a:moveTo>
                    <a:pt x="0" y="0"/>
                  </a:moveTo>
                  <a:lnTo>
                    <a:pt x="9957562" y="0"/>
                  </a:lnTo>
                  <a:lnTo>
                    <a:pt x="9957562" y="5576189"/>
                  </a:lnTo>
                  <a:lnTo>
                    <a:pt x="0" y="5576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2090014"/>
            <a:ext cx="6792786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Considerações Finais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2238" y="4413799"/>
            <a:ext cx="5198269" cy="830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100%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19275" y="5560666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Conformidade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6126061"/>
            <a:ext cx="5198269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Sistema 100% adequado à LGPD (Proteção de dados de menores).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44866" y="4413799"/>
            <a:ext cx="5198269" cy="830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71902" y="5560666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44866" y="6126061"/>
            <a:ext cx="5198269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Eliminação de papéis e comunicação em tempo real entre escola e família.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097493" y="4413799"/>
            <a:ext cx="5198269" cy="830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Conclusão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658001" y="5560666"/>
            <a:ext cx="2077099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Produto Final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97493" y="6126061"/>
            <a:ext cx="5198269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O projeto prova que é possível criar software educacional acessível com segurança de nível empresarial.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9652" y="613923"/>
            <a:ext cx="18008697" cy="9097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REFERÊNCIAS BIBLIOGRÁFICAS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BRASIL. [Portal da Legislação].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Lei nº 13.146, de 6 de julho de 2015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Institui a Lei Brasileira de Inclusão da Pessoa com Deficiência (Estatuto da Pessoa com Deficiência). Brasília, DF: Presidência da República, [2015]. Disponível em: http://www.planalto.gov.br/ccivil_03/_ato2015 2018/2015/lei/l13146.htm.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BRASIL. [Portal da Legislação].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Lei nº 13.709, de 14 de agosto de 2018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Lei Geral de Proteção de Dados Pessoais (LGPD). Brasília, DF: Presidência da República, [2018]. Disponível em: http://www.planalto.gov.br/ccivil_03/_ato2017-2020/2018/lei/l13709.htm.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BRASIL.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Decreto nº 10.502, de 30 de setembro de 2020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Institui a Política Nacional de Educação Especial: Equitativa, Inclusiva e com Aprendizado ao Longo da Vida. Brasília, DF: Presidência da República, 2020. LIMA, Marcos Guilherme Oliveira. Gestão Atípicos: Sistema Web para Gestão Especializada de Alunos Atípicos na Educação Inclusiva. 2025. Repositório de código (GitHub). Disponível em: https://github.com/z12guilherme/gestao_atipicos. Acesso em: 19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MICROSOFT.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The STRIDE Threat Model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Azure Security Center, 2026. Disponível em: https://learn.microsoft.com/en-us/azure/security/develop/threat-modeling-tool-threats.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OWASP FOUNDATION.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Application Security Verification Standard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(ASVS). Version 4.0.3. 2021. Disponível em: https://owasp.org/www-project-application-security-verification-standard/.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OWASP FOUNDATION.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OWASP Top 10:2021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The Most Critical Web Application Security Risks. Disponível em: https://owasp.org/www-project-top-ten/.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SUPABASE INC.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Row Level Security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Documentation. 2026. Disponível em: https://supabase.com/docs/guides/auth/row-level-security. Acesso em: 15 dez. 2025.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446885"/>
            <a:ext cx="18288000" cy="3544043"/>
            <a:chOff x="0" y="0"/>
            <a:chExt cx="24384000" cy="4725391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4384000" cy="4725416"/>
            </a:xfrm>
            <a:custGeom>
              <a:avLst/>
              <a:gdLst/>
              <a:ahLst/>
              <a:cxnLst/>
              <a:rect l="l" t="t" r="r" b="b"/>
              <a:pathLst>
                <a:path w="24384000" h="4725416">
                  <a:moveTo>
                    <a:pt x="0" y="0"/>
                  </a:moveTo>
                  <a:lnTo>
                    <a:pt x="24384000" y="0"/>
                  </a:lnTo>
                  <a:lnTo>
                    <a:pt x="24384000" y="4725416"/>
                  </a:lnTo>
                  <a:lnTo>
                    <a:pt x="0" y="4725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" r="-10"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809358" y="7864373"/>
            <a:ext cx="14176619" cy="1876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37"/>
              </a:lnSpc>
            </a:pPr>
            <a:r>
              <a:rPr lang="en-US" sz="11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Obrigado!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892508" y="6294672"/>
            <a:ext cx="3723294" cy="3723294"/>
            <a:chOff x="0" y="0"/>
            <a:chExt cx="4964392" cy="496439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964430" cy="4964430"/>
            </a:xfrm>
            <a:custGeom>
              <a:avLst/>
              <a:gdLst/>
              <a:ahLst/>
              <a:cxnLst/>
              <a:rect l="l" t="t" r="r" b="b"/>
              <a:pathLst>
                <a:path w="4964430" h="4964430">
                  <a:moveTo>
                    <a:pt x="0" y="0"/>
                  </a:moveTo>
                  <a:lnTo>
                    <a:pt x="4964430" y="0"/>
                  </a:lnTo>
                  <a:lnTo>
                    <a:pt x="4964430" y="4964430"/>
                  </a:lnTo>
                  <a:lnTo>
                    <a:pt x="0" y="49644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-165678" y="0"/>
            <a:ext cx="6597253" cy="6597253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13875144" y="5234930"/>
            <a:ext cx="3758013" cy="11008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2249" b="1">
                <a:solidFill>
                  <a:srgbClr val="000000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LEIA O QR CODE PARA ACESSAR O REPOSITÓRIO: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1114</Words>
  <Application>Microsoft Office PowerPoint</Application>
  <PresentationFormat>Personalizar</PresentationFormat>
  <Paragraphs>148</Paragraphs>
  <Slides>16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4" baseType="lpstr">
      <vt:lpstr>Arimo</vt:lpstr>
      <vt:lpstr>Arial</vt:lpstr>
      <vt:lpstr>Noto Sans</vt:lpstr>
      <vt:lpstr>Gill Sans Bold</vt:lpstr>
      <vt:lpstr>Arimo Bold</vt:lpstr>
      <vt:lpstr>Noto Sans Bold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TCC - Slides.pptx</dc:title>
  <cp:lastModifiedBy>santa fe</cp:lastModifiedBy>
  <cp:revision>7</cp:revision>
  <dcterms:created xsi:type="dcterms:W3CDTF">2006-08-16T00:00:00Z</dcterms:created>
  <dcterms:modified xsi:type="dcterms:W3CDTF">2026-04-20T18:07:04Z</dcterms:modified>
  <dc:identifier>DAHHZutQxXU</dc:identifier>
</cp:coreProperties>
</file>